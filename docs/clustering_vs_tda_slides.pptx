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5B534C"/>
                </a:solidFill>
                <a:latin typeface="Calibri"/>
              </a:rPr>
              <a:t>k-means ARI against true labels (higher is better)</a:t>
            </a:r>
          </a:p>
        </c:rich>
      </c:tx>
      <c:layout/>
      <c:overlay val="0"/>
    </c:title>
    <c:autoTitleDeleted val="0"/>
    <c:plotArea>
      <c:lineChart>
        <c:grouping val="standard"/>
        <c:varyColors val="0"/>
        <c:ser>
          <c:idx val="0"/>
          <c:order val="0"/>
          <c:tx>
            <c:strRef>
              <c:f>Sheet1!$B$1</c:f>
              <c:strCache>
                <c:ptCount val="1"/>
                <c:pt idx="0">
                  <c:v>Topology + geometry</c:v>
                </c:pt>
              </c:strCache>
            </c:strRef>
          </c:tx>
          <c:spPr>
            <a:ln w="44450">
              <a:solidFill>
                <a:srgbClr val="A4541F"/>
              </a:solidFill>
            </a:ln>
          </c:spPr>
          <c:marker>
            <c:symbol val="circle"/>
            <c:size val="9"/>
            <c:spPr>
              <a:solidFill>
                <a:srgbClr val="A4541F"/>
              </a:solidFill>
              <a:ln>
                <a:solidFill>
                  <a:srgbClr val="A4541F"/>
                </a:solidFill>
              </a:ln>
            </c:spPr>
          </c:marker>
          <c:cat>
            <c:strRef>
              <c:f>Sheet1!$A$2:$A$5</c:f>
              <c:strCache>
                <c:ptCount val="4"/>
                <c:pt idx="0">
                  <c:v>Clean</c:v>
                </c:pt>
                <c:pt idx="1">
                  <c:v>Mild</c:v>
                </c:pt>
                <c:pt idx="2">
                  <c:v>Moderate</c:v>
                </c:pt>
                <c:pt idx="3">
                  <c:v>Hard</c:v>
                </c:pt>
              </c:strCache>
            </c:strRef>
          </c:cat>
          <c:val>
            <c:numRef>
              <c:f>Sheet1!$B$2:$B$5</c:f>
              <c:numCache>
                <c:formatCode>General</c:formatCode>
                <c:ptCount val="4"/>
                <c:pt idx="0">
                  <c:v>0.697</c:v>
                </c:pt>
                <c:pt idx="1">
                  <c:v>0.589</c:v>
                </c:pt>
                <c:pt idx="2">
                  <c:v>0.511</c:v>
                </c:pt>
                <c:pt idx="3">
                  <c:v>0.416</c:v>
                </c:pt>
              </c:numCache>
            </c:numRef>
          </c:val>
          <c:smooth val="0"/>
        </c:ser>
        <c:ser>
          <c:idx val="1"/>
          <c:order val="1"/>
          <c:tx>
            <c:strRef>
              <c:f>Sheet1!$C$1</c:f>
              <c:strCache>
                <c:ptCount val="1"/>
                <c:pt idx="0">
                  <c:v>Geometric only</c:v>
                </c:pt>
              </c:strCache>
            </c:strRef>
          </c:tx>
          <c:spPr>
            <a:ln w="31750">
              <a:solidFill>
                <a:srgbClr val="2F6F73"/>
              </a:solidFill>
            </a:ln>
          </c:spPr>
          <c:marker>
            <c:symbol val="circle"/>
            <c:size val="9"/>
            <c:spPr>
              <a:solidFill>
                <a:srgbClr val="2F6F73"/>
              </a:solidFill>
              <a:ln>
                <a:solidFill>
                  <a:srgbClr val="2F6F73"/>
                </a:solidFill>
              </a:ln>
            </c:spPr>
          </c:marker>
          <c:cat>
            <c:strRef>
              <c:f>Sheet1!$A$2:$A$5</c:f>
              <c:strCache>
                <c:ptCount val="4"/>
                <c:pt idx="0">
                  <c:v>Clean</c:v>
                </c:pt>
                <c:pt idx="1">
                  <c:v>Mild</c:v>
                </c:pt>
                <c:pt idx="2">
                  <c:v>Moderate</c:v>
                </c:pt>
                <c:pt idx="3">
                  <c:v>Hard</c:v>
                </c:pt>
              </c:strCache>
            </c:strRef>
          </c:cat>
          <c:val>
            <c:numRef>
              <c:f>Sheet1!$C$2:$C$5</c:f>
              <c:numCache>
                <c:formatCode>General</c:formatCode>
                <c:ptCount val="4"/>
                <c:pt idx="0">
                  <c:v>0.542</c:v>
                </c:pt>
                <c:pt idx="1">
                  <c:v>0.447</c:v>
                </c:pt>
                <c:pt idx="2">
                  <c:v>0.44</c:v>
                </c:pt>
                <c:pt idx="3">
                  <c:v>0.356</c:v>
                </c:pt>
              </c:numCache>
            </c:numRef>
          </c:val>
          <c:smooth val="0"/>
        </c:ser>
        <c:ser>
          <c:idx val="2"/>
          <c:order val="2"/>
          <c:tx>
            <c:strRef>
              <c:f>Sheet1!$D$1</c:f>
              <c:strCache>
                <c:ptCount val="1"/>
                <c:pt idx="0">
                  <c:v>Raw pixels</c:v>
                </c:pt>
              </c:strCache>
            </c:strRef>
          </c:tx>
          <c:spPr>
            <a:ln w="31750">
              <a:solidFill>
                <a:srgbClr val="7A7F87"/>
              </a:solidFill>
              <a:prstDash val="dash"/>
            </a:ln>
          </c:spPr>
          <c:marker>
            <c:symbol val="circle"/>
            <c:size val="9"/>
            <c:spPr>
              <a:solidFill>
                <a:srgbClr val="7A7F87"/>
              </a:solidFill>
              <a:ln>
                <a:solidFill>
                  <a:srgbClr val="7A7F87"/>
                </a:solidFill>
              </a:ln>
            </c:spPr>
          </c:marker>
          <c:cat>
            <c:strRef>
              <c:f>Sheet1!$A$2:$A$5</c:f>
              <c:strCache>
                <c:ptCount val="4"/>
                <c:pt idx="0">
                  <c:v>Clean</c:v>
                </c:pt>
                <c:pt idx="1">
                  <c:v>Mild</c:v>
                </c:pt>
                <c:pt idx="2">
                  <c:v>Moderate</c:v>
                </c:pt>
                <c:pt idx="3">
                  <c:v>Hard</c:v>
                </c:pt>
              </c:strCache>
            </c:strRef>
          </c:cat>
          <c:val>
            <c:numRef>
              <c:f>Sheet1!$D$2:$D$5</c:f>
              <c:numCache>
                <c:formatCode>General</c:formatCode>
                <c:ptCount val="4"/>
                <c:pt idx="0">
                  <c:v>0.426</c:v>
                </c:pt>
                <c:pt idx="1">
                  <c:v>0.305</c:v>
                </c:pt>
                <c:pt idx="2">
                  <c:v>0.206</c:v>
                </c:pt>
                <c:pt idx="3">
                  <c:v>0.169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5B534C"/>
            </a:solidFill>
          </a:ln>
        </c:spPr>
        <c:txPr>
          <a:bodyPr/>
          <a:lstStyle/>
          <a:p>
            <a:pPr>
              <a:defRPr sz="1400">
                <a:solidFill>
                  <a:srgbClr val="1F1A17"/>
                </a:solidFill>
              </a:defRPr>
            </a:pPr>
          </a:p>
        </c:txPr>
        <c:crossAx val="2140495176"/>
        <c:crosses val="autoZero"/>
        <c:auto val="1"/>
        <c:lblAlgn val="ctr"/>
        <c:lblOffset val="100"/>
        <c:noMultiLvlLbl val="0"/>
      </c:catAx>
      <c:valAx>
        <c:axId val="2140495176"/>
        <c:scaling>
          <c:max val="0.8"/>
          <c:min val="0.0"/>
        </c:scaling>
        <c:delete val="0"/>
        <c:axPos val="l"/>
        <c:majorGridlines>
          <c:spPr>
            <a:ln>
              <a:solidFill>
                <a:srgbClr val="E3D9CE"/>
              </a:solidFill>
            </a:ln>
          </c:spPr>
        </c:majorGridlines>
        <c:numFmt formatCode="0.0" sourceLinked="0"/>
        <c:majorTickMark val="out"/>
        <c:minorTickMark val="none"/>
        <c:tickLblPos val="nextTo"/>
        <c:spPr>
          <a:ln>
            <a:noFill/>
          </a:ln>
        </c:spPr>
        <c:txPr>
          <a:bodyPr/>
          <a:lstStyle/>
          <a:p>
            <a:pPr>
              <a:defRPr sz="1400">
                <a:solidFill>
                  <a:srgbClr val="5B534C"/>
                </a:solidFill>
              </a:defRPr>
            </a:pPr>
          </a:p>
        </c:txPr>
        <c:crossAx val="2118791784"/>
        <c:crosses val="autoZero"/>
        <c:majorUnit val="0.2"/>
      </c:valAx>
    </c:plotArea>
    <c:legend>
      <c:legendPos val="b"/>
      <c:layout/>
      <c:overlay val="0"/>
      <c:txPr>
        <a:bodyPr/>
        <a:lstStyle/>
        <a:p>
          <a:pPr>
            <a:defRPr sz="1400">
              <a:solidFill>
                <a:srgbClr val="1F1A17"/>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Clustering the raw pixel maps (PCA to 20 components) loses most of its agreement with the true defect types as noise, speckle, size and position jitter, stretch and rotation increase: adjusted Rand index falls from 0.43 to 0.17. Simple geometric features hold up better, and topology plus geometry holds up best. Numbers are means over three held-out seeds from docs/VARIATION.md.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hard variation level, topology plus geometry is best on all three tests: clustering agreement 0.42, cross-validated accuracy 0.80, and accuracy when trained on clean maps and tested on hard ones 0.43. Topology alone is no better than the eight geometric features on clustering (0.36 each), so the benefit comes from combining them. With the default threshold of 0.1 the advantage over geometry disappears at this level. Differences of about 0.05 are within seed-to-seed spread, so present this as suggestive evidence on synthetic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F1"/>
        </a:solidFill>
        <a:effectLst/>
      </p:bgPr>
    </p:bg>
    <p:spTree>
      <p:nvGrpSpPr>
        <p:cNvPr id="1" name=""/>
        <p:cNvGrpSpPr/>
        <p:nvPr/>
      </p:nvGrpSpPr>
      <p:grpSpPr/>
      <p:sp>
        <p:nvSpPr>
          <p:cNvPr id="2" name="TextBox 1"/>
          <p:cNvSpPr txBox="1"/>
          <p:nvPr/>
        </p:nvSpPr>
        <p:spPr>
          <a:xfrm>
            <a:off x="822960" y="731520"/>
            <a:ext cx="10515600" cy="914400"/>
          </a:xfrm>
          <a:prstGeom prst="rect">
            <a:avLst/>
          </a:prstGeom>
          <a:noFill/>
        </p:spPr>
        <p:txBody>
          <a:bodyPr wrap="square" lIns="0" rIns="0" tIns="0" bIns="0" anchor="t">
            <a:spAutoFit/>
          </a:bodyPr>
          <a:lstStyle/>
          <a:p>
            <a:pPr algn="l"/>
            <a:r>
              <a:rPr sz="3000" b="1">
                <a:solidFill>
                  <a:srgbClr val="1F1A17"/>
                </a:solidFill>
                <a:latin typeface="Georgia"/>
              </a:rPr>
              <a:t>Clustering on raw pixels breaks as wafer variation grows</a:t>
            </a:r>
          </a:p>
        </p:txBody>
      </p:sp>
      <p:graphicFrame>
        <p:nvGraphicFramePr>
          <p:cNvPr id="3" name="Chart 2"/>
          <p:cNvGraphicFramePr>
            <a:graphicFrameLocks noGrp="1"/>
          </p:cNvGraphicFramePr>
          <p:nvPr/>
        </p:nvGraphicFramePr>
        <p:xfrm>
          <a:off x="822960" y="1691640"/>
          <a:ext cx="7589520" cy="4389120"/>
        </p:xfrm>
        <a:graphic>
          <a:graphicData uri="http://schemas.openxmlformats.org/drawingml/2006/chart">
            <c:chart xmlns:c="http://schemas.openxmlformats.org/drawingml/2006/chart" r:id="rId2"/>
          </a:graphicData>
        </a:graphic>
      </p:graphicFrame>
      <p:sp>
        <p:nvSpPr>
          <p:cNvPr id="4" name="Rectangle 3"/>
          <p:cNvSpPr/>
          <p:nvPr/>
        </p:nvSpPr>
        <p:spPr>
          <a:xfrm>
            <a:off x="8778240" y="2011680"/>
            <a:ext cx="64008" cy="1097280"/>
          </a:xfrm>
          <a:prstGeom prst="rect">
            <a:avLst/>
          </a:prstGeom>
          <a:solidFill>
            <a:srgbClr val="7A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0" y="1993392"/>
            <a:ext cx="2743200" cy="594360"/>
          </a:xfrm>
          <a:prstGeom prst="rect">
            <a:avLst/>
          </a:prstGeom>
          <a:noFill/>
        </p:spPr>
        <p:txBody>
          <a:bodyPr wrap="square" lIns="0" rIns="0" tIns="0" bIns="0" anchor="t">
            <a:spAutoFit/>
          </a:bodyPr>
          <a:lstStyle/>
          <a:p>
            <a:pPr algn="l"/>
            <a:r>
              <a:rPr sz="3200" b="1">
                <a:solidFill>
                  <a:srgbClr val="1F1A17"/>
                </a:solidFill>
                <a:latin typeface="Calibri"/>
              </a:rPr>
              <a:t>0.43 → 0.17</a:t>
            </a:r>
          </a:p>
        </p:txBody>
      </p:sp>
      <p:sp>
        <p:nvSpPr>
          <p:cNvPr id="6" name="TextBox 5"/>
          <p:cNvSpPr txBox="1"/>
          <p:nvPr/>
        </p:nvSpPr>
        <p:spPr>
          <a:xfrm>
            <a:off x="9052560" y="2578608"/>
            <a:ext cx="2743200" cy="548640"/>
          </a:xfrm>
          <a:prstGeom prst="rect">
            <a:avLst/>
          </a:prstGeom>
          <a:noFill/>
        </p:spPr>
        <p:txBody>
          <a:bodyPr wrap="square" lIns="0" rIns="0" tIns="0" bIns="0" anchor="t">
            <a:spAutoFit/>
          </a:bodyPr>
          <a:lstStyle/>
          <a:p>
            <a:pPr algn="l"/>
            <a:r>
              <a:rPr sz="1400" b="0">
                <a:solidFill>
                  <a:srgbClr val="5B534C"/>
                </a:solidFill>
                <a:latin typeface="Calibri"/>
              </a:rPr>
              <a:t>Raw pixels, clean to hard</a:t>
            </a:r>
          </a:p>
        </p:txBody>
      </p:sp>
      <p:sp>
        <p:nvSpPr>
          <p:cNvPr id="7" name="Rectangle 6"/>
          <p:cNvSpPr/>
          <p:nvPr/>
        </p:nvSpPr>
        <p:spPr>
          <a:xfrm>
            <a:off x="8778240" y="3429000"/>
            <a:ext cx="64008" cy="1097280"/>
          </a:xfrm>
          <a:prstGeom prst="rect">
            <a:avLst/>
          </a:prstGeom>
          <a:solidFill>
            <a:srgbClr val="2F6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3410712"/>
            <a:ext cx="2743200" cy="594360"/>
          </a:xfrm>
          <a:prstGeom prst="rect">
            <a:avLst/>
          </a:prstGeom>
          <a:noFill/>
        </p:spPr>
        <p:txBody>
          <a:bodyPr wrap="square" lIns="0" rIns="0" tIns="0" bIns="0" anchor="t">
            <a:spAutoFit/>
          </a:bodyPr>
          <a:lstStyle/>
          <a:p>
            <a:pPr algn="l"/>
            <a:r>
              <a:rPr sz="3200" b="1">
                <a:solidFill>
                  <a:srgbClr val="1F1A17"/>
                </a:solidFill>
                <a:latin typeface="Calibri"/>
              </a:rPr>
              <a:t>0.54 → 0.36</a:t>
            </a:r>
          </a:p>
        </p:txBody>
      </p:sp>
      <p:sp>
        <p:nvSpPr>
          <p:cNvPr id="9" name="TextBox 8"/>
          <p:cNvSpPr txBox="1"/>
          <p:nvPr/>
        </p:nvSpPr>
        <p:spPr>
          <a:xfrm>
            <a:off x="9052560" y="3995928"/>
            <a:ext cx="2743200" cy="548640"/>
          </a:xfrm>
          <a:prstGeom prst="rect">
            <a:avLst/>
          </a:prstGeom>
          <a:noFill/>
        </p:spPr>
        <p:txBody>
          <a:bodyPr wrap="square" lIns="0" rIns="0" tIns="0" bIns="0" anchor="t">
            <a:spAutoFit/>
          </a:bodyPr>
          <a:lstStyle/>
          <a:p>
            <a:pPr algn="l"/>
            <a:r>
              <a:rPr sz="1400" b="0">
                <a:solidFill>
                  <a:srgbClr val="5B534C"/>
                </a:solidFill>
                <a:latin typeface="Calibri"/>
              </a:rPr>
              <a:t>Eight geometric features</a:t>
            </a:r>
          </a:p>
        </p:txBody>
      </p:sp>
      <p:sp>
        <p:nvSpPr>
          <p:cNvPr id="10" name="Rectangle 9"/>
          <p:cNvSpPr/>
          <p:nvPr/>
        </p:nvSpPr>
        <p:spPr>
          <a:xfrm>
            <a:off x="8778240" y="4846320"/>
            <a:ext cx="64008" cy="1097280"/>
          </a:xfrm>
          <a:prstGeom prst="rect">
            <a:avLst/>
          </a:prstGeom>
          <a:solidFill>
            <a:srgbClr val="A45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4828032"/>
            <a:ext cx="2743200" cy="594360"/>
          </a:xfrm>
          <a:prstGeom prst="rect">
            <a:avLst/>
          </a:prstGeom>
          <a:noFill/>
        </p:spPr>
        <p:txBody>
          <a:bodyPr wrap="square" lIns="0" rIns="0" tIns="0" bIns="0" anchor="t">
            <a:spAutoFit/>
          </a:bodyPr>
          <a:lstStyle/>
          <a:p>
            <a:pPr algn="l"/>
            <a:r>
              <a:rPr sz="3200" b="1">
                <a:solidFill>
                  <a:srgbClr val="1F1A17"/>
                </a:solidFill>
                <a:latin typeface="Calibri"/>
              </a:rPr>
              <a:t>0.70 → 0.42</a:t>
            </a:r>
          </a:p>
        </p:txBody>
      </p:sp>
      <p:sp>
        <p:nvSpPr>
          <p:cNvPr id="12" name="TextBox 11"/>
          <p:cNvSpPr txBox="1"/>
          <p:nvPr/>
        </p:nvSpPr>
        <p:spPr>
          <a:xfrm>
            <a:off x="9052560" y="5413248"/>
            <a:ext cx="2743200" cy="548640"/>
          </a:xfrm>
          <a:prstGeom prst="rect">
            <a:avLst/>
          </a:prstGeom>
          <a:noFill/>
        </p:spPr>
        <p:txBody>
          <a:bodyPr wrap="square" lIns="0" rIns="0" tIns="0" bIns="0" anchor="t">
            <a:spAutoFit/>
          </a:bodyPr>
          <a:lstStyle/>
          <a:p>
            <a:pPr algn="l"/>
            <a:r>
              <a:rPr sz="1400" b="0">
                <a:solidFill>
                  <a:srgbClr val="5B534C"/>
                </a:solidFill>
                <a:latin typeface="Calibri"/>
              </a:rPr>
              <a:t>Topology plus geometry (34 features)</a:t>
            </a:r>
          </a:p>
        </p:txBody>
      </p:sp>
      <p:sp>
        <p:nvSpPr>
          <p:cNvPr id="13" name="TextBox 12"/>
          <p:cNvSpPr txBox="1"/>
          <p:nvPr/>
        </p:nvSpPr>
        <p:spPr>
          <a:xfrm>
            <a:off x="822960" y="6263640"/>
            <a:ext cx="10515600" cy="320040"/>
          </a:xfrm>
          <a:prstGeom prst="rect">
            <a:avLst/>
          </a:prstGeom>
          <a:noFill/>
        </p:spPr>
        <p:txBody>
          <a:bodyPr wrap="square" lIns="0" rIns="0" tIns="0" bIns="0" anchor="t">
            <a:spAutoFit/>
          </a:bodyPr>
          <a:lstStyle/>
          <a:p>
            <a:pPr algn="l"/>
            <a:r>
              <a:rPr sz="1200" b="0">
                <a:solidFill>
                  <a:srgbClr val="5B534C"/>
                </a:solidFill>
                <a:latin typeface="Calibri"/>
              </a:rPr>
              <a:t>Held-out seeds 2001–2003 · 540 balanced synthetic maps per dataset · k = 9 · mean of 3 seeds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8DE"/>
        </a:solidFill>
        <a:effectLst/>
      </p:bgPr>
    </p:bg>
    <p:spTree>
      <p:nvGrpSpPr>
        <p:cNvPr id="1" name=""/>
        <p:cNvGrpSpPr/>
        <p:nvPr/>
      </p:nvGrpSpPr>
      <p:grpSpPr/>
      <p:sp>
        <p:nvSpPr>
          <p:cNvPr id="2" name="TextBox 1"/>
          <p:cNvSpPr txBox="1"/>
          <p:nvPr/>
        </p:nvSpPr>
        <p:spPr>
          <a:xfrm>
            <a:off x="822960" y="731520"/>
            <a:ext cx="10515600" cy="914400"/>
          </a:xfrm>
          <a:prstGeom prst="rect">
            <a:avLst/>
          </a:prstGeom>
          <a:noFill/>
        </p:spPr>
        <p:txBody>
          <a:bodyPr wrap="square" lIns="0" rIns="0" tIns="0" bIns="0" anchor="t">
            <a:spAutoFit/>
          </a:bodyPr>
          <a:lstStyle/>
          <a:p>
            <a:pPr algn="l"/>
            <a:r>
              <a:rPr sz="2600" b="1">
                <a:solidFill>
                  <a:srgbClr val="1F1A17"/>
                </a:solidFill>
                <a:latin typeface="Georgia"/>
              </a:rPr>
              <a:t>Topology adds value alongside geometry, not on its own</a:t>
            </a:r>
          </a:p>
        </p:txBody>
      </p:sp>
      <p:graphicFrame>
        <p:nvGraphicFramePr>
          <p:cNvPr id="3" name="Table 2"/>
          <p:cNvGraphicFramePr>
            <a:graphicFrameLocks noGrp="1"/>
          </p:cNvGraphicFramePr>
          <p:nvPr/>
        </p:nvGraphicFramePr>
        <p:xfrm>
          <a:off x="822960" y="1691640"/>
          <a:ext cx="10515600" cy="2514600"/>
        </p:xfrm>
        <a:graphic>
          <a:graphicData uri="http://schemas.openxmlformats.org/drawingml/2006/table">
            <a:tbl>
              <a:tblPr firstRow="1" bandRow="1">
                <a:tableStyleId>{5C22544A-7EE6-4342-B048-85BDC9FD1C3A}</a:tableStyleId>
              </a:tblPr>
              <a:tblGrid>
                <a:gridCol w="3840480"/>
                <a:gridCol w="2103120"/>
                <a:gridCol w="2103120"/>
                <a:gridCol w="2468880"/>
              </a:tblGrid>
              <a:tr h="502920">
                <a:tc>
                  <a:txBody>
                    <a:bodyPr/>
                    <a:lstStyle/>
                    <a:p>
                      <a:pPr algn="l"/>
                      <a:r>
                        <a:rPr sz="1400" b="0">
                          <a:solidFill>
                            <a:srgbClr val="5B534C"/>
                          </a:solidFill>
                          <a:latin typeface="Calibri"/>
                        </a:rPr>
                        <a:t>Feature set (hard level)</a:t>
                      </a:r>
                    </a:p>
                  </a:txBody>
                  <a:tcPr anchor="ctr">
                    <a:solidFill>
                      <a:srgbClr val="F1E8DE"/>
                    </a:solidFill>
                  </a:tcPr>
                </a:tc>
                <a:tc>
                  <a:txBody>
                    <a:bodyPr/>
                    <a:lstStyle/>
                    <a:p>
                      <a:pPr algn="r"/>
                      <a:r>
                        <a:rPr sz="1400" b="0">
                          <a:solidFill>
                            <a:srgbClr val="5B534C"/>
                          </a:solidFill>
                          <a:latin typeface="Calibri"/>
                        </a:rPr>
                        <a:t>k-means ARI</a:t>
                      </a:r>
                    </a:p>
                  </a:txBody>
                  <a:tcPr anchor="ctr">
                    <a:solidFill>
                      <a:srgbClr val="F1E8DE"/>
                    </a:solidFill>
                  </a:tcPr>
                </a:tc>
                <a:tc>
                  <a:txBody>
                    <a:bodyPr/>
                    <a:lstStyle/>
                    <a:p>
                      <a:pPr algn="r"/>
                      <a:r>
                        <a:rPr sz="1400" b="0">
                          <a:solidFill>
                            <a:srgbClr val="5B534C"/>
                          </a:solidFill>
                          <a:latin typeface="Calibri"/>
                        </a:rPr>
                        <a:t>CV accuracy</a:t>
                      </a:r>
                    </a:p>
                  </a:txBody>
                  <a:tcPr anchor="ctr">
                    <a:solidFill>
                      <a:srgbClr val="F1E8DE"/>
                    </a:solidFill>
                  </a:tcPr>
                </a:tc>
                <a:tc>
                  <a:txBody>
                    <a:bodyPr/>
                    <a:lstStyle/>
                    <a:p>
                      <a:pPr algn="r"/>
                      <a:r>
                        <a:rPr sz="1400" b="0">
                          <a:solidFill>
                            <a:srgbClr val="5B534C"/>
                          </a:solidFill>
                          <a:latin typeface="Calibri"/>
                        </a:rPr>
                        <a:t>Clean → hard accuracy</a:t>
                      </a:r>
                    </a:p>
                  </a:txBody>
                  <a:tcPr anchor="ctr">
                    <a:solidFill>
                      <a:srgbClr val="F1E8DE"/>
                    </a:solidFill>
                  </a:tcPr>
                </a:tc>
              </a:tr>
              <a:tr h="502920">
                <a:tc>
                  <a:txBody>
                    <a:bodyPr/>
                    <a:lstStyle/>
                    <a:p>
                      <a:pPr algn="l"/>
                      <a:r>
                        <a:rPr sz="1800" b="0">
                          <a:solidFill>
                            <a:srgbClr val="1F1A17"/>
                          </a:solidFill>
                          <a:latin typeface="Calibri"/>
                        </a:rPr>
                        <a:t>Raw pixels (PCA-20)</a:t>
                      </a:r>
                    </a:p>
                  </a:txBody>
                  <a:tcPr anchor="ctr">
                    <a:solidFill>
                      <a:srgbClr val="F1E8DE"/>
                    </a:solidFill>
                  </a:tcPr>
                </a:tc>
                <a:tc>
                  <a:txBody>
                    <a:bodyPr/>
                    <a:lstStyle/>
                    <a:p>
                      <a:pPr algn="r"/>
                      <a:r>
                        <a:rPr sz="1800" b="0">
                          <a:solidFill>
                            <a:srgbClr val="1F1A17"/>
                          </a:solidFill>
                          <a:latin typeface="Calibri"/>
                        </a:rPr>
                        <a:t>0.17</a:t>
                      </a:r>
                    </a:p>
                  </a:txBody>
                  <a:tcPr anchor="ctr">
                    <a:solidFill>
                      <a:srgbClr val="F1E8DE"/>
                    </a:solidFill>
                  </a:tcPr>
                </a:tc>
                <a:tc>
                  <a:txBody>
                    <a:bodyPr/>
                    <a:lstStyle/>
                    <a:p>
                      <a:pPr algn="r"/>
                      <a:r>
                        <a:rPr sz="1800" b="0">
                          <a:solidFill>
                            <a:srgbClr val="1F1A17"/>
                          </a:solidFill>
                          <a:latin typeface="Calibri"/>
                        </a:rPr>
                        <a:t>0.74</a:t>
                      </a:r>
                    </a:p>
                  </a:txBody>
                  <a:tcPr anchor="ctr">
                    <a:solidFill>
                      <a:srgbClr val="F1E8DE"/>
                    </a:solidFill>
                  </a:tcPr>
                </a:tc>
                <a:tc>
                  <a:txBody>
                    <a:bodyPr/>
                    <a:lstStyle/>
                    <a:p>
                      <a:pPr algn="r"/>
                      <a:r>
                        <a:rPr sz="1800" b="0">
                          <a:solidFill>
                            <a:srgbClr val="1F1A17"/>
                          </a:solidFill>
                          <a:latin typeface="Calibri"/>
                        </a:rPr>
                        <a:t>0.37</a:t>
                      </a:r>
                    </a:p>
                  </a:txBody>
                  <a:tcPr anchor="ctr">
                    <a:solidFill>
                      <a:srgbClr val="F1E8DE"/>
                    </a:solidFill>
                  </a:tcPr>
                </a:tc>
              </a:tr>
              <a:tr h="502920">
                <a:tc>
                  <a:txBody>
                    <a:bodyPr/>
                    <a:lstStyle/>
                    <a:p>
                      <a:pPr algn="l"/>
                      <a:r>
                        <a:rPr sz="1800" b="0">
                          <a:solidFill>
                            <a:srgbClr val="1F1A17"/>
                          </a:solidFill>
                          <a:latin typeface="Calibri"/>
                        </a:rPr>
                        <a:t>Geometric only (8)</a:t>
                      </a:r>
                    </a:p>
                  </a:txBody>
                  <a:tcPr anchor="ctr">
                    <a:solidFill>
                      <a:srgbClr val="F1E8DE"/>
                    </a:solidFill>
                  </a:tcPr>
                </a:tc>
                <a:tc>
                  <a:txBody>
                    <a:bodyPr/>
                    <a:lstStyle/>
                    <a:p>
                      <a:pPr algn="r"/>
                      <a:r>
                        <a:rPr sz="1800" b="0">
                          <a:solidFill>
                            <a:srgbClr val="1F1A17"/>
                          </a:solidFill>
                          <a:latin typeface="Calibri"/>
                        </a:rPr>
                        <a:t>0.36</a:t>
                      </a:r>
                    </a:p>
                  </a:txBody>
                  <a:tcPr anchor="ctr">
                    <a:solidFill>
                      <a:srgbClr val="F1E8DE"/>
                    </a:solidFill>
                  </a:tcPr>
                </a:tc>
                <a:tc>
                  <a:txBody>
                    <a:bodyPr/>
                    <a:lstStyle/>
                    <a:p>
                      <a:pPr algn="r"/>
                      <a:r>
                        <a:rPr sz="1800" b="0">
                          <a:solidFill>
                            <a:srgbClr val="1F1A17"/>
                          </a:solidFill>
                          <a:latin typeface="Calibri"/>
                        </a:rPr>
                        <a:t>0.73</a:t>
                      </a:r>
                    </a:p>
                  </a:txBody>
                  <a:tcPr anchor="ctr">
                    <a:solidFill>
                      <a:srgbClr val="F1E8DE"/>
                    </a:solidFill>
                  </a:tcPr>
                </a:tc>
                <a:tc>
                  <a:txBody>
                    <a:bodyPr/>
                    <a:lstStyle/>
                    <a:p>
                      <a:pPr algn="r"/>
                      <a:r>
                        <a:rPr sz="1800" b="0">
                          <a:solidFill>
                            <a:srgbClr val="1F1A17"/>
                          </a:solidFill>
                          <a:latin typeface="Calibri"/>
                        </a:rPr>
                        <a:t>0.32</a:t>
                      </a:r>
                    </a:p>
                  </a:txBody>
                  <a:tcPr anchor="ctr">
                    <a:solidFill>
                      <a:srgbClr val="F1E8DE"/>
                    </a:solidFill>
                  </a:tcPr>
                </a:tc>
              </a:tr>
              <a:tr h="502920">
                <a:tc>
                  <a:txBody>
                    <a:bodyPr/>
                    <a:lstStyle/>
                    <a:p>
                      <a:pPr algn="l"/>
                      <a:r>
                        <a:rPr sz="1800" b="0">
                          <a:solidFill>
                            <a:srgbClr val="1F1A17"/>
                          </a:solidFill>
                          <a:latin typeface="Calibri"/>
                        </a:rPr>
                        <a:t>Topology only (26)</a:t>
                      </a:r>
                    </a:p>
                  </a:txBody>
                  <a:tcPr anchor="ctr">
                    <a:solidFill>
                      <a:srgbClr val="F1E8DE"/>
                    </a:solidFill>
                  </a:tcPr>
                </a:tc>
                <a:tc>
                  <a:txBody>
                    <a:bodyPr/>
                    <a:lstStyle/>
                    <a:p>
                      <a:pPr algn="r"/>
                      <a:r>
                        <a:rPr sz="1800" b="0">
                          <a:solidFill>
                            <a:srgbClr val="1F1A17"/>
                          </a:solidFill>
                          <a:latin typeface="Calibri"/>
                        </a:rPr>
                        <a:t>0.36</a:t>
                      </a:r>
                    </a:p>
                  </a:txBody>
                  <a:tcPr anchor="ctr">
                    <a:solidFill>
                      <a:srgbClr val="F1E8DE"/>
                    </a:solidFill>
                  </a:tcPr>
                </a:tc>
                <a:tc>
                  <a:txBody>
                    <a:bodyPr/>
                    <a:lstStyle/>
                    <a:p>
                      <a:pPr algn="r"/>
                      <a:r>
                        <a:rPr sz="1800" b="0">
                          <a:solidFill>
                            <a:srgbClr val="1F1A17"/>
                          </a:solidFill>
                          <a:latin typeface="Calibri"/>
                        </a:rPr>
                        <a:t>0.71</a:t>
                      </a:r>
                    </a:p>
                  </a:txBody>
                  <a:tcPr anchor="ctr">
                    <a:solidFill>
                      <a:srgbClr val="F1E8DE"/>
                    </a:solidFill>
                  </a:tcPr>
                </a:tc>
                <a:tc>
                  <a:txBody>
                    <a:bodyPr/>
                    <a:lstStyle/>
                    <a:p>
                      <a:pPr algn="r"/>
                      <a:r>
                        <a:rPr sz="1800" b="0">
                          <a:solidFill>
                            <a:srgbClr val="1F1A17"/>
                          </a:solidFill>
                          <a:latin typeface="Calibri"/>
                        </a:rPr>
                        <a:t>0.39</a:t>
                      </a:r>
                    </a:p>
                  </a:txBody>
                  <a:tcPr anchor="ctr">
                    <a:solidFill>
                      <a:srgbClr val="F1E8DE"/>
                    </a:solidFill>
                  </a:tcPr>
                </a:tc>
              </a:tr>
              <a:tr h="502920">
                <a:tc>
                  <a:txBody>
                    <a:bodyPr/>
                    <a:lstStyle/>
                    <a:p>
                      <a:pPr algn="l"/>
                      <a:r>
                        <a:rPr sz="1800" b="1">
                          <a:solidFill>
                            <a:srgbClr val="1F1A17"/>
                          </a:solidFill>
                          <a:latin typeface="Calibri"/>
                        </a:rPr>
                        <a:t>Topology + geometry (34)</a:t>
                      </a:r>
                    </a:p>
                  </a:txBody>
                  <a:tcPr anchor="ctr">
                    <a:solidFill>
                      <a:srgbClr val="E6C9AF"/>
                    </a:solidFill>
                  </a:tcPr>
                </a:tc>
                <a:tc>
                  <a:txBody>
                    <a:bodyPr/>
                    <a:lstStyle/>
                    <a:p>
                      <a:pPr algn="r"/>
                      <a:r>
                        <a:rPr sz="1800" b="1">
                          <a:solidFill>
                            <a:srgbClr val="1F1A17"/>
                          </a:solidFill>
                          <a:latin typeface="Calibri"/>
                        </a:rPr>
                        <a:t>0.42</a:t>
                      </a:r>
                    </a:p>
                  </a:txBody>
                  <a:tcPr anchor="ctr">
                    <a:solidFill>
                      <a:srgbClr val="E6C9AF"/>
                    </a:solidFill>
                  </a:tcPr>
                </a:tc>
                <a:tc>
                  <a:txBody>
                    <a:bodyPr/>
                    <a:lstStyle/>
                    <a:p>
                      <a:pPr algn="r"/>
                      <a:r>
                        <a:rPr sz="1800" b="1">
                          <a:solidFill>
                            <a:srgbClr val="1F1A17"/>
                          </a:solidFill>
                          <a:latin typeface="Calibri"/>
                        </a:rPr>
                        <a:t>0.80</a:t>
                      </a:r>
                    </a:p>
                  </a:txBody>
                  <a:tcPr anchor="ctr">
                    <a:solidFill>
                      <a:srgbClr val="E6C9AF"/>
                    </a:solidFill>
                  </a:tcPr>
                </a:tc>
                <a:tc>
                  <a:txBody>
                    <a:bodyPr/>
                    <a:lstStyle/>
                    <a:p>
                      <a:pPr algn="r"/>
                      <a:r>
                        <a:rPr sz="1800" b="1">
                          <a:solidFill>
                            <a:srgbClr val="1F1A17"/>
                          </a:solidFill>
                          <a:latin typeface="Calibri"/>
                        </a:rPr>
                        <a:t>0.43</a:t>
                      </a:r>
                    </a:p>
                  </a:txBody>
                  <a:tcPr anchor="ctr">
                    <a:solidFill>
                      <a:srgbClr val="E6C9AF"/>
                    </a:solidFill>
                  </a:tcPr>
                </a:tc>
              </a:tr>
            </a:tbl>
          </a:graphicData>
        </a:graphic>
      </p:graphicFrame>
      <p:sp>
        <p:nvSpPr>
          <p:cNvPr id="4" name="Rectangle 3"/>
          <p:cNvSpPr/>
          <p:nvPr/>
        </p:nvSpPr>
        <p:spPr>
          <a:xfrm>
            <a:off x="822960" y="4526280"/>
            <a:ext cx="3383280" cy="1600200"/>
          </a:xfrm>
          <a:prstGeom prst="rect">
            <a:avLst/>
          </a:prstGeom>
          <a:solidFill>
            <a:srgbClr val="FA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4526280"/>
            <a:ext cx="3383280" cy="54864"/>
          </a:xfrm>
          <a:prstGeom prst="rect">
            <a:avLst/>
          </a:prstGeom>
          <a:solidFill>
            <a:srgbClr val="A45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709160"/>
            <a:ext cx="2926080" cy="320040"/>
          </a:xfrm>
          <a:prstGeom prst="rect">
            <a:avLst/>
          </a:prstGeom>
          <a:noFill/>
        </p:spPr>
        <p:txBody>
          <a:bodyPr wrap="square" lIns="0" rIns="0" tIns="0" bIns="0" anchor="t">
            <a:spAutoFit/>
          </a:bodyPr>
          <a:lstStyle/>
          <a:p>
            <a:pPr algn="l"/>
            <a:r>
              <a:rPr sz="1600" b="1">
                <a:solidFill>
                  <a:srgbClr val="A4541F"/>
                </a:solidFill>
                <a:latin typeface="Calibri"/>
              </a:rPr>
              <a:t>The threshold matters</a:t>
            </a:r>
          </a:p>
        </p:txBody>
      </p:sp>
      <p:sp>
        <p:nvSpPr>
          <p:cNvPr id="7" name="TextBox 6"/>
          <p:cNvSpPr txBox="1"/>
          <p:nvPr/>
        </p:nvSpPr>
        <p:spPr>
          <a:xfrm>
            <a:off x="1051560" y="5074920"/>
            <a:ext cx="2926080" cy="1005840"/>
          </a:xfrm>
          <a:prstGeom prst="rect">
            <a:avLst/>
          </a:prstGeom>
          <a:noFill/>
        </p:spPr>
        <p:txBody>
          <a:bodyPr wrap="square" lIns="0" rIns="0" tIns="0" bIns="0" anchor="t">
            <a:spAutoFit/>
          </a:bodyPr>
          <a:lstStyle/>
          <a:p>
            <a:pPr algn="l"/>
            <a:r>
              <a:rPr sz="1300" b="0">
                <a:solidFill>
                  <a:srgbClr val="1F1A17"/>
                </a:solidFill>
                <a:latin typeface="Calibri"/>
              </a:rPr>
              <a:t>At the default 0.1, topology plus geometry (ARI 0.34) is no better than geometry alone (0.36).</a:t>
            </a:r>
          </a:p>
        </p:txBody>
      </p:sp>
      <p:sp>
        <p:nvSpPr>
          <p:cNvPr id="8" name="Rectangle 7"/>
          <p:cNvSpPr/>
          <p:nvPr/>
        </p:nvSpPr>
        <p:spPr>
          <a:xfrm>
            <a:off x="4389120" y="4526280"/>
            <a:ext cx="3383280" cy="1600200"/>
          </a:xfrm>
          <a:prstGeom prst="rect">
            <a:avLst/>
          </a:prstGeom>
          <a:solidFill>
            <a:srgbClr val="FA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4526280"/>
            <a:ext cx="3383280" cy="54864"/>
          </a:xfrm>
          <a:prstGeom prst="rect">
            <a:avLst/>
          </a:prstGeom>
          <a:solidFill>
            <a:srgbClr val="2F6F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4709160"/>
            <a:ext cx="2926080" cy="320040"/>
          </a:xfrm>
          <a:prstGeom prst="rect">
            <a:avLst/>
          </a:prstGeom>
          <a:noFill/>
        </p:spPr>
        <p:txBody>
          <a:bodyPr wrap="square" lIns="0" rIns="0" tIns="0" bIns="0" anchor="t">
            <a:spAutoFit/>
          </a:bodyPr>
          <a:lstStyle/>
          <a:p>
            <a:pPr algn="l"/>
            <a:r>
              <a:rPr sz="1600" b="1">
                <a:solidFill>
                  <a:srgbClr val="2F6F73"/>
                </a:solidFill>
                <a:latin typeface="Calibri"/>
              </a:rPr>
              <a:t>Suggestive, not conclusive</a:t>
            </a:r>
          </a:p>
        </p:txBody>
      </p:sp>
      <p:sp>
        <p:nvSpPr>
          <p:cNvPr id="11" name="TextBox 10"/>
          <p:cNvSpPr txBox="1"/>
          <p:nvPr/>
        </p:nvSpPr>
        <p:spPr>
          <a:xfrm>
            <a:off x="4617720" y="5074920"/>
            <a:ext cx="2926080" cy="1005840"/>
          </a:xfrm>
          <a:prstGeom prst="rect">
            <a:avLst/>
          </a:prstGeom>
          <a:noFill/>
        </p:spPr>
        <p:txBody>
          <a:bodyPr wrap="square" lIns="0" rIns="0" tIns="0" bIns="0" anchor="t">
            <a:spAutoFit/>
          </a:bodyPr>
          <a:lstStyle/>
          <a:p>
            <a:pPr algn="l"/>
            <a:r>
              <a:rPr sz="1300" b="0">
                <a:solidFill>
                  <a:srgbClr val="1F1A17"/>
                </a:solidFill>
                <a:latin typeface="Calibri"/>
              </a:rPr>
              <a:t>Three held-out seeds, spread 0.02 to 0.06, one synthetic generator, threshold 0.3 tuned on separate seeds.</a:t>
            </a:r>
          </a:p>
        </p:txBody>
      </p:sp>
      <p:sp>
        <p:nvSpPr>
          <p:cNvPr id="12" name="Rectangle 11"/>
          <p:cNvSpPr/>
          <p:nvPr/>
        </p:nvSpPr>
        <p:spPr>
          <a:xfrm>
            <a:off x="7955279" y="4526280"/>
            <a:ext cx="3383280" cy="1600200"/>
          </a:xfrm>
          <a:prstGeom prst="rect">
            <a:avLst/>
          </a:prstGeom>
          <a:solidFill>
            <a:srgbClr val="FA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4526280"/>
            <a:ext cx="3383280" cy="54864"/>
          </a:xfrm>
          <a:prstGeom prst="rect">
            <a:avLst/>
          </a:prstGeom>
          <a:solidFill>
            <a:srgbClr val="5B53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4709160"/>
            <a:ext cx="2926080" cy="320040"/>
          </a:xfrm>
          <a:prstGeom prst="rect">
            <a:avLst/>
          </a:prstGeom>
          <a:noFill/>
        </p:spPr>
        <p:txBody>
          <a:bodyPr wrap="square" lIns="0" rIns="0" tIns="0" bIns="0" anchor="t">
            <a:spAutoFit/>
          </a:bodyPr>
          <a:lstStyle/>
          <a:p>
            <a:pPr algn="l"/>
            <a:r>
              <a:rPr sz="1600" b="1">
                <a:solidFill>
                  <a:srgbClr val="5B534C"/>
                </a:solidFill>
                <a:latin typeface="Calibri"/>
              </a:rPr>
              <a:t>Next step</a:t>
            </a:r>
          </a:p>
        </p:txBody>
      </p:sp>
      <p:sp>
        <p:nvSpPr>
          <p:cNvPr id="15" name="TextBox 14"/>
          <p:cNvSpPr txBox="1"/>
          <p:nvPr/>
        </p:nvSpPr>
        <p:spPr>
          <a:xfrm>
            <a:off x="8183879" y="5074920"/>
            <a:ext cx="2926080" cy="1005840"/>
          </a:xfrm>
          <a:prstGeom prst="rect">
            <a:avLst/>
          </a:prstGeom>
          <a:noFill/>
        </p:spPr>
        <p:txBody>
          <a:bodyPr wrap="square" lIns="0" rIns="0" tIns="0" bIns="0" anchor="t">
            <a:spAutoFit/>
          </a:bodyPr>
          <a:lstStyle/>
          <a:p>
            <a:pPr algn="l"/>
            <a:r>
              <a:rPr sz="1300" b="0">
                <a:solidFill>
                  <a:srgbClr val="1F1A17"/>
                </a:solidFill>
                <a:latin typeface="Calibri"/>
              </a:rPr>
              <a:t>Validate on real WM811K maps and retune the threshold for their noise.</a:t>
            </a:r>
          </a:p>
        </p:txBody>
      </p:sp>
      <p:sp>
        <p:nvSpPr>
          <p:cNvPr id="16" name="TextBox 15"/>
          <p:cNvSpPr txBox="1"/>
          <p:nvPr/>
        </p:nvSpPr>
        <p:spPr>
          <a:xfrm>
            <a:off x="822960" y="6263640"/>
            <a:ext cx="10515600" cy="320040"/>
          </a:xfrm>
          <a:prstGeom prst="rect">
            <a:avLst/>
          </a:prstGeom>
          <a:noFill/>
        </p:spPr>
        <p:txBody>
          <a:bodyPr wrap="square" lIns="0" rIns="0" tIns="0" bIns="0" anchor="t">
            <a:spAutoFit/>
          </a:bodyPr>
          <a:lstStyle/>
          <a:p>
            <a:pPr algn="l"/>
            <a:r>
              <a:rPr sz="1200" b="0">
                <a:solidFill>
                  <a:srgbClr val="5B534C"/>
                </a:solidFill>
                <a:latin typeface="Calibri"/>
              </a:rPr>
              <a:t>Hard variation level · held-out seeds 2001–2003 · topology uses point-cloud threshold 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vs TDA on Wafer Maps</dc:title>
  <dc:subject/>
  <dc:creator>Janhavi Giri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