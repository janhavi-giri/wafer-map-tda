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embedTrueTypeFonts="1">
  <p:sldMasterIdLst>
    <p:sldMasterId id="2147483648" r:id="rId1"/>
    <p:sldMasterId id="2147483653" r:id="rId2"/>
  </p:sldMasterIdLst>
  <p:notesMasterIdLst>
    <p:notesMasterId r:id="rId48"/>
  </p:notesMasterIdLst>
  <p:handoutMasterIdLst>
    <p:handoutMasterId r:id="rId49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315" r:id="rId43"/>
    <p:sldId id="317" r:id="rId44"/>
    <p:sldId id="296" r:id="rId45"/>
    <p:sldId id="318" r:id="rId46"/>
    <p:sldId id="316" r:id="rId47"/>
  </p:sldIdLst>
  <p:sldSz cx="12192000" cy="6858000"/>
  <p:notesSz cx="6858000" cy="12192000"/>
  <p:embeddedFontLst>
    <p:embeddedFont>
      <p:font typeface="Geist" panose="020B0604020202020204" charset="0"/>
      <p:regular r:id="rId50"/>
      <p:bold r:id="rId51"/>
      <p:italic r:id="rId51"/>
    </p:embeddedFont>
    <p:embeddedFont>
      <p:font typeface="Geist Bold" panose="020B0604020202020204" charset="0"/>
      <p:regular r:id="rId51"/>
      <p:bold r:id="rId51"/>
    </p:embeddedFont>
    <p:embeddedFont>
      <p:font typeface="Geist SemiBold" panose="020B0604020202020204" charset="0"/>
      <p:regular r:id="rId52"/>
    </p:embeddedFont>
    <p:embeddedFont>
      <p:font typeface="Newsreader Medium" panose="020B0604020202020204" charset="0"/>
      <p:regular r:id="rId5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1BE152-BBAA-4C00-94DB-6AE64AF5AC1C}" v="1" dt="2026-10-26T23:19:06.5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47" autoAdjust="0"/>
  </p:normalViewPr>
  <p:slideViewPr>
    <p:cSldViewPr snapToGrid="0">
      <p:cViewPr varScale="1">
        <p:scale>
          <a:sx n="115" d="100"/>
          <a:sy n="115" d="100"/>
        </p:scale>
        <p:origin x="396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5" d="100"/>
          <a:sy n="95" d="100"/>
        </p:scale>
        <p:origin x="3660" y="-350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font" Target="fonts/font1.fntdata"/><Relationship Id="rId55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font" Target="fonts/font4.fntdata"/><Relationship Id="rId58" Type="http://schemas.microsoft.com/office/2015/10/relationships/revisionInfo" Target="revisionInfo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notesMaster" Target="notesMasters/notesMaster1.xml"/><Relationship Id="rId56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font" Target="fonts/font2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handoutMaster" Target="handoutMasters/handoutMaster1.xml"/><Relationship Id="rId57" Type="http://schemas.openxmlformats.org/officeDocument/2006/relationships/tableStyles" Target="tableStyle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font" Target="fonts/font3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A1AAAFF-3B64-E7E2-4953-64A92F5C16A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C26B03-3FDE-0DBC-FD8A-F32FDEEC2D7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D58AC1-EE11-4CAF-9E82-6D0C126BB8B9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252BB0-174C-CBBD-9DE3-B8584A01000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0A7FA9-73D4-4D54-A07D-0A4D7D985BA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5AAFE4-B538-40F0-87B3-44B047FAA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4086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6257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5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455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21FDC04A-D76B-4FB1-AD98-F5074E34BA7C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5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458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2C5B59A5-FCA5-41EE-9654-F883342E5F3F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6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461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CEE5A853-1D8E-4D9D-9842-BF15F256BD00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6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464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ptos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7D4C285E-B668-4959-A45A-38BC2924B1DE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ptos"/>
                <a:ea typeface="+mn-ea"/>
              </a:rPr>
              <a:t>4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6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467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ptos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E44F65B9-11E7-4BEF-AB5F-CDE6FF83CE62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ptos"/>
                <a:ea typeface="+mn-ea"/>
              </a:rPr>
              <a:t>5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6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470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6FE36925-914D-4ECF-815A-FFE68ECA7860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7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473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FFC7BAC7-7B97-43CC-B533-0C283DBC137E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7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476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6FA5E684-6650-4D2C-91DA-36C3AEA824CE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7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479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B67FAFB3-0BDC-4EBB-A1C5-DB344D5EF516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8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482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EAF8D5AA-3FE6-4065-9DA1-EBF3190DE011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8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485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FD10B198-C02C-4DD8-BF54-A34611330015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8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488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9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491" name="PlaceHolder 3"/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9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494" name="PlaceHolder 3"/>
          <p:cNvSpPr>
            <a:spLocks noGrp="1"/>
          </p:cNvSpPr>
          <p:nvPr>
            <p:ph type="sldNum" idx="1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22557603-4A3D-45C4-9A51-F4E3675D2BA1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9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497" name="PlaceHolder 3"/>
          <p:cNvSpPr>
            <a:spLocks noGrp="1"/>
          </p:cNvSpPr>
          <p:nvPr>
            <p:ph type="sldNum" idx="2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9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500" name="PlaceHolder 3"/>
          <p:cNvSpPr>
            <a:spLocks noGrp="1"/>
          </p:cNvSpPr>
          <p:nvPr>
            <p:ph type="sldNum" idx="2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4687212A-7FD5-47E5-BE40-45DA0D1462CA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0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503" name="PlaceHolder 3"/>
          <p:cNvSpPr>
            <a:spLocks noGrp="1"/>
          </p:cNvSpPr>
          <p:nvPr>
            <p:ph type="sldNum" idx="2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0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506" name="PlaceHolder 3"/>
          <p:cNvSpPr>
            <a:spLocks noGrp="1"/>
          </p:cNvSpPr>
          <p:nvPr>
            <p:ph type="sldNum" idx="2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8AA8E7EC-FEA9-49CA-A16E-CFF7078C76CE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0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509" name="PlaceHolder 3"/>
          <p:cNvSpPr>
            <a:spLocks noGrp="1"/>
          </p:cNvSpPr>
          <p:nvPr>
            <p:ph type="sldNum" idx="2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914964D1-B3EF-4E49-B825-07A70C104467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19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1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512" name="PlaceHolder 3"/>
          <p:cNvSpPr>
            <a:spLocks noGrp="1"/>
          </p:cNvSpPr>
          <p:nvPr>
            <p:ph type="sldNum" idx="2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4AE4FDEC-D83F-4EDA-A32C-0155C06166A9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515" name="PlaceHolder 3"/>
          <p:cNvSpPr>
            <a:spLocks noGrp="1"/>
          </p:cNvSpPr>
          <p:nvPr>
            <p:ph type="sldNum" idx="2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4F72ED05-721D-442D-B32F-CFBD638BE3D3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1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/>
          </a:p>
        </p:txBody>
      </p:sp>
      <p:sp>
        <p:nvSpPr>
          <p:cNvPr id="518" name="PlaceHolder 3"/>
          <p:cNvSpPr>
            <a:spLocks noGrp="1"/>
          </p:cNvSpPr>
          <p:nvPr>
            <p:ph type="sldNum" idx="2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ptos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12604D44-4BE7-49E5-8D87-9B117C5D3AB3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ptos"/>
                <a:ea typeface="+mn-ea"/>
              </a:rPr>
              <a:t>22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2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521" name="PlaceHolder 3"/>
          <p:cNvSpPr>
            <a:spLocks noGrp="1"/>
          </p:cNvSpPr>
          <p:nvPr>
            <p:ph type="sldNum" idx="2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2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524" name="PlaceHolder 3"/>
          <p:cNvSpPr>
            <a:spLocks noGrp="1"/>
          </p:cNvSpPr>
          <p:nvPr>
            <p:ph type="sldNum" idx="2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9AA9F418-66FA-4CA8-BACC-286F588F5673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24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2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527" name="PlaceHolder 3"/>
          <p:cNvSpPr>
            <a:spLocks noGrp="1"/>
          </p:cNvSpPr>
          <p:nvPr>
            <p:ph type="sldNum" idx="3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F6B46183-8643-41C7-92A0-7B87C1050DAB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25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2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530" name="PlaceHolder 3"/>
          <p:cNvSpPr>
            <a:spLocks noGrp="1"/>
          </p:cNvSpPr>
          <p:nvPr>
            <p:ph type="sldNum" idx="3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1C14D683-F6EC-4E46-8F11-B7642D9E4F30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26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3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533" name="PlaceHolder 3"/>
          <p:cNvSpPr>
            <a:spLocks noGrp="1"/>
          </p:cNvSpPr>
          <p:nvPr>
            <p:ph type="sldNum" idx="3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3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PlaceHolder 3"/>
          <p:cNvSpPr>
            <a:spLocks noGrp="1"/>
          </p:cNvSpPr>
          <p:nvPr>
            <p:ph type="sldNum" idx="3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0E76A6CD-CE56-4964-9466-9C056EB23792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28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3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PlaceHolder 3"/>
          <p:cNvSpPr>
            <a:spLocks noGrp="1"/>
          </p:cNvSpPr>
          <p:nvPr>
            <p:ph type="sldNum" idx="3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DD2E501A-4759-434D-B0C4-4803EE18AD9E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33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4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PlaceHolder 3"/>
          <p:cNvSpPr>
            <a:spLocks noGrp="1"/>
          </p:cNvSpPr>
          <p:nvPr>
            <p:ph type="sldNum" idx="3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0AC08BF9-C735-4A1A-9200-0B393496091F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34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4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PlaceHolder 3"/>
          <p:cNvSpPr>
            <a:spLocks noGrp="1"/>
          </p:cNvSpPr>
          <p:nvPr>
            <p:ph type="sldNum" idx="3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4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548" name="PlaceHolder 3"/>
          <p:cNvSpPr>
            <a:spLocks noGrp="1"/>
          </p:cNvSpPr>
          <p:nvPr>
            <p:ph type="sldNum" idx="3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BC34C22A-2A0A-451B-BD3C-C692B3904E45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36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5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551" name="PlaceHolder 3"/>
          <p:cNvSpPr>
            <a:spLocks noGrp="1"/>
          </p:cNvSpPr>
          <p:nvPr>
            <p:ph type="sldNum" idx="3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CC77BEDE-BEB2-4F50-BFEF-3FB5EB3A301A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37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5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554" name="PlaceHolder 3"/>
          <p:cNvSpPr>
            <a:spLocks noGrp="1"/>
          </p:cNvSpPr>
          <p:nvPr>
            <p:ph type="sldNum" idx="3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ptos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13F2C690-6F5C-47D6-B233-FF7A2F98E8DF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ptos"/>
                <a:ea typeface="+mn-ea"/>
              </a:rPr>
              <a:t>38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5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557" name="PlaceHolder 3"/>
          <p:cNvSpPr>
            <a:spLocks noGrp="1"/>
          </p:cNvSpPr>
          <p:nvPr>
            <p:ph type="sldNum" idx="4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ptos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83FE945C-A065-4FD5-9025-D92C951436F1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ptos"/>
                <a:ea typeface="+mn-ea"/>
              </a:rPr>
              <a:t>39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5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560" name="PlaceHolder 3"/>
          <p:cNvSpPr>
            <a:spLocks noGrp="1"/>
          </p:cNvSpPr>
          <p:nvPr>
            <p:ph type="sldNum" idx="4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ptos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41504119-BD5C-4CAF-A971-75E5DEA5A713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ptos"/>
                <a:ea typeface="+mn-ea"/>
              </a:rPr>
              <a:t>40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34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A7DC0-1586-1E6C-AA24-8580487DF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PlaceHolder 1">
            <a:extLst>
              <a:ext uri="{FF2B5EF4-FFF2-40B4-BE49-F238E27FC236}">
                <a16:creationId xmlns:a16="http://schemas.microsoft.com/office/drawing/2014/main" id="{046A88E6-EBD3-0F76-FBAD-C048B1B31C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47" name="PlaceHolder 2">
            <a:extLst>
              <a:ext uri="{FF2B5EF4-FFF2-40B4-BE49-F238E27FC236}">
                <a16:creationId xmlns:a16="http://schemas.microsoft.com/office/drawing/2014/main" id="{F74D7760-2140-2B0C-B294-0DF8F2A2F61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PlaceHolder 3">
            <a:extLst>
              <a:ext uri="{FF2B5EF4-FFF2-40B4-BE49-F238E27FC236}">
                <a16:creationId xmlns:a16="http://schemas.microsoft.com/office/drawing/2014/main" id="{8EF808E4-BFD9-D717-291F-75CE37D5D49C}"/>
              </a:ext>
            </a:extLst>
          </p:cNvPr>
          <p:cNvSpPr>
            <a:spLocks noGrp="1"/>
          </p:cNvSpPr>
          <p:nvPr>
            <p:ph type="sldNum" idx="3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BC34C22A-2A0A-451B-BD3C-C692B3904E45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42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2043640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6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563" name="PlaceHolder 3"/>
          <p:cNvSpPr>
            <a:spLocks noGrp="1"/>
          </p:cNvSpPr>
          <p:nvPr>
            <p:ph type="sldNum" idx="4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+mn-lt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0D89C-B0CF-60D5-74D6-BB543EAAF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PlaceHolder 1">
            <a:extLst>
              <a:ext uri="{FF2B5EF4-FFF2-40B4-BE49-F238E27FC236}">
                <a16:creationId xmlns:a16="http://schemas.microsoft.com/office/drawing/2014/main" id="{3839F697-47F4-1152-3CD3-677720C193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47" name="PlaceHolder 2">
            <a:extLst>
              <a:ext uri="{FF2B5EF4-FFF2-40B4-BE49-F238E27FC236}">
                <a16:creationId xmlns:a16="http://schemas.microsoft.com/office/drawing/2014/main" id="{D1CC10AD-8571-01A3-F481-12AC1B06868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PlaceHolder 3">
            <a:extLst>
              <a:ext uri="{FF2B5EF4-FFF2-40B4-BE49-F238E27FC236}">
                <a16:creationId xmlns:a16="http://schemas.microsoft.com/office/drawing/2014/main" id="{BD53282B-CF89-BE48-93BE-613611DAA73E}"/>
              </a:ext>
            </a:extLst>
          </p:cNvPr>
          <p:cNvSpPr>
            <a:spLocks noGrp="1"/>
          </p:cNvSpPr>
          <p:nvPr>
            <p:ph type="sldNum" idx="3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BC34C22A-2A0A-451B-BD3C-C692B3904E45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44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913666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34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-slide">
    <p:bg>
      <p:bgPr>
        <a:gradFill rotWithShape="0">
          <a:gsLst>
            <a:gs pos="0">
              <a:srgbClr val="00285A"/>
            </a:gs>
            <a:gs pos="100000">
              <a:srgbClr val="000000"/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Num" idx="1"/>
          </p:nvPr>
        </p:nvSpPr>
        <p:spPr>
          <a:xfrm>
            <a:off x="11899440" y="6553080"/>
            <a:ext cx="141120" cy="164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IE" sz="1800" b="0" u="none" strike="noStrike">
                <a:solidFill>
                  <a:srgbClr val="FFFFFF"/>
                </a:solidFill>
                <a:effectLst/>
                <a:uFillTx/>
                <a:latin typeface="IntelOne Text Light"/>
                <a:ea typeface="IntelOne Text Ligh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45252A66-22EF-4401-ABC9-CC2D513EA411}" type="slidenum">
              <a:rPr lang="en-IE" sz="1800" b="0" u="none" strike="noStrike">
                <a:solidFill>
                  <a:srgbClr val="FFFFFF"/>
                </a:solidFill>
                <a:effectLst/>
                <a:uFillTx/>
                <a:latin typeface="IntelOne Text Light"/>
                <a:ea typeface="IntelOne Text Light"/>
              </a:rPr>
              <a:t>‹#›</a:t>
            </a:fld>
            <a:endParaRPr lang="en-US" sz="1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title"/>
          </p:nvPr>
        </p:nvSpPr>
        <p:spPr>
          <a:xfrm>
            <a:off x="380880" y="92160"/>
            <a:ext cx="10972440" cy="914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000" b="0" u="none" strike="noStrike">
                <a:solidFill>
                  <a:srgbClr val="6DDCFF"/>
                </a:solidFill>
                <a:effectLst/>
                <a:uFillTx/>
                <a:latin typeface="IntelOne Display Light"/>
                <a:ea typeface="IntelOne Display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000" b="0" u="none" strike="noStrike">
                <a:solidFill>
                  <a:srgbClr val="6DDCFF"/>
                </a:solidFill>
                <a:effectLst/>
                <a:uFillTx/>
                <a:latin typeface="IntelOne Display Light"/>
                <a:ea typeface="IntelOne Display Light"/>
              </a:rPr>
              <a:t>Click to edit Master title style</a:t>
            </a:r>
            <a:endParaRPr lang="en-US" sz="4000" b="0" u="none" strike="noStrike">
              <a:solidFill>
                <a:srgbClr val="6DDCFF"/>
              </a:solidFill>
              <a:effectLst/>
              <a:uFillTx/>
              <a:latin typeface="IntelOne Display Light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body"/>
          </p:nvPr>
        </p:nvSpPr>
        <p:spPr>
          <a:xfrm>
            <a:off x="380880" y="1006560"/>
            <a:ext cx="10972440" cy="5032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FFFFFF"/>
              </a:buClr>
              <a:buFont typeface="Arial"/>
              <a:buChar char="•"/>
              <a:defRPr lang="en-US" sz="32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FFFFFF"/>
              </a:buClr>
              <a:buFont typeface="Arial"/>
              <a:buChar char="–"/>
              <a:defRPr lang="en-US" sz="28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FFFFFF"/>
              </a:buClr>
              <a:buFont typeface="Arial"/>
              <a:buChar char="•"/>
              <a:defRPr lang="en-US" sz="24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FFFFFF"/>
              </a:buClr>
              <a:buFont typeface="Arial"/>
              <a:buChar char="–"/>
              <a:def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FFFFFF"/>
              </a:buClr>
              <a:buFont typeface="Arial"/>
              <a:buChar char="»"/>
              <a:def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FFFFFF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FFFFFF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FFFFFF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FFFFFF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FFFFFF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-slide-2">
    <p:bg>
      <p:bgPr>
        <a:gradFill rotWithShape="0">
          <a:gsLst>
            <a:gs pos="0">
              <a:srgbClr val="00285A"/>
            </a:gs>
            <a:gs pos="100000">
              <a:srgbClr val="000000"/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sldNum" idx="2"/>
          </p:nvPr>
        </p:nvSpPr>
        <p:spPr>
          <a:xfrm>
            <a:off x="11899440" y="6553080"/>
            <a:ext cx="141120" cy="164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IE" sz="1800" b="0" u="none" strike="noStrike">
                <a:solidFill>
                  <a:srgbClr val="FFFFFF"/>
                </a:solidFill>
                <a:effectLst/>
                <a:uFillTx/>
                <a:latin typeface="IntelOne Text Light"/>
                <a:ea typeface="IntelOne Text Ligh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D1EF7D7A-59BA-4C60-AEFC-4702EF2CEED2}" type="slidenum">
              <a:rPr lang="en-IE" sz="1800" b="0" u="none" strike="noStrike">
                <a:solidFill>
                  <a:srgbClr val="FFFFFF"/>
                </a:solidFill>
                <a:effectLst/>
                <a:uFillTx/>
                <a:latin typeface="IntelOne Text Light"/>
                <a:ea typeface="IntelOne Text Light"/>
              </a:rPr>
              <a:t>‹#›</a:t>
            </a:fld>
            <a:endParaRPr lang="en-US" sz="1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title"/>
          </p:nvPr>
        </p:nvSpPr>
        <p:spPr>
          <a:xfrm>
            <a:off x="380880" y="92160"/>
            <a:ext cx="11659320" cy="914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000" b="0" u="none" strike="noStrike">
                <a:solidFill>
                  <a:srgbClr val="6DDCFF"/>
                </a:solidFill>
                <a:effectLst/>
                <a:uFillTx/>
                <a:latin typeface="IntelOne Display Light"/>
                <a:ea typeface="IntelOne Display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000" b="0" u="none" strike="noStrike">
                <a:solidFill>
                  <a:srgbClr val="6DDCFF"/>
                </a:solidFill>
                <a:effectLst/>
                <a:uFillTx/>
                <a:latin typeface="IntelOne Display Light"/>
                <a:ea typeface="IntelOne Display Light"/>
              </a:rPr>
              <a:t>Click to edit Master title style</a:t>
            </a:r>
            <a:endParaRPr lang="en-US" sz="4000" b="0" u="none" strike="noStrike">
              <a:solidFill>
                <a:srgbClr val="6DDCFF"/>
              </a:solidFill>
              <a:effectLst/>
              <a:uFillTx/>
              <a:latin typeface="IntelOne Display Light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380880" y="1006560"/>
            <a:ext cx="5714640" cy="5032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FFFFFF"/>
              </a:buClr>
              <a:buFont typeface="Arial"/>
              <a:buChar char="•"/>
              <a:defRPr lang="en-US" sz="32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FFFFFF"/>
              </a:buClr>
              <a:buFont typeface="Arial"/>
              <a:buChar char="–"/>
              <a:defRPr lang="en-US" sz="28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FFFFFF"/>
              </a:buClr>
              <a:buFont typeface="Arial"/>
              <a:buChar char="•"/>
              <a:defRPr lang="en-US" sz="24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FFFFFF"/>
              </a:buClr>
              <a:buFont typeface="Arial"/>
              <a:buChar char="–"/>
              <a:def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FFFFFF"/>
              </a:buClr>
              <a:buFont typeface="Arial"/>
              <a:buChar char="»"/>
              <a:def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FFFFFF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FFFFFF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FFFFFF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FFFFFF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FFFFFF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0" name="PlaceHolder 4"/>
          <p:cNvSpPr>
            <a:spLocks noGrp="1"/>
          </p:cNvSpPr>
          <p:nvPr>
            <p:ph type="body"/>
          </p:nvPr>
        </p:nvSpPr>
        <p:spPr>
          <a:xfrm>
            <a:off x="6274800" y="1006560"/>
            <a:ext cx="5714640" cy="5032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FFFFFF"/>
              </a:buClr>
              <a:buFont typeface="Arial"/>
              <a:buChar char="•"/>
              <a:defRPr lang="en-US" sz="32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FFFFFF"/>
              </a:buClr>
              <a:buFont typeface="Arial"/>
              <a:buChar char="–"/>
              <a:defRPr lang="en-US" sz="28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FFFFFF"/>
              </a:buClr>
              <a:buFont typeface="Arial"/>
              <a:buChar char="•"/>
              <a:defRPr lang="en-US" sz="24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FFFFFF"/>
              </a:buClr>
              <a:buFont typeface="Arial"/>
              <a:buChar char="–"/>
              <a:def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FFFFFF"/>
              </a:buClr>
              <a:buFont typeface="Arial"/>
              <a:buChar char="»"/>
              <a:def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FFFFFF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FFFFFF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FFFFFF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FFFFFF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FFFFFF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Fifth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4196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-slide-2">
    <p:bg>
      <p:bgPr>
        <a:gradFill rotWithShape="0">
          <a:gsLst>
            <a:gs pos="0">
              <a:srgbClr val="00285A"/>
            </a:gs>
            <a:gs pos="100000">
              <a:srgbClr val="000000"/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>
          <a:xfrm>
            <a:off x="11899440" y="6553080"/>
            <a:ext cx="141120" cy="164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IntelOne Text Light"/>
                <a:ea typeface="IntelOne Text Ligh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5BC01CF9-0E2D-4DE2-B04A-D690ACE0F4DD}" type="slidenum"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IntelOne Text Light"/>
                <a:ea typeface="IntelOne Text Light"/>
              </a:rPr>
              <a:t>‹#›</a:t>
            </a:fld>
            <a:endParaRPr lang="en-US" sz="1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title"/>
          </p:nvPr>
        </p:nvSpPr>
        <p:spPr>
          <a:xfrm>
            <a:off x="380880" y="92160"/>
            <a:ext cx="11659320" cy="914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000" b="0" u="none" strike="noStrike">
                <a:solidFill>
                  <a:srgbClr val="6DDCFF"/>
                </a:solidFill>
                <a:effectLst/>
                <a:uFillTx/>
                <a:latin typeface="IntelOne Display Light"/>
                <a:ea typeface="IntelOne Display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000" b="0" u="none" strike="noStrike">
                <a:solidFill>
                  <a:srgbClr val="6DDCFF"/>
                </a:solidFill>
                <a:effectLst/>
                <a:uFillTx/>
                <a:latin typeface="IntelOne Display Light"/>
                <a:ea typeface="IntelOne Display Light"/>
              </a:rPr>
              <a:t>Click to edit Master title style</a:t>
            </a:r>
            <a:endParaRPr lang="en-US" sz="4000" b="0" u="none" strike="noStrike">
              <a:solidFill>
                <a:srgbClr val="6DDCFF"/>
              </a:solidFill>
              <a:effectLst/>
              <a:uFillTx/>
              <a:latin typeface="IntelOne Display 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380880" y="1006560"/>
            <a:ext cx="5714640" cy="5032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marL="343080" indent="-34308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  <a:defRPr lang="en-US" sz="3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defRPr>
            </a:lvl1pPr>
            <a:lvl2pPr marL="743040" indent="-285840" algn="l" defTabSz="9144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  <a:defRPr lang="en-US" sz="2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defRPr>
            </a:lvl2pPr>
            <a:lvl3pPr marL="1143000" indent="-22860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defRPr>
            </a:lvl3pPr>
            <a:lvl4pPr marL="16002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defRPr>
            </a:lvl4pPr>
            <a:lvl5pPr marL="20574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Click to edit Master text styles</a:t>
            </a:r>
            <a:endParaRPr lang="en-US" sz="32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743040" indent="-285840" algn="l" defTabSz="9144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Second level</a:t>
            </a:r>
            <a:endParaRPr lang="en-US" sz="2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143000" indent="-22860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Third level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6002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Fourth level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20574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Fifth level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body"/>
          </p:nvPr>
        </p:nvSpPr>
        <p:spPr>
          <a:xfrm>
            <a:off x="6274800" y="1006560"/>
            <a:ext cx="5714640" cy="5032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marL="343080" indent="-34308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  <a:defRPr lang="en-US" sz="3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defRPr>
            </a:lvl1pPr>
            <a:lvl2pPr marL="743040" indent="-285840" algn="l" defTabSz="9144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  <a:defRPr lang="en-US" sz="2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defRPr>
            </a:lvl2pPr>
            <a:lvl3pPr marL="1143000" indent="-22860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defRPr>
            </a:lvl3pPr>
            <a:lvl4pPr marL="16002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defRPr>
            </a:lvl4pPr>
            <a:lvl5pPr marL="20574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Click to edit Master text styles</a:t>
            </a:r>
            <a:endParaRPr lang="en-US" sz="32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743040" indent="-285840" algn="l" defTabSz="9144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Second level</a:t>
            </a:r>
            <a:endParaRPr lang="en-US" sz="2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143000" indent="-22860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Third level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6002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Fourth level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20574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Fifth level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59259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-slide">
    <p:bg>
      <p:bgPr>
        <a:gradFill rotWithShape="0">
          <a:gsLst>
            <a:gs pos="0">
              <a:srgbClr val="00285A"/>
            </a:gs>
            <a:gs pos="100000">
              <a:srgbClr val="000000"/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Num" idx="2"/>
          </p:nvPr>
        </p:nvSpPr>
        <p:spPr>
          <a:xfrm>
            <a:off x="11899440" y="6553080"/>
            <a:ext cx="141120" cy="164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rgbClr val="FFFFFF"/>
                </a:solidFill>
                <a:effectLst/>
                <a:uFillTx/>
                <a:latin typeface="IntelOne Text Light"/>
                <a:ea typeface="IntelOne Text Ligh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4545BDA9-1232-4361-8300-E8A4567DBD31}" type="slidenum"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IntelOne Text Light"/>
                <a:ea typeface="IntelOne Text Light"/>
              </a:rPr>
              <a:t>‹#›</a:t>
            </a:fld>
            <a:endParaRPr lang="en-US" sz="1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title"/>
          </p:nvPr>
        </p:nvSpPr>
        <p:spPr>
          <a:xfrm>
            <a:off x="380880" y="92160"/>
            <a:ext cx="10972440" cy="914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000" b="0" u="none" strike="noStrike">
                <a:solidFill>
                  <a:srgbClr val="6DDCFF"/>
                </a:solidFill>
                <a:effectLst/>
                <a:uFillTx/>
                <a:latin typeface="IntelOne Display Light"/>
                <a:ea typeface="IntelOne Display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000" b="0" u="none" strike="noStrike">
                <a:solidFill>
                  <a:srgbClr val="6DDCFF"/>
                </a:solidFill>
                <a:effectLst/>
                <a:uFillTx/>
                <a:latin typeface="IntelOne Display Light"/>
                <a:ea typeface="IntelOne Display Light"/>
              </a:rPr>
              <a:t>Click to edit Master title style</a:t>
            </a:r>
            <a:endParaRPr lang="en-US" sz="4000" b="0" u="none" strike="noStrike">
              <a:solidFill>
                <a:srgbClr val="6DDCFF"/>
              </a:solidFill>
              <a:effectLst/>
              <a:uFillTx/>
              <a:latin typeface="IntelOne Display Light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380880" y="1006560"/>
            <a:ext cx="10972440" cy="5032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marL="343080" indent="-34308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  <a:defRPr lang="en-US" sz="3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defRPr>
            </a:lvl1pPr>
            <a:lvl2pPr marL="743040" indent="-285840" algn="l" defTabSz="9144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  <a:defRPr lang="en-US" sz="2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defRPr>
            </a:lvl2pPr>
            <a:lvl3pPr marL="1143000" indent="-22860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defRPr>
            </a:lvl3pPr>
            <a:lvl4pPr marL="16002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defRPr>
            </a:lvl4pPr>
            <a:lvl5pPr marL="20574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Click to edit Master text styles</a:t>
            </a:r>
            <a:endParaRPr lang="en-US" sz="32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743040" indent="-285840" algn="l" defTabSz="9144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Second level</a:t>
            </a:r>
            <a:endParaRPr lang="en-US" sz="2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143000" indent="-22860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Third level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6002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Fourth level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2057400" indent="-228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Fifth level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3612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0232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4784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gi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github.com/janhavi-giri/wafer-map-tda" TargetMode="External"/><Relationship Id="rId4" Type="http://schemas.openxmlformats.org/officeDocument/2006/relationships/hyperlink" Target="https://colab.research.google.com/github/janhavi-giri/wafer-map-tda/blob/main/notebooks/wafer_map_tda_reviewed.ipynb" TargetMode="Externa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github.com/janhavi-giri/wafer-map-tda" TargetMode="External"/><Relationship Id="rId4" Type="http://schemas.openxmlformats.org/officeDocument/2006/relationships/hyperlink" Target="https://colab.research.google.com/github/janhavi-giri/wafer-map-tda/blob/main/notebooks/wafer_map_tda_reviewed.ipynb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0"/>
          <p:cNvSpPr/>
          <p:nvPr/>
        </p:nvSpPr>
        <p:spPr>
          <a:xfrm>
            <a:off x="457200" y="459360"/>
            <a:ext cx="6974280" cy="18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 spc="91">
                <a:solidFill>
                  <a:srgbClr val="4A5B70"/>
                </a:solidFill>
                <a:effectLst/>
                <a:uFillTx/>
                <a:latin typeface="Geist SemiBold"/>
                <a:ea typeface="Geist SemiBold"/>
              </a:rPr>
              <a:t>IEEE IDLP GEORGIA INSTITUTE OF TECHNOLOGY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"/>
          <p:cNvSpPr/>
          <p:nvPr/>
        </p:nvSpPr>
        <p:spPr>
          <a:xfrm>
            <a:off x="457200" y="731880"/>
            <a:ext cx="6517080" cy="255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lnSpcReduction="10000"/>
          </a:bodyPr>
          <a:lstStyle/>
          <a:p>
            <a:pPr defTabSz="914400">
              <a:lnSpc>
                <a:spcPct val="88000"/>
              </a:lnSpc>
              <a:tabLst>
                <a:tab pos="0" algn="l"/>
              </a:tabLst>
            </a:pPr>
            <a:r>
              <a:rPr lang="en-US" sz="4800" b="0" u="none" strike="noStrike" spc="-71">
                <a:solidFill>
                  <a:srgbClr val="1B2638"/>
                </a:solidFill>
                <a:effectLst/>
                <a:uFillTx/>
                <a:latin typeface="Newsreader Medium"/>
                <a:ea typeface="Newsreader Medium"/>
              </a:rPr>
              <a:t>Deep Topological Data Analysis for Semiconductor Data Mining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2"/>
          <p:cNvSpPr/>
          <p:nvPr/>
        </p:nvSpPr>
        <p:spPr>
          <a:xfrm>
            <a:off x="457200" y="3566880"/>
            <a:ext cx="6517080" cy="31320"/>
          </a:xfrm>
          <a:prstGeom prst="roundRect">
            <a:avLst>
              <a:gd name="adj" fmla="val 49998"/>
            </a:avLst>
          </a:prstGeom>
          <a:solidFill>
            <a:srgbClr val="4A5B7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2320" rIns="90000" bIns="-2232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Text 3"/>
          <p:cNvSpPr/>
          <p:nvPr/>
        </p:nvSpPr>
        <p:spPr>
          <a:xfrm>
            <a:off x="457200" y="4045320"/>
            <a:ext cx="6517080" cy="60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4A5B70"/>
                </a:solidFill>
                <a:effectLst/>
                <a:uFillTx/>
                <a:latin typeface="Geist SemiBold"/>
                <a:ea typeface="Geist SemiBold"/>
              </a:rPr>
              <a:t>Persistent homology, deep learning, and statistical inference from foundations to silicon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4"/>
          <p:cNvSpPr/>
          <p:nvPr/>
        </p:nvSpPr>
        <p:spPr>
          <a:xfrm>
            <a:off x="457200" y="5514840"/>
            <a:ext cx="6974280" cy="28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en-US" sz="1600" b="0" u="none" strike="noStrike" spc="17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Janhavi Giri, PhD · Principal Architect, Field CTO · NetApp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5"/>
          <p:cNvSpPr/>
          <p:nvPr/>
        </p:nvSpPr>
        <p:spPr>
          <a:xfrm>
            <a:off x="457200" y="6006600"/>
            <a:ext cx="6517080" cy="393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13000"/>
              </a:lnSpc>
              <a:tabLst>
                <a:tab pos="0" algn="l"/>
              </a:tabLst>
            </a:pPr>
            <a:r>
              <a:rPr lang="en-US" sz="1150" b="0" u="none" strike="noStrike" spc="11">
                <a:solidFill>
                  <a:srgbClr val="5B6676"/>
                </a:solidFill>
                <a:effectLst/>
                <a:uFillTx/>
                <a:latin typeface="Geist"/>
                <a:ea typeface="Geist"/>
              </a:rPr>
              <a:t>October 2026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" name="Image 0" descr="preencoded.png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6874920" y="1657800"/>
            <a:ext cx="5316480" cy="29905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0"/>
          <p:cNvSpPr/>
          <p:nvPr/>
        </p:nvSpPr>
        <p:spPr>
          <a:xfrm>
            <a:off x="457200" y="457200"/>
            <a:ext cx="11277000" cy="530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92000"/>
              </a:lnSpc>
              <a:tabLst>
                <a:tab pos="0" algn="l"/>
              </a:tabLst>
            </a:pPr>
            <a:r>
              <a:rPr lang="en-US" sz="3800" b="0" u="none" strike="noStrike" spc="-37">
                <a:solidFill>
                  <a:srgbClr val="1B2638"/>
                </a:solidFill>
                <a:effectLst/>
                <a:uFillTx/>
                <a:latin typeface="Newsreader Medium"/>
                <a:ea typeface="Newsreader Medium"/>
              </a:rPr>
              <a:t>Outline</a:t>
            </a:r>
            <a:endParaRPr lang="en-US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"/>
          <p:cNvSpPr/>
          <p:nvPr/>
        </p:nvSpPr>
        <p:spPr>
          <a:xfrm>
            <a:off x="457200" y="1262520"/>
            <a:ext cx="11277000" cy="31320"/>
          </a:xfrm>
          <a:prstGeom prst="roundRect">
            <a:avLst>
              <a:gd name="adj" fmla="val 49998"/>
            </a:avLst>
          </a:prstGeom>
          <a:solidFill>
            <a:srgbClr val="4A5B7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2320" rIns="90000" bIns="-2232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Text 2"/>
          <p:cNvSpPr/>
          <p:nvPr/>
        </p:nvSpPr>
        <p:spPr>
          <a:xfrm>
            <a:off x="457200" y="1546920"/>
            <a:ext cx="7212960" cy="201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marL="325080" indent="-325080" defTabSz="914400">
              <a:lnSpc>
                <a:spcPct val="118000"/>
              </a:lnSpc>
              <a:buClr>
                <a:srgbClr val="2B3139"/>
              </a:buClr>
              <a:buFont typeface="Calibri Light"/>
              <a:buAutoNum type="arabicPeriod"/>
            </a:pPr>
            <a:r>
              <a:rPr lang="en-US" sz="1600" b="0" u="none" strike="noStrike" dirty="0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Why shape, for IC data? 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5080" indent="-325080" defTabSz="914400">
              <a:lnSpc>
                <a:spcPct val="118000"/>
              </a:lnSpc>
              <a:buClr>
                <a:srgbClr val="2B3139"/>
              </a:buClr>
              <a:buFont typeface="Calibri Light"/>
              <a:buAutoNum type="arabicPeriod" startAt="2"/>
            </a:pPr>
            <a:r>
              <a:rPr lang="en-US" sz="1600" b="0" u="none" strike="noStrike" dirty="0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Mathematical foundations 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5080" indent="-325080" defTabSz="914400">
              <a:lnSpc>
                <a:spcPct val="118000"/>
              </a:lnSpc>
              <a:buClr>
                <a:srgbClr val="2B3139"/>
              </a:buClr>
              <a:buFont typeface="Calibri Light"/>
              <a:buAutoNum type="arabicPeriod" startAt="3"/>
            </a:pPr>
            <a:r>
              <a:rPr lang="en-US" sz="1600" b="0" u="none" strike="noStrike" dirty="0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The DTDA framework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5080" indent="-325080" defTabSz="914400">
              <a:lnSpc>
                <a:spcPct val="118000"/>
              </a:lnSpc>
              <a:buClr>
                <a:srgbClr val="2B3139"/>
              </a:buClr>
              <a:buFont typeface="Calibri Light"/>
              <a:buAutoNum type="arabicPeriod" startAt="4"/>
            </a:pPr>
            <a:r>
              <a:rPr lang="en-US" sz="1600" b="0" u="none" strike="noStrike" dirty="0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Deployment patterns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5080" indent="-325080" defTabSz="914400">
              <a:lnSpc>
                <a:spcPct val="118000"/>
              </a:lnSpc>
              <a:buClr>
                <a:srgbClr val="2B3139"/>
              </a:buClr>
              <a:buFont typeface="Calibri Light"/>
              <a:buAutoNum type="arabicPeriod" startAt="5"/>
            </a:pPr>
            <a:r>
              <a:rPr lang="en-US" sz="1600" b="0" u="none" strike="noStrike" dirty="0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Architecture and complexity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5080" indent="-325080" defTabSz="914400">
              <a:lnSpc>
                <a:spcPct val="118000"/>
              </a:lnSpc>
              <a:buClr>
                <a:srgbClr val="2B3139"/>
              </a:buClr>
              <a:buFont typeface="Calibri Light"/>
              <a:buAutoNum type="arabicPeriod" startAt="6"/>
            </a:pPr>
            <a:r>
              <a:rPr lang="en-US" sz="1600" b="0" u="none" strike="noStrike" dirty="0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Takeaways and Q&amp;A</a:t>
            </a:r>
          </a:p>
          <a:p>
            <a:pPr marL="325080" indent="-325080" defTabSz="914400">
              <a:lnSpc>
                <a:spcPct val="118000"/>
              </a:lnSpc>
              <a:buClr>
                <a:srgbClr val="2B3139"/>
              </a:buClr>
              <a:buFont typeface="Calibri Light"/>
              <a:buAutoNum type="arabicPeriod" startAt="6"/>
            </a:pPr>
            <a:r>
              <a:rPr lang="en-US" sz="1600" dirty="0">
                <a:solidFill>
                  <a:srgbClr val="2B3139"/>
                </a:solidFill>
                <a:latin typeface="Geist"/>
                <a:ea typeface="Geist"/>
              </a:rPr>
              <a:t>Bonus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0"/>
          <p:cNvSpPr/>
          <p:nvPr/>
        </p:nvSpPr>
        <p:spPr>
          <a:xfrm>
            <a:off x="609480" y="5236560"/>
            <a:ext cx="34538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88000"/>
              </a:lnSpc>
              <a:tabLst>
                <a:tab pos="0" algn="l"/>
              </a:tabLst>
            </a:pPr>
            <a:r>
              <a:rPr lang="en-US" sz="4800" b="0" u="none" strike="noStrike" spc="-96">
                <a:solidFill>
                  <a:srgbClr val="4A5B70"/>
                </a:solidFill>
                <a:effectLst/>
                <a:uFillTx/>
                <a:latin typeface="Newsreader Medium"/>
                <a:ea typeface="Newsreader Medium"/>
              </a:rPr>
              <a:t>1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2"/>
          <p:cNvSpPr/>
          <p:nvPr/>
        </p:nvSpPr>
        <p:spPr>
          <a:xfrm>
            <a:off x="4927320" y="1339920"/>
            <a:ext cx="7263720" cy="18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 spc="91">
                <a:solidFill>
                  <a:srgbClr val="4A5B70"/>
                </a:solidFill>
                <a:effectLst/>
                <a:uFillTx/>
                <a:latin typeface="Geist SemiBold"/>
                <a:ea typeface="Geist SemiBold"/>
              </a:rPr>
              <a:t>PART 1 · MOTIVATION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3"/>
          <p:cNvSpPr/>
          <p:nvPr/>
        </p:nvSpPr>
        <p:spPr>
          <a:xfrm>
            <a:off x="4927320" y="1612440"/>
            <a:ext cx="6654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88000"/>
              </a:lnSpc>
              <a:tabLst>
                <a:tab pos="0" algn="l"/>
              </a:tabLst>
            </a:pPr>
            <a:r>
              <a:rPr lang="en-US" sz="4800" b="0" u="none" strike="noStrike" spc="-71">
                <a:solidFill>
                  <a:srgbClr val="1B2638"/>
                </a:solidFill>
                <a:effectLst/>
                <a:uFillTx/>
                <a:latin typeface="Newsreader Medium"/>
                <a:ea typeface="Newsreader Medium"/>
              </a:rPr>
              <a:t>Why shape, for IC data?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4"/>
          <p:cNvSpPr/>
          <p:nvPr/>
        </p:nvSpPr>
        <p:spPr>
          <a:xfrm>
            <a:off x="4927320" y="2527200"/>
            <a:ext cx="6654240" cy="31320"/>
          </a:xfrm>
          <a:prstGeom prst="roundRect">
            <a:avLst>
              <a:gd name="adj" fmla="val 49998"/>
            </a:avLst>
          </a:prstGeom>
          <a:solidFill>
            <a:srgbClr val="4A5B7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2320" rIns="90000" bIns="-2232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Text 5"/>
          <p:cNvSpPr/>
          <p:nvPr/>
        </p:nvSpPr>
        <p:spPr>
          <a:xfrm>
            <a:off x="4927320" y="2811600"/>
            <a:ext cx="6654240" cy="68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High-dimensional, nonlinear design and manufacturing spaces obscure failures when projected blindly.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6"/>
          <p:cNvSpPr/>
          <p:nvPr/>
        </p:nvSpPr>
        <p:spPr>
          <a:xfrm>
            <a:off x="4927320" y="3732120"/>
            <a:ext cx="6654240" cy="77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fontScale="92500" lnSpcReduction="10000"/>
          </a:bodyPr>
          <a:lstStyle/>
          <a:p>
            <a:pPr defTabSz="914400">
              <a:lnSpc>
                <a:spcPct val="100000"/>
              </a:lnSpc>
            </a:pPr>
            <a:r>
              <a:rPr lang="en-US" sz="16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“</a:t>
            </a:r>
            <a:r>
              <a:rPr lang="en-US" sz="1900" b="0" i="1" u="none" strike="noStrike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The greatest value of a picture is when it forces us to notice what we never expected to see” </a:t>
            </a:r>
            <a:r>
              <a:rPr lang="en-US" sz="1900" b="0" u="none" strike="noStrike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John Tukey, 1977, American Mathematician and Statistician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7"/>
          <p:cNvSpPr/>
          <p:nvPr/>
        </p:nvSpPr>
        <p:spPr>
          <a:xfrm>
            <a:off x="4464000" y="0"/>
            <a:ext cx="12240" cy="6857640"/>
          </a:xfrm>
          <a:prstGeom prst="rect">
            <a:avLst/>
          </a:prstGeom>
          <a:solidFill>
            <a:srgbClr val="D8D1C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0"/>
          <p:cNvSpPr/>
          <p:nvPr/>
        </p:nvSpPr>
        <p:spPr>
          <a:xfrm>
            <a:off x="457200" y="406440"/>
            <a:ext cx="11277000" cy="530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92000"/>
              </a:lnSpc>
              <a:tabLst>
                <a:tab pos="0" algn="l"/>
              </a:tabLst>
            </a:pPr>
            <a:r>
              <a:rPr lang="en-US" sz="3800" b="0" u="none" strike="noStrike" spc="-37">
                <a:solidFill>
                  <a:srgbClr val="1B2638"/>
                </a:solidFill>
                <a:effectLst/>
                <a:uFillTx/>
                <a:latin typeface="Newsreader Medium"/>
                <a:ea typeface="Newsreader Medium"/>
              </a:rPr>
              <a:t>Topological Data Analysis</a:t>
            </a:r>
            <a:endParaRPr lang="en-US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"/>
          <p:cNvSpPr/>
          <p:nvPr/>
        </p:nvSpPr>
        <p:spPr>
          <a:xfrm>
            <a:off x="457200" y="1211760"/>
            <a:ext cx="11277000" cy="31320"/>
          </a:xfrm>
          <a:prstGeom prst="roundRect">
            <a:avLst>
              <a:gd name="adj" fmla="val 49998"/>
            </a:avLst>
          </a:prstGeom>
          <a:solidFill>
            <a:srgbClr val="4A5B7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2320" rIns="90000" bIns="-223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6" name="Text 2"/>
          <p:cNvSpPr/>
          <p:nvPr/>
        </p:nvSpPr>
        <p:spPr>
          <a:xfrm>
            <a:off x="457200" y="1496160"/>
            <a:ext cx="11277000" cy="115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3200" b="0" u="none" strike="noStrike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“Data has shape and the shape matters” — Prof. Gunnar Carlsson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" name="Image 0" descr="preencoded.png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457200" y="2649960"/>
            <a:ext cx="11277000" cy="3485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" name="Text 3"/>
          <p:cNvSpPr/>
          <p:nvPr/>
        </p:nvSpPr>
        <p:spPr>
          <a:xfrm>
            <a:off x="457200" y="6230880"/>
            <a:ext cx="117342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13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5B6676"/>
                </a:solidFill>
                <a:effectLst/>
                <a:uFillTx/>
                <a:latin typeface="Geist"/>
                <a:ea typeface="Geist"/>
              </a:rPr>
              <a:t>Regression · Clustering · Loop · Flared: different data shapes need different tools.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0"/>
          <p:cNvSpPr/>
          <p:nvPr/>
        </p:nvSpPr>
        <p:spPr>
          <a:xfrm>
            <a:off x="457200" y="355680"/>
            <a:ext cx="11277000" cy="50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92000"/>
              </a:lnSpc>
              <a:tabLst>
                <a:tab pos="0" algn="l"/>
              </a:tabLst>
            </a:pPr>
            <a:r>
              <a:rPr lang="en-US" sz="3600" b="0" u="none" strike="noStrike" spc="-37">
                <a:solidFill>
                  <a:srgbClr val="1B2638"/>
                </a:solidFill>
                <a:effectLst/>
                <a:uFillTx/>
                <a:latin typeface="Newsreader Medium"/>
                <a:ea typeface="Newsreader Medium"/>
              </a:rPr>
              <a:t>From raw IC data to a topological map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1"/>
          <p:cNvSpPr/>
          <p:nvPr/>
        </p:nvSpPr>
        <p:spPr>
          <a:xfrm>
            <a:off x="457200" y="1108440"/>
            <a:ext cx="11277000" cy="31320"/>
          </a:xfrm>
          <a:prstGeom prst="roundRect">
            <a:avLst>
              <a:gd name="adj" fmla="val 49998"/>
            </a:avLst>
          </a:prstGeom>
          <a:solidFill>
            <a:srgbClr val="4A5B7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2320" rIns="90000" bIns="-223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1" name="Shape 2"/>
          <p:cNvSpPr/>
          <p:nvPr/>
        </p:nvSpPr>
        <p:spPr>
          <a:xfrm>
            <a:off x="457200" y="1895760"/>
            <a:ext cx="4191120" cy="1378080"/>
          </a:xfrm>
          <a:prstGeom prst="roundRect">
            <a:avLst>
              <a:gd name="adj" fmla="val 829"/>
            </a:avLst>
          </a:prstGeom>
          <a:noFill/>
          <a:ln w="25399">
            <a:solidFill>
              <a:srgbClr val="4A5B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2" name="Text 3"/>
          <p:cNvSpPr/>
          <p:nvPr/>
        </p:nvSpPr>
        <p:spPr>
          <a:xfrm>
            <a:off x="736560" y="2161440"/>
            <a:ext cx="3632400" cy="39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2450" b="1" u="none" strike="noStrike">
                <a:solidFill>
                  <a:srgbClr val="4A5B70"/>
                </a:solidFill>
                <a:effectLst/>
                <a:uFillTx/>
                <a:latin typeface="Geist Bold"/>
                <a:ea typeface="Geist Bold"/>
              </a:rPr>
              <a:t>Images</a:t>
            </a:r>
            <a:endParaRPr lang="en-US" sz="2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4"/>
          <p:cNvSpPr/>
          <p:nvPr/>
        </p:nvSpPr>
        <p:spPr>
          <a:xfrm>
            <a:off x="736560" y="2689560"/>
            <a:ext cx="3911760" cy="33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Wafer maps, SEM, layout clips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5"/>
          <p:cNvSpPr/>
          <p:nvPr/>
        </p:nvSpPr>
        <p:spPr>
          <a:xfrm>
            <a:off x="457200" y="3426840"/>
            <a:ext cx="4191120" cy="1378080"/>
          </a:xfrm>
          <a:prstGeom prst="roundRect">
            <a:avLst>
              <a:gd name="adj" fmla="val 829"/>
            </a:avLst>
          </a:prstGeom>
          <a:noFill/>
          <a:ln w="25399">
            <a:solidFill>
              <a:srgbClr val="4A5B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5" name="Text 6"/>
          <p:cNvSpPr/>
          <p:nvPr/>
        </p:nvSpPr>
        <p:spPr>
          <a:xfrm>
            <a:off x="736560" y="3692520"/>
            <a:ext cx="3632400" cy="39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2450" b="1" u="none" strike="noStrike">
                <a:solidFill>
                  <a:srgbClr val="4A5B70"/>
                </a:solidFill>
                <a:effectLst/>
                <a:uFillTx/>
                <a:latin typeface="Geist Bold"/>
                <a:ea typeface="Geist Bold"/>
              </a:rPr>
              <a:t>Logs &amp; traces</a:t>
            </a:r>
            <a:endParaRPr lang="en-US" sz="2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7"/>
          <p:cNvSpPr/>
          <p:nvPr/>
        </p:nvSpPr>
        <p:spPr>
          <a:xfrm>
            <a:off x="736560" y="4220280"/>
            <a:ext cx="3911760" cy="33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Tool-sensor and recipe traces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8"/>
          <p:cNvSpPr/>
          <p:nvPr/>
        </p:nvSpPr>
        <p:spPr>
          <a:xfrm>
            <a:off x="457200" y="4957920"/>
            <a:ext cx="4191120" cy="1378080"/>
          </a:xfrm>
          <a:prstGeom prst="roundRect">
            <a:avLst>
              <a:gd name="adj" fmla="val 829"/>
            </a:avLst>
          </a:prstGeom>
          <a:noFill/>
          <a:ln w="25399">
            <a:solidFill>
              <a:srgbClr val="4A5B7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8" name="Text 9"/>
          <p:cNvSpPr/>
          <p:nvPr/>
        </p:nvSpPr>
        <p:spPr>
          <a:xfrm>
            <a:off x="736560" y="5223240"/>
            <a:ext cx="3632400" cy="39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2450" b="1" u="none" strike="noStrike">
                <a:solidFill>
                  <a:srgbClr val="4A5B70"/>
                </a:solidFill>
                <a:effectLst/>
                <a:uFillTx/>
                <a:latin typeface="Geist Bold"/>
                <a:ea typeface="Geist Bold"/>
              </a:rPr>
              <a:t>Test tables</a:t>
            </a:r>
            <a:endParaRPr lang="en-US" sz="2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0"/>
          <p:cNvSpPr/>
          <p:nvPr/>
        </p:nvSpPr>
        <p:spPr>
          <a:xfrm>
            <a:off x="736560" y="5751360"/>
            <a:ext cx="3911760" cy="33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Parametric and high-dimensional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1"/>
          <p:cNvSpPr/>
          <p:nvPr/>
        </p:nvSpPr>
        <p:spPr>
          <a:xfrm>
            <a:off x="5750640" y="3832200"/>
            <a:ext cx="767160" cy="33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2450" b="1" u="none" strike="noStrike">
                <a:solidFill>
                  <a:srgbClr val="4A5B70"/>
                </a:solidFill>
                <a:effectLst/>
                <a:uFillTx/>
                <a:latin typeface="Geist Bold"/>
                <a:ea typeface="Geist Bold"/>
              </a:rPr>
              <a:t>TDA</a:t>
            </a:r>
            <a:endParaRPr lang="en-US" sz="2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" name="Image 0" descr="preencoded.png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7395840" y="1598040"/>
            <a:ext cx="4109760" cy="391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Text 12"/>
          <p:cNvSpPr/>
          <p:nvPr/>
        </p:nvSpPr>
        <p:spPr>
          <a:xfrm>
            <a:off x="7395840" y="5594760"/>
            <a:ext cx="4109760" cy="104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13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5B6676"/>
                </a:solidFill>
                <a:effectLst/>
                <a:uFillTx/>
                <a:latin typeface="Geist"/>
                <a:ea typeface="Geist"/>
              </a:rPr>
              <a:t>Each node is a cluster of similar samples; edges link clusters that share data. Branches and loops show structure that flat clustering misses.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Arrow: Right 15"/>
          <p:cNvSpPr/>
          <p:nvPr/>
        </p:nvSpPr>
        <p:spPr>
          <a:xfrm>
            <a:off x="4822920" y="3832200"/>
            <a:ext cx="767160" cy="5032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472C4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54" name="Arrow: Right 17"/>
          <p:cNvSpPr/>
          <p:nvPr/>
        </p:nvSpPr>
        <p:spPr>
          <a:xfrm>
            <a:off x="6518160" y="3832200"/>
            <a:ext cx="767160" cy="5032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472C4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 0"/>
          <p:cNvSpPr/>
          <p:nvPr/>
        </p:nvSpPr>
        <p:spPr>
          <a:xfrm>
            <a:off x="457200" y="457200"/>
            <a:ext cx="11277000" cy="530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92000"/>
              </a:lnSpc>
              <a:tabLst>
                <a:tab pos="0" algn="l"/>
              </a:tabLst>
            </a:pPr>
            <a:r>
              <a:rPr lang="en-US" sz="3800" b="0" u="none" strike="noStrike" spc="-37">
                <a:solidFill>
                  <a:srgbClr val="1B2638"/>
                </a:solidFill>
                <a:effectLst/>
                <a:uFillTx/>
                <a:latin typeface="Newsreader Medium"/>
                <a:ea typeface="Newsreader Medium"/>
              </a:rPr>
              <a:t>Standard tools can miss the shape that matters</a:t>
            </a:r>
            <a:endParaRPr lang="en-US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1"/>
          <p:cNvSpPr/>
          <p:nvPr/>
        </p:nvSpPr>
        <p:spPr>
          <a:xfrm>
            <a:off x="457200" y="1262520"/>
            <a:ext cx="11277000" cy="31320"/>
          </a:xfrm>
          <a:prstGeom prst="roundRect">
            <a:avLst>
              <a:gd name="adj" fmla="val 49998"/>
            </a:avLst>
          </a:prstGeom>
          <a:solidFill>
            <a:srgbClr val="4A5B7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2320" rIns="90000" bIns="-2232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Text 2"/>
          <p:cNvSpPr/>
          <p:nvPr/>
        </p:nvSpPr>
        <p:spPr>
          <a:xfrm>
            <a:off x="599400" y="5014800"/>
            <a:ext cx="10723320" cy="924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marL="325080" indent="-325080" defTabSz="914400">
              <a:lnSpc>
                <a:spcPct val="118000"/>
              </a:lnSpc>
              <a:buClr>
                <a:srgbClr val="2B3139"/>
              </a:buClr>
              <a:buFont typeface="Symbol" charset="2"/>
              <a:buChar char=""/>
            </a:pPr>
            <a:r>
              <a:rPr lang="en-US" sz="1600" b="1" u="none" strike="noStrike">
                <a:solidFill>
                  <a:srgbClr val="2B3139"/>
                </a:solidFill>
                <a:effectLst/>
                <a:uFillTx/>
                <a:latin typeface="Geist Bold"/>
                <a:ea typeface="Geist Bold"/>
              </a:rPr>
              <a:t>Clustering</a:t>
            </a:r>
            <a:r>
              <a:rPr lang="en-US" sz="1600" b="0" u="none" strike="noStrike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 answers 'which group?' and imposes k groups on one ring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5080" indent="-325080" defTabSz="914400">
              <a:lnSpc>
                <a:spcPct val="118000"/>
              </a:lnSpc>
              <a:buClr>
                <a:srgbClr val="2B3139"/>
              </a:buClr>
              <a:buFont typeface="Symbol" charset="2"/>
              <a:buChar char=""/>
            </a:pPr>
            <a:r>
              <a:rPr lang="en-US" sz="1600" b="1" u="none" strike="noStrike">
                <a:solidFill>
                  <a:srgbClr val="2B3139"/>
                </a:solidFill>
                <a:effectLst/>
                <a:uFillTx/>
                <a:latin typeface="Geist Bold"/>
                <a:ea typeface="Geist Bold"/>
              </a:rPr>
              <a:t>Linear projection</a:t>
            </a:r>
            <a:r>
              <a:rPr lang="en-US" sz="1600" b="0" u="none" strike="noStrike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 answers 'which direction varies most?' and flattens loops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5080" indent="-325080" defTabSz="914400">
              <a:lnSpc>
                <a:spcPct val="118000"/>
              </a:lnSpc>
              <a:buClr>
                <a:srgbClr val="2B3139"/>
              </a:buClr>
              <a:buFont typeface="Symbol" charset="2"/>
              <a:buChar char=""/>
            </a:pPr>
            <a:r>
              <a:rPr lang="en-US" sz="1600" b="1" u="none" strike="noStrike">
                <a:solidFill>
                  <a:srgbClr val="2B3139"/>
                </a:solidFill>
                <a:effectLst/>
                <a:uFillTx/>
                <a:latin typeface="Geist Bold"/>
                <a:ea typeface="Geist Bold"/>
              </a:rPr>
              <a:t>Missing question:</a:t>
            </a:r>
            <a:r>
              <a:rPr lang="en-US" sz="1600" b="0" u="none" strike="noStrike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 is there a loop, a void, a branch, and is it real?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" name="Image 0" descr="preencoded.png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2425"/>
          <a:stretch/>
        </p:blipFill>
        <p:spPr>
          <a:xfrm>
            <a:off x="2350440" y="1462320"/>
            <a:ext cx="7903800" cy="33804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0"/>
          <p:cNvSpPr/>
          <p:nvPr/>
        </p:nvSpPr>
        <p:spPr>
          <a:xfrm>
            <a:off x="457200" y="457200"/>
            <a:ext cx="11277000" cy="43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92000"/>
              </a:lnSpc>
              <a:tabLst>
                <a:tab pos="0" algn="l"/>
              </a:tabLst>
            </a:pPr>
            <a:r>
              <a:rPr lang="en-US" sz="3100" b="0" u="none" strike="noStrike" spc="-31">
                <a:solidFill>
                  <a:srgbClr val="1B2638"/>
                </a:solidFill>
                <a:effectLst/>
                <a:uFillTx/>
                <a:latin typeface="Newsreader Medium"/>
                <a:ea typeface="Newsreader Medium"/>
              </a:rPr>
              <a:t>Topology keeps what survives continuous deformation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1"/>
          <p:cNvSpPr/>
          <p:nvPr/>
        </p:nvSpPr>
        <p:spPr>
          <a:xfrm>
            <a:off x="457200" y="1164960"/>
            <a:ext cx="11277000" cy="31320"/>
          </a:xfrm>
          <a:prstGeom prst="roundRect">
            <a:avLst>
              <a:gd name="adj" fmla="val 49998"/>
            </a:avLst>
          </a:prstGeom>
          <a:solidFill>
            <a:srgbClr val="4A5B7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2320" rIns="90000" bIns="-2232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Text 2"/>
          <p:cNvSpPr/>
          <p:nvPr/>
        </p:nvSpPr>
        <p:spPr>
          <a:xfrm>
            <a:off x="457200" y="1449000"/>
            <a:ext cx="5049000" cy="865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Stretching or bending does not change these counts; tearing or gluing does. A mug and a donut share b = (1, 2, 1).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3"/>
          <p:cNvSpPr/>
          <p:nvPr/>
        </p:nvSpPr>
        <p:spPr>
          <a:xfrm>
            <a:off x="5977080" y="5807520"/>
            <a:ext cx="5049000" cy="881640"/>
          </a:xfrm>
          <a:prstGeom prst="rect">
            <a:avLst/>
          </a:prstGeom>
          <a:solidFill>
            <a:srgbClr val="EFEAE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Shape 4"/>
          <p:cNvSpPr/>
          <p:nvPr/>
        </p:nvSpPr>
        <p:spPr>
          <a:xfrm>
            <a:off x="457200" y="5518800"/>
            <a:ext cx="37800" cy="881640"/>
          </a:xfrm>
          <a:prstGeom prst="rect">
            <a:avLst/>
          </a:prstGeom>
          <a:solidFill>
            <a:srgbClr val="7A233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Text 5"/>
          <p:cNvSpPr/>
          <p:nvPr/>
        </p:nvSpPr>
        <p:spPr>
          <a:xfrm>
            <a:off x="6095880" y="5969520"/>
            <a:ext cx="4655520" cy="57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7A2331"/>
                </a:solidFill>
                <a:effectLst/>
                <a:uFillTx/>
                <a:latin typeface="Geist Bold"/>
                <a:ea typeface="Geist Bold"/>
              </a:rPr>
              <a:t>A finite sample</a:t>
            </a: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Geist"/>
                <a:ea typeface="Geist"/>
              </a:rPr>
              <a:t> has b0 = n and no loops, so we must choose a scale or study all scales at once.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6"/>
          <p:cNvSpPr/>
          <p:nvPr/>
        </p:nvSpPr>
        <p:spPr>
          <a:xfrm>
            <a:off x="5963760" y="2062440"/>
            <a:ext cx="5770440" cy="18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 spc="91">
                <a:solidFill>
                  <a:srgbClr val="4A5B70"/>
                </a:solidFill>
                <a:effectLst/>
                <a:uFillTx/>
                <a:latin typeface="Geist SemiBold"/>
                <a:ea typeface="Geist SemiBold"/>
              </a:rPr>
              <a:t>BETTI NUMBERS OF REFERENCE SHAPES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6" name="Table 0"/>
          <p:cNvGraphicFramePr/>
          <p:nvPr/>
        </p:nvGraphicFramePr>
        <p:xfrm>
          <a:off x="5963760" y="2376360"/>
          <a:ext cx="5770080" cy="3411360"/>
        </p:xfrm>
        <a:graphic>
          <a:graphicData uri="http://schemas.openxmlformats.org/drawingml/2006/table">
            <a:tbl>
              <a:tblPr/>
              <a:tblGrid>
                <a:gridCol w="2112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1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9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6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610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B2638"/>
                          </a:solidFill>
                          <a:effectLst/>
                          <a:uFillTx/>
                          <a:latin typeface="Geist"/>
                          <a:ea typeface="Geist"/>
                        </a:rPr>
                        <a:t>Shape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6720" marR="126720" marT="88560" marB="88560" anchor="ctr">
                    <a:lnL w="12240">
                      <a:solidFill>
                        <a:srgbClr val="EFEAE0"/>
                      </a:solidFill>
                      <a:prstDash val="solid"/>
                    </a:lnL>
                    <a:lnR w="12240">
                      <a:solidFill>
                        <a:srgbClr val="EFEAE0"/>
                      </a:solidFill>
                      <a:prstDash val="solid"/>
                    </a:lnR>
                    <a:lnT w="12240">
                      <a:solidFill>
                        <a:srgbClr val="EFEAE0"/>
                      </a:solidFill>
                      <a:prstDash val="solid"/>
                    </a:lnT>
                    <a:lnB w="12240">
                      <a:solidFill>
                        <a:srgbClr val="D8D1C4"/>
                      </a:solidFill>
                      <a:prstDash val="solid"/>
                    </a:lnB>
                    <a:solidFill>
                      <a:srgbClr val="EFEAE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B2638"/>
                          </a:solidFill>
                          <a:effectLst/>
                          <a:uFillTx/>
                          <a:latin typeface="Geist"/>
                          <a:ea typeface="Geist"/>
                        </a:rPr>
                        <a:t>b0 components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6720" marR="126720" marT="88560" marB="88560" anchor="ctr">
                    <a:lnL w="12240">
                      <a:solidFill>
                        <a:srgbClr val="EFEAE0"/>
                      </a:solidFill>
                      <a:prstDash val="solid"/>
                    </a:lnL>
                    <a:lnR w="12240">
                      <a:solidFill>
                        <a:srgbClr val="EFEAE0"/>
                      </a:solidFill>
                      <a:prstDash val="solid"/>
                    </a:lnR>
                    <a:lnT w="12240">
                      <a:solidFill>
                        <a:srgbClr val="EFEAE0"/>
                      </a:solidFill>
                      <a:prstDash val="solid"/>
                    </a:lnT>
                    <a:lnB w="12240">
                      <a:solidFill>
                        <a:srgbClr val="D8D1C4"/>
                      </a:solidFill>
                      <a:prstDash val="solid"/>
                    </a:lnB>
                    <a:solidFill>
                      <a:srgbClr val="EFEAE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B2638"/>
                          </a:solidFill>
                          <a:effectLst/>
                          <a:uFillTx/>
                          <a:latin typeface="Geist"/>
                          <a:ea typeface="Geist"/>
                        </a:rPr>
                        <a:t>b1 loops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6720" marR="126720" marT="88560" marB="88560" anchor="ctr">
                    <a:lnL w="12240">
                      <a:solidFill>
                        <a:srgbClr val="EFEAE0"/>
                      </a:solidFill>
                      <a:prstDash val="solid"/>
                    </a:lnL>
                    <a:lnR w="12240">
                      <a:solidFill>
                        <a:srgbClr val="EFEAE0"/>
                      </a:solidFill>
                      <a:prstDash val="solid"/>
                    </a:lnR>
                    <a:lnT w="12240">
                      <a:solidFill>
                        <a:srgbClr val="EFEAE0"/>
                      </a:solidFill>
                      <a:prstDash val="solid"/>
                    </a:lnT>
                    <a:lnB w="12240">
                      <a:solidFill>
                        <a:srgbClr val="D8D1C4"/>
                      </a:solidFill>
                      <a:prstDash val="solid"/>
                    </a:lnB>
                    <a:solidFill>
                      <a:srgbClr val="EFEAE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B2638"/>
                          </a:solidFill>
                          <a:effectLst/>
                          <a:uFillTx/>
                          <a:latin typeface="Geist"/>
                          <a:ea typeface="Geist"/>
                        </a:rPr>
                        <a:t>b2 voids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6720" marR="126720" marT="88560" marB="88560" anchor="ctr">
                    <a:lnL w="12240">
                      <a:solidFill>
                        <a:srgbClr val="EFEAE0"/>
                      </a:solidFill>
                      <a:prstDash val="solid"/>
                    </a:lnL>
                    <a:lnR w="12240">
                      <a:solidFill>
                        <a:srgbClr val="EFEAE0"/>
                      </a:solidFill>
                      <a:prstDash val="solid"/>
                    </a:lnR>
                    <a:lnT w="12240">
                      <a:solidFill>
                        <a:srgbClr val="EFEAE0"/>
                      </a:solidFill>
                      <a:prstDash val="solid"/>
                    </a:lnT>
                    <a:lnB w="12240">
                      <a:solidFill>
                        <a:srgbClr val="D8D1C4"/>
                      </a:solidFill>
                      <a:prstDash val="solid"/>
                    </a:lnB>
                    <a:solidFill>
                      <a:srgbClr val="EFEA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3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2B3139"/>
                          </a:solidFill>
                          <a:effectLst/>
                          <a:uFillTx/>
                          <a:latin typeface="Geist"/>
                          <a:ea typeface="Geist"/>
                        </a:rPr>
                        <a:t>Point / blob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6720" marR="126720" marT="88560" marB="88560" anchor="ctr">
                    <a:lnL w="12240">
                      <a:solidFill>
                        <a:srgbClr val="FAF7F0"/>
                      </a:solidFill>
                      <a:prstDash val="solid"/>
                    </a:lnL>
                    <a:lnR w="12240">
                      <a:solidFill>
                        <a:srgbClr val="FAF7F0"/>
                      </a:solidFill>
                      <a:prstDash val="solid"/>
                    </a:lnR>
                    <a:lnT w="12240">
                      <a:solidFill>
                        <a:srgbClr val="D8D1C4"/>
                      </a:solidFill>
                      <a:prstDash val="solid"/>
                    </a:lnT>
                    <a:lnB w="12240">
                      <a:solidFill>
                        <a:srgbClr val="D8D1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2B3139"/>
                          </a:solidFill>
                          <a:effectLst/>
                          <a:uFillTx/>
                          <a:latin typeface="Geist"/>
                          <a:ea typeface="Geist"/>
                        </a:rPr>
                        <a:t>1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6720" marR="126720" marT="88560" marB="88560" anchor="ctr">
                    <a:lnL w="12240">
                      <a:solidFill>
                        <a:srgbClr val="FAF7F0"/>
                      </a:solidFill>
                      <a:prstDash val="solid"/>
                    </a:lnL>
                    <a:lnR w="12240">
                      <a:solidFill>
                        <a:srgbClr val="FAF7F0"/>
                      </a:solidFill>
                      <a:prstDash val="solid"/>
                    </a:lnR>
                    <a:lnT w="12240">
                      <a:solidFill>
                        <a:srgbClr val="D8D1C4"/>
                      </a:solidFill>
                      <a:prstDash val="solid"/>
                    </a:lnT>
                    <a:lnB w="12240">
                      <a:solidFill>
                        <a:srgbClr val="D8D1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2B3139"/>
                          </a:solidFill>
                          <a:effectLst/>
                          <a:uFillTx/>
                          <a:latin typeface="Geist"/>
                          <a:ea typeface="Geist"/>
                        </a:rPr>
                        <a:t>0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6720" marR="126720" marT="88560" marB="88560" anchor="ctr">
                    <a:lnL w="12240">
                      <a:solidFill>
                        <a:srgbClr val="FAF7F0"/>
                      </a:solidFill>
                      <a:prstDash val="solid"/>
                    </a:lnL>
                    <a:lnR w="12240">
                      <a:solidFill>
                        <a:srgbClr val="FAF7F0"/>
                      </a:solidFill>
                      <a:prstDash val="solid"/>
                    </a:lnR>
                    <a:lnT w="12240">
                      <a:solidFill>
                        <a:srgbClr val="D8D1C4"/>
                      </a:solidFill>
                      <a:prstDash val="solid"/>
                    </a:lnT>
                    <a:lnB w="12240">
                      <a:solidFill>
                        <a:srgbClr val="D8D1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2B3139"/>
                          </a:solidFill>
                          <a:effectLst/>
                          <a:uFillTx/>
                          <a:latin typeface="Geist"/>
                          <a:ea typeface="Geist"/>
                        </a:rPr>
                        <a:t>0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6720" marR="126720" marT="88560" marB="88560" anchor="ctr">
                    <a:lnL w="12240">
                      <a:solidFill>
                        <a:srgbClr val="FAF7F0"/>
                      </a:solidFill>
                      <a:prstDash val="solid"/>
                    </a:lnL>
                    <a:lnR w="12240">
                      <a:solidFill>
                        <a:srgbClr val="FAF7F0"/>
                      </a:solidFill>
                      <a:prstDash val="solid"/>
                    </a:lnR>
                    <a:lnT w="12240">
                      <a:solidFill>
                        <a:srgbClr val="D8D1C4"/>
                      </a:solidFill>
                      <a:prstDash val="solid"/>
                    </a:lnT>
                    <a:lnB w="12240">
                      <a:solidFill>
                        <a:srgbClr val="D8D1C4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3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2B3139"/>
                          </a:solidFill>
                          <a:effectLst/>
                          <a:uFillTx/>
                          <a:latin typeface="Geist"/>
                          <a:ea typeface="Geist"/>
                        </a:rPr>
                        <a:t>Circle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6720" marR="126720" marT="88560" marB="88560" anchor="ctr">
                    <a:lnL w="12240">
                      <a:solidFill>
                        <a:srgbClr val="FAF7F0"/>
                      </a:solidFill>
                      <a:prstDash val="solid"/>
                    </a:lnL>
                    <a:lnR w="12240">
                      <a:solidFill>
                        <a:srgbClr val="FAF7F0"/>
                      </a:solidFill>
                      <a:prstDash val="solid"/>
                    </a:lnR>
                    <a:lnT w="12240">
                      <a:solidFill>
                        <a:srgbClr val="D8D1C4"/>
                      </a:solidFill>
                      <a:prstDash val="solid"/>
                    </a:lnT>
                    <a:lnB w="12240">
                      <a:solidFill>
                        <a:srgbClr val="D8D1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2B3139"/>
                          </a:solidFill>
                          <a:effectLst/>
                          <a:uFillTx/>
                          <a:latin typeface="Geist"/>
                          <a:ea typeface="Geist"/>
                        </a:rPr>
                        <a:t>1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6720" marR="126720" marT="88560" marB="88560" anchor="ctr">
                    <a:lnL w="12240">
                      <a:solidFill>
                        <a:srgbClr val="FAF7F0"/>
                      </a:solidFill>
                      <a:prstDash val="solid"/>
                    </a:lnL>
                    <a:lnR w="12240">
                      <a:solidFill>
                        <a:srgbClr val="FAF7F0"/>
                      </a:solidFill>
                      <a:prstDash val="solid"/>
                    </a:lnR>
                    <a:lnT w="12240">
                      <a:solidFill>
                        <a:srgbClr val="D8D1C4"/>
                      </a:solidFill>
                      <a:prstDash val="solid"/>
                    </a:lnT>
                    <a:lnB w="12240">
                      <a:solidFill>
                        <a:srgbClr val="D8D1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2B3139"/>
                          </a:solidFill>
                          <a:effectLst/>
                          <a:uFillTx/>
                          <a:latin typeface="Geist"/>
                          <a:ea typeface="Geist"/>
                        </a:rPr>
                        <a:t>1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6720" marR="126720" marT="88560" marB="88560" anchor="ctr">
                    <a:lnL w="12240">
                      <a:solidFill>
                        <a:srgbClr val="FAF7F0"/>
                      </a:solidFill>
                      <a:prstDash val="solid"/>
                    </a:lnL>
                    <a:lnR w="12240">
                      <a:solidFill>
                        <a:srgbClr val="FAF7F0"/>
                      </a:solidFill>
                      <a:prstDash val="solid"/>
                    </a:lnR>
                    <a:lnT w="12240">
                      <a:solidFill>
                        <a:srgbClr val="D8D1C4"/>
                      </a:solidFill>
                      <a:prstDash val="solid"/>
                    </a:lnT>
                    <a:lnB w="12240">
                      <a:solidFill>
                        <a:srgbClr val="D8D1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2B3139"/>
                          </a:solidFill>
                          <a:effectLst/>
                          <a:uFillTx/>
                          <a:latin typeface="Geist"/>
                          <a:ea typeface="Geist"/>
                        </a:rPr>
                        <a:t>0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6720" marR="126720" marT="88560" marB="88560" anchor="ctr">
                    <a:lnL w="12240">
                      <a:solidFill>
                        <a:srgbClr val="FAF7F0"/>
                      </a:solidFill>
                      <a:prstDash val="solid"/>
                    </a:lnL>
                    <a:lnR w="12240">
                      <a:solidFill>
                        <a:srgbClr val="FAF7F0"/>
                      </a:solidFill>
                      <a:prstDash val="solid"/>
                    </a:lnR>
                    <a:lnT w="12240">
                      <a:solidFill>
                        <a:srgbClr val="D8D1C4"/>
                      </a:solidFill>
                      <a:prstDash val="solid"/>
                    </a:lnT>
                    <a:lnB w="12240">
                      <a:solidFill>
                        <a:srgbClr val="D8D1C4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23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2B3139"/>
                          </a:solidFill>
                          <a:effectLst/>
                          <a:uFillTx/>
                          <a:latin typeface="Geist"/>
                          <a:ea typeface="Geist"/>
                        </a:rPr>
                        <a:t>Figure-eight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6720" marR="126720" marT="88560" marB="88560" anchor="ctr">
                    <a:lnL w="12240">
                      <a:solidFill>
                        <a:srgbClr val="FAF7F0"/>
                      </a:solidFill>
                      <a:prstDash val="solid"/>
                    </a:lnL>
                    <a:lnR w="12240">
                      <a:solidFill>
                        <a:srgbClr val="FAF7F0"/>
                      </a:solidFill>
                      <a:prstDash val="solid"/>
                    </a:lnR>
                    <a:lnT w="12240">
                      <a:solidFill>
                        <a:srgbClr val="D8D1C4"/>
                      </a:solidFill>
                      <a:prstDash val="solid"/>
                    </a:lnT>
                    <a:lnB w="12240">
                      <a:solidFill>
                        <a:srgbClr val="D8D1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2B3139"/>
                          </a:solidFill>
                          <a:effectLst/>
                          <a:uFillTx/>
                          <a:latin typeface="Geist"/>
                          <a:ea typeface="Geist"/>
                        </a:rPr>
                        <a:t>1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6720" marR="126720" marT="88560" marB="88560" anchor="ctr">
                    <a:lnL w="12240">
                      <a:solidFill>
                        <a:srgbClr val="FAF7F0"/>
                      </a:solidFill>
                      <a:prstDash val="solid"/>
                    </a:lnL>
                    <a:lnR w="12240">
                      <a:solidFill>
                        <a:srgbClr val="FAF7F0"/>
                      </a:solidFill>
                      <a:prstDash val="solid"/>
                    </a:lnR>
                    <a:lnT w="12240">
                      <a:solidFill>
                        <a:srgbClr val="D8D1C4"/>
                      </a:solidFill>
                      <a:prstDash val="solid"/>
                    </a:lnT>
                    <a:lnB w="12240">
                      <a:solidFill>
                        <a:srgbClr val="D8D1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2B3139"/>
                          </a:solidFill>
                          <a:effectLst/>
                          <a:uFillTx/>
                          <a:latin typeface="Geist"/>
                          <a:ea typeface="Geist"/>
                        </a:rPr>
                        <a:t>2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6720" marR="126720" marT="88560" marB="88560" anchor="ctr">
                    <a:lnL w="12240">
                      <a:solidFill>
                        <a:srgbClr val="FAF7F0"/>
                      </a:solidFill>
                      <a:prstDash val="solid"/>
                    </a:lnL>
                    <a:lnR w="12240">
                      <a:solidFill>
                        <a:srgbClr val="FAF7F0"/>
                      </a:solidFill>
                      <a:prstDash val="solid"/>
                    </a:lnR>
                    <a:lnT w="12240">
                      <a:solidFill>
                        <a:srgbClr val="D8D1C4"/>
                      </a:solidFill>
                      <a:prstDash val="solid"/>
                    </a:lnT>
                    <a:lnB w="12240">
                      <a:solidFill>
                        <a:srgbClr val="D8D1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2B3139"/>
                          </a:solidFill>
                          <a:effectLst/>
                          <a:uFillTx/>
                          <a:latin typeface="Geist"/>
                          <a:ea typeface="Geist"/>
                        </a:rPr>
                        <a:t>0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6720" marR="126720" marT="88560" marB="88560" anchor="ctr">
                    <a:lnL w="12240">
                      <a:solidFill>
                        <a:srgbClr val="FAF7F0"/>
                      </a:solidFill>
                      <a:prstDash val="solid"/>
                    </a:lnL>
                    <a:lnR w="12240">
                      <a:solidFill>
                        <a:srgbClr val="FAF7F0"/>
                      </a:solidFill>
                      <a:prstDash val="solid"/>
                    </a:lnR>
                    <a:lnT w="12240">
                      <a:solidFill>
                        <a:srgbClr val="D8D1C4"/>
                      </a:solidFill>
                      <a:prstDash val="solid"/>
                    </a:lnT>
                    <a:lnB w="12240">
                      <a:solidFill>
                        <a:srgbClr val="D8D1C4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23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2B3139"/>
                          </a:solidFill>
                          <a:effectLst/>
                          <a:uFillTx/>
                          <a:latin typeface="Geist"/>
                          <a:ea typeface="Geist"/>
                        </a:rPr>
                        <a:t>Sphere surface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6720" marR="126720" marT="88560" marB="88560" anchor="ctr">
                    <a:lnL w="12240">
                      <a:solidFill>
                        <a:srgbClr val="FAF7F0"/>
                      </a:solidFill>
                      <a:prstDash val="solid"/>
                    </a:lnL>
                    <a:lnR w="12240">
                      <a:solidFill>
                        <a:srgbClr val="FAF7F0"/>
                      </a:solidFill>
                      <a:prstDash val="solid"/>
                    </a:lnR>
                    <a:lnT w="12240">
                      <a:solidFill>
                        <a:srgbClr val="D8D1C4"/>
                      </a:solidFill>
                      <a:prstDash val="solid"/>
                    </a:lnT>
                    <a:lnB w="12240">
                      <a:solidFill>
                        <a:srgbClr val="D8D1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2B3139"/>
                          </a:solidFill>
                          <a:effectLst/>
                          <a:uFillTx/>
                          <a:latin typeface="Geist"/>
                          <a:ea typeface="Geist"/>
                        </a:rPr>
                        <a:t>1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6720" marR="126720" marT="88560" marB="88560" anchor="ctr">
                    <a:lnL w="12240">
                      <a:solidFill>
                        <a:srgbClr val="FAF7F0"/>
                      </a:solidFill>
                      <a:prstDash val="solid"/>
                    </a:lnL>
                    <a:lnR w="12240">
                      <a:solidFill>
                        <a:srgbClr val="FAF7F0"/>
                      </a:solidFill>
                      <a:prstDash val="solid"/>
                    </a:lnR>
                    <a:lnT w="12240">
                      <a:solidFill>
                        <a:srgbClr val="D8D1C4"/>
                      </a:solidFill>
                      <a:prstDash val="solid"/>
                    </a:lnT>
                    <a:lnB w="12240">
                      <a:solidFill>
                        <a:srgbClr val="D8D1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2B3139"/>
                          </a:solidFill>
                          <a:effectLst/>
                          <a:uFillTx/>
                          <a:latin typeface="Geist"/>
                          <a:ea typeface="Geist"/>
                        </a:rPr>
                        <a:t>0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6720" marR="126720" marT="88560" marB="88560" anchor="ctr">
                    <a:lnL w="12240">
                      <a:solidFill>
                        <a:srgbClr val="FAF7F0"/>
                      </a:solidFill>
                      <a:prstDash val="solid"/>
                    </a:lnL>
                    <a:lnR w="12240">
                      <a:solidFill>
                        <a:srgbClr val="FAF7F0"/>
                      </a:solidFill>
                      <a:prstDash val="solid"/>
                    </a:lnR>
                    <a:lnT w="12240">
                      <a:solidFill>
                        <a:srgbClr val="D8D1C4"/>
                      </a:solidFill>
                      <a:prstDash val="solid"/>
                    </a:lnT>
                    <a:lnB w="12240">
                      <a:solidFill>
                        <a:srgbClr val="D8D1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2B3139"/>
                          </a:solidFill>
                          <a:effectLst/>
                          <a:uFillTx/>
                          <a:latin typeface="Geist"/>
                          <a:ea typeface="Geist"/>
                        </a:rPr>
                        <a:t>1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6720" marR="126720" marT="88560" marB="88560" anchor="ctr">
                    <a:lnL w="12240">
                      <a:solidFill>
                        <a:srgbClr val="FAF7F0"/>
                      </a:solidFill>
                      <a:prstDash val="solid"/>
                    </a:lnL>
                    <a:lnR w="12240">
                      <a:solidFill>
                        <a:srgbClr val="FAF7F0"/>
                      </a:solidFill>
                      <a:prstDash val="solid"/>
                    </a:lnR>
                    <a:lnT w="12240">
                      <a:solidFill>
                        <a:srgbClr val="D8D1C4"/>
                      </a:solidFill>
                      <a:prstDash val="solid"/>
                    </a:lnT>
                    <a:lnB w="12240">
                      <a:solidFill>
                        <a:srgbClr val="D8D1C4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10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2B3139"/>
                          </a:solidFill>
                          <a:effectLst/>
                          <a:uFillTx/>
                          <a:latin typeface="Geist"/>
                          <a:ea typeface="Geist"/>
                        </a:rPr>
                        <a:t>Torus surface (donut, mug)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6720" marR="126720" marT="88560" marB="88560" anchor="ctr">
                    <a:lnL w="12240">
                      <a:solidFill>
                        <a:srgbClr val="FAF7F0"/>
                      </a:solidFill>
                      <a:prstDash val="solid"/>
                    </a:lnL>
                    <a:lnR w="12240">
                      <a:solidFill>
                        <a:srgbClr val="FAF7F0"/>
                      </a:solidFill>
                      <a:prstDash val="solid"/>
                    </a:lnR>
                    <a:lnT w="12240">
                      <a:solidFill>
                        <a:srgbClr val="D8D1C4"/>
                      </a:solidFill>
                      <a:prstDash val="solid"/>
                    </a:lnT>
                    <a:lnB w="12240">
                      <a:solidFill>
                        <a:srgbClr val="FAF7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2B3139"/>
                          </a:solidFill>
                          <a:effectLst/>
                          <a:uFillTx/>
                          <a:latin typeface="Geist"/>
                          <a:ea typeface="Geist"/>
                        </a:rPr>
                        <a:t>1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6720" marR="126720" marT="88560" marB="88560" anchor="ctr">
                    <a:lnL w="12240">
                      <a:solidFill>
                        <a:srgbClr val="FAF7F0"/>
                      </a:solidFill>
                      <a:prstDash val="solid"/>
                    </a:lnL>
                    <a:lnR w="12240">
                      <a:solidFill>
                        <a:srgbClr val="FAF7F0"/>
                      </a:solidFill>
                      <a:prstDash val="solid"/>
                    </a:lnR>
                    <a:lnT w="12240">
                      <a:solidFill>
                        <a:srgbClr val="D8D1C4"/>
                      </a:solidFill>
                      <a:prstDash val="solid"/>
                    </a:lnT>
                    <a:lnB w="12240">
                      <a:solidFill>
                        <a:srgbClr val="FAF7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2B3139"/>
                          </a:solidFill>
                          <a:effectLst/>
                          <a:uFillTx/>
                          <a:latin typeface="Geist"/>
                          <a:ea typeface="Geist"/>
                        </a:rPr>
                        <a:t>2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6720" marR="126720" marT="88560" marB="88560" anchor="ctr">
                    <a:lnL w="12240">
                      <a:solidFill>
                        <a:srgbClr val="FAF7F0"/>
                      </a:solidFill>
                      <a:prstDash val="solid"/>
                    </a:lnL>
                    <a:lnR w="12240">
                      <a:solidFill>
                        <a:srgbClr val="FAF7F0"/>
                      </a:solidFill>
                      <a:prstDash val="solid"/>
                    </a:lnR>
                    <a:lnT w="12240">
                      <a:solidFill>
                        <a:srgbClr val="D8D1C4"/>
                      </a:solidFill>
                      <a:prstDash val="solid"/>
                    </a:lnT>
                    <a:lnB w="12240">
                      <a:solidFill>
                        <a:srgbClr val="FAF7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 dirty="0">
                          <a:solidFill>
                            <a:srgbClr val="2B3139"/>
                          </a:solidFill>
                          <a:effectLst/>
                          <a:uFillTx/>
                          <a:latin typeface="Geist"/>
                          <a:ea typeface="Geist"/>
                        </a:rPr>
                        <a:t>1</a:t>
                      </a:r>
                      <a:endParaRPr lang="en-US" sz="16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26720" marR="126720" marT="88560" marB="88560" anchor="ctr">
                    <a:lnL w="12240">
                      <a:solidFill>
                        <a:srgbClr val="FAF7F0"/>
                      </a:solidFill>
                      <a:prstDash val="solid"/>
                    </a:lnL>
                    <a:lnR w="12240">
                      <a:solidFill>
                        <a:srgbClr val="FAF7F0"/>
                      </a:solidFill>
                      <a:prstDash val="solid"/>
                    </a:lnR>
                    <a:lnT w="12240">
                      <a:solidFill>
                        <a:srgbClr val="D8D1C4"/>
                      </a:solidFill>
                      <a:prstDash val="solid"/>
                    </a:lnT>
                    <a:lnB w="12240">
                      <a:solidFill>
                        <a:srgbClr val="FAF7F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67" name="Picture 11"/>
          <p:cNvPicPr/>
          <p:nvPr/>
        </p:nvPicPr>
        <p:blipFill>
          <a:blip r:embed="rId3"/>
          <a:stretch/>
        </p:blipFill>
        <p:spPr>
          <a:xfrm>
            <a:off x="1057680" y="1998360"/>
            <a:ext cx="3847680" cy="379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TextBox 13"/>
          <p:cNvSpPr/>
          <p:nvPr/>
        </p:nvSpPr>
        <p:spPr>
          <a:xfrm>
            <a:off x="784440" y="5972760"/>
            <a:ext cx="4394160" cy="27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https://summergeometry.org/sgi2021/is-it-a-donut-or-is-it-a-mug/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 0"/>
          <p:cNvSpPr/>
          <p:nvPr/>
        </p:nvSpPr>
        <p:spPr>
          <a:xfrm>
            <a:off x="457200" y="457200"/>
            <a:ext cx="11277000" cy="43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92000"/>
              </a:lnSpc>
              <a:tabLst>
                <a:tab pos="0" algn="l"/>
              </a:tabLst>
            </a:pPr>
            <a:r>
              <a:rPr lang="en-US" sz="3100" b="0" u="none" strike="noStrike" spc="-31">
                <a:solidFill>
                  <a:srgbClr val="1B2638"/>
                </a:solidFill>
                <a:effectLst/>
                <a:uFillTx/>
                <a:latin typeface="Newsreader Medium"/>
                <a:ea typeface="Newsreader Medium"/>
              </a:rPr>
              <a:t>Where shape shows up in design and manufacturing data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1"/>
          <p:cNvSpPr/>
          <p:nvPr/>
        </p:nvSpPr>
        <p:spPr>
          <a:xfrm>
            <a:off x="457200" y="1164960"/>
            <a:ext cx="11277000" cy="31320"/>
          </a:xfrm>
          <a:prstGeom prst="roundRect">
            <a:avLst>
              <a:gd name="adj" fmla="val 49998"/>
            </a:avLst>
          </a:prstGeom>
          <a:solidFill>
            <a:srgbClr val="4A5B7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2320" rIns="90000" bIns="-2232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Shape 2"/>
          <p:cNvSpPr/>
          <p:nvPr/>
        </p:nvSpPr>
        <p:spPr>
          <a:xfrm>
            <a:off x="457200" y="1449000"/>
            <a:ext cx="3555720" cy="49514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1C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Text 3"/>
          <p:cNvSpPr/>
          <p:nvPr/>
        </p:nvSpPr>
        <p:spPr>
          <a:xfrm>
            <a:off x="666720" y="1660680"/>
            <a:ext cx="3345840" cy="18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 spc="91">
                <a:solidFill>
                  <a:srgbClr val="000000"/>
                </a:solidFill>
                <a:effectLst/>
                <a:uFillTx/>
                <a:latin typeface="Geist SemiBold"/>
                <a:ea typeface="Geist SemiBold"/>
              </a:rPr>
              <a:t>SPATIAL &amp; PHYSICAL DOMAINS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4"/>
          <p:cNvSpPr/>
          <p:nvPr/>
        </p:nvSpPr>
        <p:spPr>
          <a:xfrm>
            <a:off x="666720" y="1941840"/>
            <a:ext cx="3136320" cy="26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Geist SemiBold"/>
                <a:ea typeface="Geist SemiBold"/>
              </a:rPr>
              <a:t>Wafer maps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5"/>
          <p:cNvSpPr/>
          <p:nvPr/>
        </p:nvSpPr>
        <p:spPr>
          <a:xfrm>
            <a:off x="666720" y="2364840"/>
            <a:ext cx="3136320" cy="75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Geist"/>
                <a:ea typeface="Geist"/>
              </a:rPr>
              <a:t>Defect clusters identify as connected components (</a:t>
            </a:r>
            <a:r>
              <a:rPr lang="en-US" sz="1350" b="0" i="1" u="none" strike="noStrike">
                <a:solidFill>
                  <a:srgbClr val="000000"/>
                </a:solidFill>
                <a:effectLst/>
                <a:uFillTx/>
                <a:latin typeface="Geist"/>
                <a:ea typeface="Geist"/>
              </a:rPr>
              <a:t> 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Geist"/>
                <a:ea typeface="Geist"/>
              </a:rPr>
              <a:t>), scratch lines, and spatial thermal rings (</a:t>
            </a:r>
            <a:r>
              <a:rPr lang="en-US" sz="1350" b="0" i="1" u="none" strike="noStrike">
                <a:solidFill>
                  <a:srgbClr val="000000"/>
                </a:solidFill>
                <a:effectLst/>
                <a:uFillTx/>
                <a:latin typeface="Geist"/>
                <a:ea typeface="Geist"/>
              </a:rPr>
              <a:t> 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Geist"/>
                <a:ea typeface="Geist"/>
              </a:rPr>
              <a:t>).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5" name="Image 0" descr="preencoded.png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1766520" y="2644839"/>
            <a:ext cx="235080" cy="216521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Image 1" descr="preencoded.png"/>
          <p:cNvPicPr/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2415240" y="2897199"/>
            <a:ext cx="235080" cy="216521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Text 6"/>
          <p:cNvSpPr/>
          <p:nvPr/>
        </p:nvSpPr>
        <p:spPr>
          <a:xfrm>
            <a:off x="666720" y="3258000"/>
            <a:ext cx="3136320" cy="26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Geist SemiBold"/>
                <a:ea typeface="Geist SemiBold"/>
              </a:rPr>
              <a:t>SEM &amp; inspection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7"/>
          <p:cNvSpPr/>
          <p:nvPr/>
        </p:nvSpPr>
        <p:spPr>
          <a:xfrm>
            <a:off x="666720" y="3681000"/>
            <a:ext cx="3136320" cy="75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fontScale="92500"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Geist"/>
                <a:ea typeface="Geist"/>
              </a:rPr>
              <a:t>Topological contacts, bridging defects, and open vias tracked through persistent multi-scale thresholding.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8"/>
          <p:cNvSpPr/>
          <p:nvPr/>
        </p:nvSpPr>
        <p:spPr>
          <a:xfrm>
            <a:off x="4317840" y="1449000"/>
            <a:ext cx="3555720" cy="49514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1C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 9"/>
          <p:cNvSpPr/>
          <p:nvPr/>
        </p:nvSpPr>
        <p:spPr>
          <a:xfrm>
            <a:off x="4527360" y="1660680"/>
            <a:ext cx="3345840" cy="18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 spc="91">
                <a:solidFill>
                  <a:srgbClr val="000000"/>
                </a:solidFill>
                <a:effectLst/>
                <a:uFillTx/>
                <a:latin typeface="Geist SemiBold"/>
                <a:ea typeface="Geist SemiBold"/>
              </a:rPr>
              <a:t>TEMPORAL &amp; OPTICAL SIGNALS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0"/>
          <p:cNvSpPr/>
          <p:nvPr/>
        </p:nvSpPr>
        <p:spPr>
          <a:xfrm>
            <a:off x="4527360" y="1941840"/>
            <a:ext cx="3136320" cy="26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Geist SemiBold"/>
                <a:ea typeface="Geist SemiBold"/>
              </a:rPr>
              <a:t>Sensor traces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1"/>
          <p:cNvSpPr/>
          <p:nvPr/>
        </p:nvSpPr>
        <p:spPr>
          <a:xfrm>
            <a:off x="4527360" y="2364840"/>
            <a:ext cx="3136320" cy="10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Geist"/>
                <a:ea typeface="Geist"/>
              </a:rPr>
              <a:t>Periodic etch and CVD recipe steps manifest as limit cycles in Takens delay embeddings and sensor-correlation networks.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2"/>
          <p:cNvSpPr/>
          <p:nvPr/>
        </p:nvSpPr>
        <p:spPr>
          <a:xfrm>
            <a:off x="4527360" y="3510360"/>
            <a:ext cx="3136320" cy="26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Geist SemiBold"/>
                <a:ea typeface="Geist SemiBold"/>
              </a:rPr>
              <a:t>Layout clips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3"/>
          <p:cNvSpPr/>
          <p:nvPr/>
        </p:nvSpPr>
        <p:spPr>
          <a:xfrm>
            <a:off x="4527360" y="3933360"/>
            <a:ext cx="3136320" cy="10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Geist"/>
                <a:ea typeface="Geist"/>
              </a:rPr>
              <a:t>Printed geometries, pinholes, and enclosed void spaces evaluated as functions of optical dose and resist threshold.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4"/>
          <p:cNvSpPr/>
          <p:nvPr/>
        </p:nvSpPr>
        <p:spPr>
          <a:xfrm>
            <a:off x="8178480" y="1449000"/>
            <a:ext cx="3555720" cy="49514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1C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6" name="Text 15"/>
          <p:cNvSpPr/>
          <p:nvPr/>
        </p:nvSpPr>
        <p:spPr>
          <a:xfrm>
            <a:off x="8388000" y="1660680"/>
            <a:ext cx="3345840" cy="18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 spc="91">
                <a:solidFill>
                  <a:srgbClr val="000000"/>
                </a:solidFill>
                <a:effectLst/>
                <a:uFillTx/>
                <a:latin typeface="Geist SemiBold"/>
                <a:ea typeface="Geist SemiBold"/>
              </a:rPr>
              <a:t>PARAMETRIC &amp; COMPLEX CHOICE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6"/>
          <p:cNvSpPr/>
          <p:nvPr/>
        </p:nvSpPr>
        <p:spPr>
          <a:xfrm>
            <a:off x="8388000" y="1941840"/>
            <a:ext cx="3136320" cy="26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Geist SemiBold"/>
                <a:ea typeface="Geist SemiBold"/>
              </a:rPr>
              <a:t>Parametric test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7"/>
          <p:cNvSpPr/>
          <p:nvPr/>
        </p:nvSpPr>
        <p:spPr>
          <a:xfrm>
            <a:off x="8388000" y="2364840"/>
            <a:ext cx="3136320" cy="10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Geist"/>
                <a:ea typeface="Geist"/>
              </a:rPr>
              <a:t>E-test parameter correlations reveal multi-modal operational regimes and yield drop bifurcations via Mapper graphs.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2"/>
          <p:cNvSpPr/>
          <p:nvPr/>
        </p:nvSpPr>
        <p:spPr>
          <a:xfrm>
            <a:off x="8388000" y="3603600"/>
            <a:ext cx="3136320" cy="26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000000"/>
                </a:solidFill>
                <a:effectLst/>
                <a:uFillTx/>
                <a:latin typeface="Geist SemiBold"/>
                <a:ea typeface="Geist SemiBold"/>
              </a:rPr>
              <a:t>Natural Complex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3"/>
          <p:cNvSpPr/>
          <p:nvPr/>
        </p:nvSpPr>
        <p:spPr>
          <a:xfrm>
            <a:off x="8388000" y="3934440"/>
            <a:ext cx="3136320" cy="10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18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Geist"/>
                <a:ea typeface="Geist"/>
              </a:rPr>
              <a:t>Point clouds → Vietoris–Rips · images → cubical · tables → Mapper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 0"/>
          <p:cNvSpPr/>
          <p:nvPr/>
        </p:nvSpPr>
        <p:spPr>
          <a:xfrm>
            <a:off x="457200" y="457200"/>
            <a:ext cx="11277000" cy="43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92000"/>
              </a:lnSpc>
              <a:tabLst>
                <a:tab pos="0" algn="l"/>
              </a:tabLst>
            </a:pPr>
            <a:r>
              <a:rPr lang="en-US" sz="3100" b="0" u="none" strike="noStrike" spc="-31">
                <a:solidFill>
                  <a:srgbClr val="1B2638"/>
                </a:solidFill>
                <a:effectLst/>
                <a:uFillTx/>
                <a:latin typeface="Newsreader Medium"/>
                <a:ea typeface="Newsreader Medium"/>
              </a:rPr>
              <a:t>What TDA can, and cannot, do for you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1"/>
          <p:cNvSpPr/>
          <p:nvPr/>
        </p:nvSpPr>
        <p:spPr>
          <a:xfrm>
            <a:off x="457200" y="1164960"/>
            <a:ext cx="11277000" cy="31320"/>
          </a:xfrm>
          <a:prstGeom prst="roundRect">
            <a:avLst>
              <a:gd name="adj" fmla="val 49998"/>
            </a:avLst>
          </a:prstGeom>
          <a:solidFill>
            <a:srgbClr val="4A5B7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2320" rIns="90000" bIns="-2232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3" name="Shape 2"/>
          <p:cNvSpPr/>
          <p:nvPr/>
        </p:nvSpPr>
        <p:spPr>
          <a:xfrm>
            <a:off x="457200" y="1449000"/>
            <a:ext cx="5409720" cy="44596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1C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4" name="Text 3"/>
          <p:cNvSpPr/>
          <p:nvPr/>
        </p:nvSpPr>
        <p:spPr>
          <a:xfrm>
            <a:off x="717480" y="1609560"/>
            <a:ext cx="5149440" cy="18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 spc="91">
                <a:solidFill>
                  <a:srgbClr val="4A5B70"/>
                </a:solidFill>
                <a:effectLst/>
                <a:uFillTx/>
                <a:latin typeface="Geist SemiBold"/>
                <a:ea typeface="Geist SemiBold"/>
              </a:rPr>
              <a:t>CAN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4"/>
          <p:cNvSpPr/>
          <p:nvPr/>
        </p:nvSpPr>
        <p:spPr>
          <a:xfrm>
            <a:off x="717480" y="1923480"/>
            <a:ext cx="4889160" cy="213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marL="325080" indent="-325080" defTabSz="914400">
              <a:lnSpc>
                <a:spcPct val="118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Geist"/>
                <a:ea typeface="Geist"/>
              </a:rPr>
              <a:t>summarize connectivity, loops and voids across all scales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5080" indent="-325080" defTabSz="914400">
              <a:lnSpc>
                <a:spcPct val="118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Geist"/>
                <a:ea typeface="Geist"/>
              </a:rPr>
              <a:t>work from distances only, with stability guarantees, and produce features for standard ML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5080" indent="-325080" defTabSz="914400">
              <a:lnSpc>
                <a:spcPct val="118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Geist"/>
                <a:ea typeface="Geist"/>
              </a:rPr>
              <a:t>compress high-dimensional data into a navigable graph (Mapper)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5"/>
          <p:cNvSpPr/>
          <p:nvPr/>
        </p:nvSpPr>
        <p:spPr>
          <a:xfrm>
            <a:off x="6324480" y="1449000"/>
            <a:ext cx="5409720" cy="44596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1C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7" name="Text 6"/>
          <p:cNvSpPr/>
          <p:nvPr/>
        </p:nvSpPr>
        <p:spPr>
          <a:xfrm>
            <a:off x="6584760" y="1609560"/>
            <a:ext cx="5149440" cy="18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 spc="91">
                <a:solidFill>
                  <a:srgbClr val="7A2331"/>
                </a:solidFill>
                <a:effectLst/>
                <a:uFillTx/>
                <a:latin typeface="Geist SemiBold"/>
                <a:ea typeface="Geist SemiBold"/>
              </a:rPr>
              <a:t>CANNOT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7"/>
          <p:cNvSpPr/>
          <p:nvPr/>
        </p:nvSpPr>
        <p:spPr>
          <a:xfrm>
            <a:off x="6584760" y="1923480"/>
            <a:ext cx="4889160" cy="149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marL="325080" indent="-325080" defTabSz="914400">
              <a:lnSpc>
                <a:spcPct val="118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Geist"/>
                <a:ea typeface="Geist"/>
              </a:rPr>
              <a:t>explain what a feature means, or give significance automatically (Fasy et al., 2014)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5080" indent="-325080" defTabSz="914400">
              <a:lnSpc>
                <a:spcPct val="118000"/>
              </a:lnSpc>
              <a:buClr>
                <a:srgbClr val="00000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Geist"/>
                <a:ea typeface="Geist"/>
              </a:rPr>
              <a:t>scale to millions of points without subsampling, rescue a poor metric, or replace clustering and regression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 0"/>
          <p:cNvSpPr/>
          <p:nvPr/>
        </p:nvSpPr>
        <p:spPr>
          <a:xfrm>
            <a:off x="457200" y="457200"/>
            <a:ext cx="11277000" cy="530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92000"/>
              </a:lnSpc>
              <a:tabLst>
                <a:tab pos="0" algn="l"/>
              </a:tabLst>
            </a:pPr>
            <a:r>
              <a:rPr lang="en-US" sz="3800" b="0" u="none" strike="noStrike" spc="-37">
                <a:solidFill>
                  <a:srgbClr val="1B2638"/>
                </a:solidFill>
                <a:effectLst/>
                <a:uFillTx/>
                <a:latin typeface="Newsreader Medium"/>
                <a:ea typeface="Newsreader Medium"/>
              </a:rPr>
              <a:t>TDA Workflow</a:t>
            </a:r>
            <a:endParaRPr lang="en-US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1"/>
          <p:cNvSpPr/>
          <p:nvPr/>
        </p:nvSpPr>
        <p:spPr>
          <a:xfrm>
            <a:off x="457200" y="1262520"/>
            <a:ext cx="11277000" cy="31320"/>
          </a:xfrm>
          <a:prstGeom prst="roundRect">
            <a:avLst>
              <a:gd name="adj" fmla="val 49998"/>
            </a:avLst>
          </a:prstGeom>
          <a:solidFill>
            <a:srgbClr val="4A5B7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2320" rIns="90000" bIns="-2232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01" name="Image 0" descr="preencoded.png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457200" y="1343520"/>
            <a:ext cx="11277000" cy="476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Text 2"/>
          <p:cNvSpPr/>
          <p:nvPr/>
        </p:nvSpPr>
        <p:spPr>
          <a:xfrm>
            <a:off x="457560" y="6400800"/>
            <a:ext cx="11734200" cy="1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13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B6676"/>
                </a:solidFill>
                <a:effectLst/>
                <a:uFillTx/>
                <a:latin typeface="Geist"/>
                <a:ea typeface="Geist"/>
              </a:rPr>
              <a:t>Aspects of topological approaches for data science (aimsciences.org)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 0"/>
          <p:cNvSpPr/>
          <p:nvPr/>
        </p:nvSpPr>
        <p:spPr>
          <a:xfrm>
            <a:off x="609480" y="5236560"/>
            <a:ext cx="34538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88000"/>
              </a:lnSpc>
              <a:tabLst>
                <a:tab pos="0" algn="l"/>
              </a:tabLst>
            </a:pPr>
            <a:r>
              <a:rPr lang="en-US" sz="4800" b="0" u="none" strike="noStrike" spc="-96">
                <a:solidFill>
                  <a:srgbClr val="4A5B70"/>
                </a:solidFill>
                <a:effectLst/>
                <a:uFillTx/>
                <a:latin typeface="Newsreader Medium"/>
                <a:ea typeface="Newsreader Medium"/>
              </a:rPr>
              <a:t>2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2"/>
          <p:cNvSpPr/>
          <p:nvPr/>
        </p:nvSpPr>
        <p:spPr>
          <a:xfrm>
            <a:off x="4927320" y="2031480"/>
            <a:ext cx="7263720" cy="18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 spc="91">
                <a:solidFill>
                  <a:srgbClr val="4A5B70"/>
                </a:solidFill>
                <a:effectLst/>
                <a:uFillTx/>
                <a:latin typeface="Geist SemiBold"/>
                <a:ea typeface="Geist SemiBold"/>
              </a:rPr>
              <a:t>PART 2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3"/>
          <p:cNvSpPr/>
          <p:nvPr/>
        </p:nvSpPr>
        <p:spPr>
          <a:xfrm>
            <a:off x="4927320" y="2304360"/>
            <a:ext cx="665424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lnSpcReduction="10000"/>
          </a:bodyPr>
          <a:lstStyle/>
          <a:p>
            <a:pPr defTabSz="914400">
              <a:lnSpc>
                <a:spcPct val="88000"/>
              </a:lnSpc>
              <a:tabLst>
                <a:tab pos="0" algn="l"/>
              </a:tabLst>
            </a:pPr>
            <a:r>
              <a:rPr lang="en-US" sz="4800" b="0" u="none" strike="noStrike" spc="-71">
                <a:solidFill>
                  <a:srgbClr val="1B2638"/>
                </a:solidFill>
                <a:effectLst/>
                <a:uFillTx/>
                <a:latin typeface="Newsreader Medium"/>
                <a:ea typeface="Newsreader Medium"/>
              </a:rPr>
              <a:t>Mathematical foundations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4"/>
          <p:cNvSpPr/>
          <p:nvPr/>
        </p:nvSpPr>
        <p:spPr>
          <a:xfrm>
            <a:off x="4927320" y="3858840"/>
            <a:ext cx="6654240" cy="31320"/>
          </a:xfrm>
          <a:prstGeom prst="roundRect">
            <a:avLst>
              <a:gd name="adj" fmla="val 49998"/>
            </a:avLst>
          </a:prstGeom>
          <a:solidFill>
            <a:srgbClr val="4A5B7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2320" rIns="90000" bIns="-2232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7" name="Text 5"/>
          <p:cNvSpPr/>
          <p:nvPr/>
        </p:nvSpPr>
        <p:spPr>
          <a:xfrm>
            <a:off x="4927320" y="4143240"/>
            <a:ext cx="6654240" cy="68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Point clouds and complexes · filtrations · birth, death and persistence · cubical complexes for images · stability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6"/>
          <p:cNvSpPr/>
          <p:nvPr/>
        </p:nvSpPr>
        <p:spPr>
          <a:xfrm>
            <a:off x="4464000" y="0"/>
            <a:ext cx="12240" cy="6857640"/>
          </a:xfrm>
          <a:prstGeom prst="rect">
            <a:avLst/>
          </a:prstGeom>
          <a:solidFill>
            <a:srgbClr val="D8D1C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itle"/>
          <p:cNvSpPr/>
          <p:nvPr/>
        </p:nvSpPr>
        <p:spPr>
          <a:xfrm>
            <a:off x="457200" y="457200"/>
            <a:ext cx="11277360" cy="61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3150" b="0" u="none" strike="noStrike">
                <a:solidFill>
                  <a:srgbClr val="1B2638"/>
                </a:solidFill>
                <a:effectLst/>
                <a:uFillTx/>
                <a:latin typeface="Newsreader Medium"/>
                <a:ea typeface="Newsreader Medium"/>
              </a:rPr>
              <a:t>Data representation and distance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itle-rule"/>
          <p:cNvSpPr/>
          <p:nvPr/>
        </p:nvSpPr>
        <p:spPr>
          <a:xfrm>
            <a:off x="457200" y="1162080"/>
            <a:ext cx="11277360" cy="23400"/>
          </a:xfrm>
          <a:prstGeom prst="rect">
            <a:avLst/>
          </a:prstGeom>
          <a:solidFill>
            <a:srgbClr val="4A5B7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1240" rIns="90000" bIns="-212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label-160"/>
          <p:cNvSpPr/>
          <p:nvPr/>
        </p:nvSpPr>
        <p:spPr>
          <a:xfrm>
            <a:off x="457200" y="1523880"/>
            <a:ext cx="2619000" cy="54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70" b="1" u="none" strike="noStrike">
                <a:solidFill>
                  <a:srgbClr val="4A5B70"/>
                </a:solidFill>
                <a:effectLst/>
                <a:uFillTx/>
                <a:latin typeface="Geist"/>
                <a:ea typeface="Geist"/>
              </a:rPr>
              <a:t>Observations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body-160"/>
          <p:cNvSpPr/>
          <p:nvPr/>
        </p:nvSpPr>
        <p:spPr>
          <a:xfrm>
            <a:off x="3305160" y="1523880"/>
            <a:ext cx="8334000" cy="81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70" b="0" u="none" strike="noStrike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Rows represent wafers, layout clips or time windows. Features or embeddings define their representation.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label-282"/>
          <p:cNvSpPr/>
          <p:nvPr/>
        </p:nvSpPr>
        <p:spPr>
          <a:xfrm>
            <a:off x="457200" y="2685960"/>
            <a:ext cx="2619000" cy="54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70" b="1" u="none" strike="noStrike">
                <a:solidFill>
                  <a:srgbClr val="4A5B70"/>
                </a:solidFill>
                <a:effectLst/>
                <a:uFillTx/>
                <a:latin typeface="Geist"/>
                <a:ea typeface="Geist"/>
              </a:rPr>
              <a:t>Distance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body-282"/>
          <p:cNvSpPr/>
          <p:nvPr/>
        </p:nvSpPr>
        <p:spPr>
          <a:xfrm>
            <a:off x="3305160" y="2685960"/>
            <a:ext cx="8334000" cy="81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70" b="0" u="none" strike="noStrike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Standardize relevant features, then choose a distance that reflects process similarity. The choice changes topology.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label-404"/>
          <p:cNvSpPr/>
          <p:nvPr/>
        </p:nvSpPr>
        <p:spPr>
          <a:xfrm>
            <a:off x="457200" y="3848040"/>
            <a:ext cx="2619000" cy="54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70" b="1" u="none" strike="noStrike">
                <a:solidFill>
                  <a:srgbClr val="4A5B70"/>
                </a:solidFill>
                <a:effectLst/>
                <a:uFillTx/>
                <a:latin typeface="Geist"/>
                <a:ea typeface="Geist"/>
              </a:rPr>
              <a:t>Construction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body-404"/>
          <p:cNvSpPr/>
          <p:nvPr/>
        </p:nvSpPr>
        <p:spPr>
          <a:xfrm>
            <a:off x="3305160" y="3848040"/>
            <a:ext cx="8334000" cy="81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70" b="0" u="none" strike="noStrike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Point clouds: Vietoris–Rips. Images: cubical complexes. Tables: Mapper graphs for exploration.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label-526"/>
          <p:cNvSpPr/>
          <p:nvPr/>
        </p:nvSpPr>
        <p:spPr>
          <a:xfrm>
            <a:off x="457200" y="5010120"/>
            <a:ext cx="2619000" cy="54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70" b="1" u="none" strike="noStrike">
                <a:solidFill>
                  <a:srgbClr val="4A5B70"/>
                </a:solidFill>
                <a:effectLst/>
                <a:uFillTx/>
                <a:latin typeface="Geist"/>
                <a:ea typeface="Geist"/>
              </a:rPr>
              <a:t>Scale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body-526"/>
          <p:cNvSpPr/>
          <p:nvPr/>
        </p:nvSpPr>
        <p:spPr>
          <a:xfrm>
            <a:off x="3305160" y="5010120"/>
            <a:ext cx="8334000" cy="81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70" b="0" u="none" strike="noStrike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A filtration varies a threshold ε. Persistent homology tracks features across the resulting nested complexes.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itle"/>
          <p:cNvSpPr/>
          <p:nvPr/>
        </p:nvSpPr>
        <p:spPr>
          <a:xfrm>
            <a:off x="457200" y="457200"/>
            <a:ext cx="11277360" cy="61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3150" b="0" u="none" strike="noStrike">
                <a:solidFill>
                  <a:srgbClr val="1B2638"/>
                </a:solidFill>
                <a:effectLst/>
                <a:uFillTx/>
                <a:latin typeface="Newsreader Medium"/>
                <a:ea typeface="Newsreader Medium"/>
              </a:rPr>
              <a:t>Complexes and homology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itle-rule"/>
          <p:cNvSpPr/>
          <p:nvPr/>
        </p:nvSpPr>
        <p:spPr>
          <a:xfrm>
            <a:off x="457200" y="1162080"/>
            <a:ext cx="11277360" cy="23400"/>
          </a:xfrm>
          <a:prstGeom prst="rect">
            <a:avLst/>
          </a:prstGeom>
          <a:solidFill>
            <a:srgbClr val="4A5B7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1240" rIns="90000" bIns="-212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label-160"/>
          <p:cNvSpPr/>
          <p:nvPr/>
        </p:nvSpPr>
        <p:spPr>
          <a:xfrm>
            <a:off x="457200" y="1523880"/>
            <a:ext cx="2619000" cy="54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70" b="1" u="none" strike="noStrike">
                <a:solidFill>
                  <a:srgbClr val="4A5B70"/>
                </a:solidFill>
                <a:effectLst/>
                <a:uFillTx/>
                <a:latin typeface="Geist"/>
                <a:ea typeface="Geist"/>
              </a:rPr>
              <a:t>Building blocks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body-160"/>
          <p:cNvSpPr/>
          <p:nvPr/>
        </p:nvSpPr>
        <p:spPr>
          <a:xfrm>
            <a:off x="3305160" y="1523880"/>
            <a:ext cx="8334000" cy="81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70" b="0" u="none" strike="noStrike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A vertex is a point. Edges join pairs. Filled triangles and tetrahedra represent higher-order connections.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label-282"/>
          <p:cNvSpPr/>
          <p:nvPr/>
        </p:nvSpPr>
        <p:spPr>
          <a:xfrm>
            <a:off x="457200" y="2685960"/>
            <a:ext cx="2619000" cy="54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70" b="1" u="none" strike="noStrike">
                <a:solidFill>
                  <a:srgbClr val="4A5B70"/>
                </a:solidFill>
                <a:effectLst/>
                <a:uFillTx/>
                <a:latin typeface="Geist"/>
                <a:ea typeface="Geist"/>
              </a:rPr>
              <a:t>Vietoris–Rips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body-282"/>
          <p:cNvSpPr/>
          <p:nvPr/>
        </p:nvSpPr>
        <p:spPr>
          <a:xfrm>
            <a:off x="3305160" y="2685960"/>
            <a:ext cx="8334000" cy="81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70" b="0" u="none" strike="noStrike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Include a simplex when every pair of its vertices has distance ≤ ε. Increasing ε produces nested complexes.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label-404"/>
          <p:cNvSpPr/>
          <p:nvPr/>
        </p:nvSpPr>
        <p:spPr>
          <a:xfrm>
            <a:off x="457200" y="3848040"/>
            <a:ext cx="2619000" cy="54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70" b="1" u="none" strike="noStrike">
                <a:solidFill>
                  <a:srgbClr val="4A5B70"/>
                </a:solidFill>
                <a:effectLst/>
                <a:uFillTx/>
                <a:latin typeface="Geist"/>
                <a:ea typeface="Geist"/>
              </a:rPr>
              <a:t>H0, H1, H2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body-404"/>
          <p:cNvSpPr/>
          <p:nvPr/>
        </p:nvSpPr>
        <p:spPr>
          <a:xfrm>
            <a:off x="3305160" y="3848040"/>
            <a:ext cx="8334000" cy="81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70" b="0" u="none" strike="noStrike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H0 tracks connected components. H1 tracks unfilled loops. H2 tracks enclosed cavities.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label-526"/>
          <p:cNvSpPr/>
          <p:nvPr/>
        </p:nvSpPr>
        <p:spPr>
          <a:xfrm>
            <a:off x="457200" y="5010120"/>
            <a:ext cx="2619000" cy="54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70" b="1" u="none" strike="noStrike">
                <a:solidFill>
                  <a:srgbClr val="4A5B70"/>
                </a:solidFill>
                <a:effectLst/>
                <a:uFillTx/>
                <a:latin typeface="Geist"/>
                <a:ea typeface="Geist"/>
              </a:rPr>
              <a:t>Betti numbers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body-526"/>
          <p:cNvSpPr/>
          <p:nvPr/>
        </p:nvSpPr>
        <p:spPr>
          <a:xfrm>
            <a:off x="3305160" y="5010120"/>
            <a:ext cx="8334000" cy="81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70" b="0" u="none" strike="noStrike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βk counts independent features in dimension k at a chosen scale. Persistence records how those features change.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 0"/>
          <p:cNvSpPr/>
          <p:nvPr/>
        </p:nvSpPr>
        <p:spPr>
          <a:xfrm>
            <a:off x="457200" y="457200"/>
            <a:ext cx="11277000" cy="43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92000"/>
              </a:lnSpc>
              <a:tabLst>
                <a:tab pos="0" algn="l"/>
              </a:tabLst>
            </a:pPr>
            <a:r>
              <a:rPr lang="en-US" sz="3100" b="0" u="none" strike="noStrike" spc="-31">
                <a:solidFill>
                  <a:srgbClr val="1B2638"/>
                </a:solidFill>
                <a:effectLst/>
                <a:uFillTx/>
                <a:latin typeface="Newsreader Medium"/>
                <a:ea typeface="Newsreader Medium"/>
              </a:rPr>
              <a:t>Grow ε and watch the complex build up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1"/>
          <p:cNvSpPr/>
          <p:nvPr/>
        </p:nvSpPr>
        <p:spPr>
          <a:xfrm>
            <a:off x="457200" y="1164960"/>
            <a:ext cx="11277000" cy="31320"/>
          </a:xfrm>
          <a:prstGeom prst="roundRect">
            <a:avLst>
              <a:gd name="adj" fmla="val 49998"/>
            </a:avLst>
          </a:prstGeom>
          <a:solidFill>
            <a:srgbClr val="4A5B7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2320" rIns="90000" bIns="-2232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1" name="Text 2"/>
          <p:cNvSpPr/>
          <p:nvPr/>
        </p:nvSpPr>
        <p:spPr>
          <a:xfrm>
            <a:off x="457200" y="1449000"/>
            <a:ext cx="6131160" cy="155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marL="325080" indent="-325080" defTabSz="914400">
              <a:lnSpc>
                <a:spcPct val="118000"/>
              </a:lnSpc>
              <a:buClr>
                <a:srgbClr val="2B3139"/>
              </a:buClr>
              <a:buFont typeface="Symbol" charset="2"/>
              <a:buChar char=""/>
            </a:pPr>
            <a:r>
              <a:rPr lang="en-US" sz="1600" b="1" u="none" strike="noStrike">
                <a:solidFill>
                  <a:srgbClr val="2B3139"/>
                </a:solidFill>
                <a:effectLst/>
                <a:uFillTx/>
                <a:latin typeface="Geist Bold"/>
                <a:ea typeface="Geist Bold"/>
              </a:rPr>
              <a:t>Nested:</a:t>
            </a:r>
            <a:r>
              <a:rPr lang="en-US" sz="1600" b="0" u="none" strike="noStrike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 every complex contains the previous one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5080" indent="-325080" defTabSz="914400">
              <a:lnSpc>
                <a:spcPct val="118000"/>
              </a:lnSpc>
              <a:buClr>
                <a:srgbClr val="2B3139"/>
              </a:buClr>
              <a:buFont typeface="Symbol" charset="2"/>
              <a:buChar char=""/>
            </a:pPr>
            <a:r>
              <a:rPr lang="en-US" sz="1600" b="1" u="none" strike="noStrike">
                <a:solidFill>
                  <a:srgbClr val="2B3139"/>
                </a:solidFill>
                <a:effectLst/>
                <a:uFillTx/>
                <a:latin typeface="Geist Bold"/>
                <a:ea typeface="Geist Bold"/>
              </a:rPr>
              <a:t>Computed, not drawn:</a:t>
            </a:r>
            <a:r>
              <a:rPr lang="en-US" sz="1600" b="0" u="none" strike="noStrike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 for these 14 points, ripser reports one loop born at ε ≈ 0.67 that dies at ε ≈ 1.74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5080" indent="-325080" defTabSz="914400">
              <a:lnSpc>
                <a:spcPct val="118000"/>
              </a:lnSpc>
              <a:buClr>
                <a:srgbClr val="2B3139"/>
              </a:buClr>
              <a:buFont typeface="Symbol" charset="2"/>
              <a:buChar char=""/>
            </a:pPr>
            <a:r>
              <a:rPr lang="en-US" sz="1600" b="1" u="none" strike="noStrike">
                <a:solidFill>
                  <a:srgbClr val="2B3139"/>
                </a:solidFill>
                <a:effectLst/>
                <a:uFillTx/>
                <a:latin typeface="Geist Bold"/>
                <a:ea typeface="Geist Bold"/>
              </a:rPr>
              <a:t>One pass, all scales:</a:t>
            </a:r>
            <a:r>
              <a:rPr lang="en-US" sz="1600" b="0" u="none" strike="noStrike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 every birth and death recorded in a single sweep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3"/>
          <p:cNvSpPr/>
          <p:nvPr/>
        </p:nvSpPr>
        <p:spPr>
          <a:xfrm>
            <a:off x="7045560" y="1449000"/>
            <a:ext cx="4688640" cy="49514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1C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33" name="Image 0" descr="preencoded.png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7179120" y="1582200"/>
            <a:ext cx="4421880" cy="4684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4" name="Picture 9"/>
          <p:cNvPicPr/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1946520" y="2928600"/>
            <a:ext cx="2948400" cy="2948400"/>
          </a:xfrm>
          <a:prstGeom prst="rect">
            <a:avLst/>
          </a:prstGeom>
          <a:noFill/>
          <a:ln w="0">
            <a:solidFill>
              <a:srgbClr val="FFFFFF">
                <a:lumMod val="85000"/>
              </a:srgbClr>
            </a:solidFill>
          </a:ln>
        </p:spPr>
      </p:pic>
      <p:sp>
        <p:nvSpPr>
          <p:cNvPr id="135" name="TextBox 11"/>
          <p:cNvSpPr/>
          <p:nvPr/>
        </p:nvSpPr>
        <p:spPr>
          <a:xfrm>
            <a:off x="166320" y="6399360"/>
            <a:ext cx="9669960" cy="268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150" b="0" u="none" strike="noStrike">
                <a:solidFill>
                  <a:srgbClr val="5B6676"/>
                </a:solidFill>
                <a:effectLst/>
                <a:uFillTx/>
                <a:latin typeface="Geist"/>
                <a:ea typeface="Geist"/>
              </a:rPr>
              <a:t>Vietoris-Rips algorithm animation: https://towardsdatascience.com/the-shape-that-survives-the-noise-f0a2a89018c6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itle"/>
          <p:cNvSpPr/>
          <p:nvPr/>
        </p:nvSpPr>
        <p:spPr>
          <a:xfrm>
            <a:off x="457200" y="457200"/>
            <a:ext cx="11277360" cy="61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3150" b="0" u="none" strike="noStrike">
                <a:solidFill>
                  <a:srgbClr val="1B2638"/>
                </a:solidFill>
                <a:effectLst/>
                <a:uFillTx/>
                <a:latin typeface="Newsreader Medium"/>
                <a:ea typeface="Newsreader Medium"/>
              </a:rPr>
              <a:t>Birth, death and persistence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itle-rule"/>
          <p:cNvSpPr/>
          <p:nvPr/>
        </p:nvSpPr>
        <p:spPr>
          <a:xfrm>
            <a:off x="457200" y="1162080"/>
            <a:ext cx="11277360" cy="23400"/>
          </a:xfrm>
          <a:prstGeom prst="rect">
            <a:avLst/>
          </a:prstGeom>
          <a:solidFill>
            <a:srgbClr val="4A5B7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1240" rIns="90000" bIns="-212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equation"/>
          <p:cNvSpPr/>
          <p:nvPr/>
        </p:nvSpPr>
        <p:spPr>
          <a:xfrm>
            <a:off x="457200" y="1476360"/>
            <a:ext cx="11277360" cy="62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2850" b="0" u="none" strike="noStrike">
                <a:solidFill>
                  <a:srgbClr val="1B2638"/>
                </a:solidFill>
                <a:effectLst/>
                <a:uFillTx/>
                <a:latin typeface="Newsreader Medium"/>
                <a:ea typeface="Newsreader Medium"/>
              </a:rPr>
              <a:t>Persistence = death − birth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label-272"/>
          <p:cNvSpPr/>
          <p:nvPr/>
        </p:nvSpPr>
        <p:spPr>
          <a:xfrm>
            <a:off x="457200" y="2590920"/>
            <a:ext cx="2619000" cy="54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70" b="1" u="none" strike="noStrike">
                <a:solidFill>
                  <a:srgbClr val="4A5B70"/>
                </a:solidFill>
                <a:effectLst/>
                <a:uFillTx/>
                <a:latin typeface="Geist"/>
                <a:ea typeface="Geist"/>
              </a:rPr>
              <a:t>Birth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body-272"/>
          <p:cNvSpPr/>
          <p:nvPr/>
        </p:nvSpPr>
        <p:spPr>
          <a:xfrm>
            <a:off x="3305160" y="2590920"/>
            <a:ext cx="8334000" cy="81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70" b="0" u="none" strike="noStrike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The threshold at which a new component, loop or cavity appears.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label-374"/>
          <p:cNvSpPr/>
          <p:nvPr/>
        </p:nvSpPr>
        <p:spPr>
          <a:xfrm>
            <a:off x="457200" y="3562200"/>
            <a:ext cx="2619000" cy="54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70" b="1" u="none" strike="noStrike">
                <a:solidFill>
                  <a:srgbClr val="4A5B70"/>
                </a:solidFill>
                <a:effectLst/>
                <a:uFillTx/>
                <a:latin typeface="Geist"/>
                <a:ea typeface="Geist"/>
              </a:rPr>
              <a:t>Death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body-374"/>
          <p:cNvSpPr/>
          <p:nvPr/>
        </p:nvSpPr>
        <p:spPr>
          <a:xfrm>
            <a:off x="3305160" y="3562200"/>
            <a:ext cx="8334000" cy="81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70" b="0" u="none" strike="noStrike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A component merges into an older one, or a loop or cavity fills. Some features never die within the filtration.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label-482"/>
          <p:cNvSpPr/>
          <p:nvPr/>
        </p:nvSpPr>
        <p:spPr>
          <a:xfrm>
            <a:off x="457200" y="4591080"/>
            <a:ext cx="2619000" cy="54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70" b="1" u="none" strike="noStrike">
                <a:solidFill>
                  <a:srgbClr val="4A5B70"/>
                </a:solidFill>
                <a:effectLst/>
                <a:uFillTx/>
                <a:latin typeface="Geist"/>
                <a:ea typeface="Geist"/>
              </a:rPr>
              <a:t>Example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body-482"/>
          <p:cNvSpPr/>
          <p:nvPr/>
        </p:nvSpPr>
        <p:spPr>
          <a:xfrm>
            <a:off x="3305160" y="4591080"/>
            <a:ext cx="8334000" cy="81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70" b="0" u="none" strike="noStrike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For the 14-point ring: birth ≈ 0.67, death ≈ 1.74, persistence ≈ 1.07.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caveat"/>
          <p:cNvSpPr/>
          <p:nvPr/>
        </p:nvSpPr>
        <p:spPr>
          <a:xfrm>
            <a:off x="457200" y="5924520"/>
            <a:ext cx="1127736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729" b="1" u="none" strike="noStrike">
                <a:solidFill>
                  <a:srgbClr val="4A5B70"/>
                </a:solidFill>
                <a:effectLst/>
                <a:uFillTx/>
                <a:latin typeface="Geist"/>
                <a:ea typeface="Geist"/>
              </a:rPr>
              <a:t>Long persistence indicates survival across scales. Statistical significance requires a separate test.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 0"/>
          <p:cNvSpPr/>
          <p:nvPr/>
        </p:nvSpPr>
        <p:spPr>
          <a:xfrm>
            <a:off x="457200" y="457200"/>
            <a:ext cx="11277000" cy="43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92000"/>
              </a:lnSpc>
              <a:tabLst>
                <a:tab pos="0" algn="l"/>
              </a:tabLst>
            </a:pPr>
            <a:r>
              <a:rPr lang="en-US" sz="3100" b="0" u="none" strike="noStrike" spc="-31">
                <a:solidFill>
                  <a:srgbClr val="1B2638"/>
                </a:solidFill>
                <a:effectLst/>
                <a:uFillTx/>
                <a:latin typeface="Newsreader Medium"/>
                <a:ea typeface="Newsreader Medium"/>
              </a:rPr>
              <a:t>Two equivalent pictures of the same information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1"/>
          <p:cNvSpPr/>
          <p:nvPr/>
        </p:nvSpPr>
        <p:spPr>
          <a:xfrm>
            <a:off x="457200" y="1164960"/>
            <a:ext cx="11277000" cy="31320"/>
          </a:xfrm>
          <a:prstGeom prst="roundRect">
            <a:avLst>
              <a:gd name="adj" fmla="val 49998"/>
            </a:avLst>
          </a:prstGeom>
          <a:solidFill>
            <a:srgbClr val="4A5B7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2320" rIns="90000" bIns="-2232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8" name="Text 2"/>
          <p:cNvSpPr/>
          <p:nvPr/>
        </p:nvSpPr>
        <p:spPr>
          <a:xfrm>
            <a:off x="924120" y="5693040"/>
            <a:ext cx="8968680" cy="979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marL="325080" indent="-325080" defTabSz="914400">
              <a:lnSpc>
                <a:spcPct val="118000"/>
              </a:lnSpc>
              <a:buClr>
                <a:srgbClr val="2B3139"/>
              </a:buClr>
              <a:buFont typeface="Symbol" charset="2"/>
              <a:buChar char=""/>
            </a:pPr>
            <a:r>
              <a:rPr lang="en-US" sz="1600" b="1" u="none" strike="noStrike">
                <a:solidFill>
                  <a:srgbClr val="2B3139"/>
                </a:solidFill>
                <a:effectLst/>
                <a:uFillTx/>
                <a:latin typeface="Geist Bold"/>
                <a:ea typeface="Geist Bold"/>
              </a:rPr>
              <a:t>Barcode:</a:t>
            </a:r>
            <a:r>
              <a:rPr lang="en-US" sz="1600" b="0" u="none" strike="noStrike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 one bar per feature, [birth, death)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5080" indent="-325080" defTabSz="914400">
              <a:lnSpc>
                <a:spcPct val="118000"/>
              </a:lnSpc>
              <a:buClr>
                <a:srgbClr val="2B3139"/>
              </a:buClr>
              <a:buFont typeface="Symbol" charset="2"/>
              <a:buChar char=""/>
            </a:pPr>
            <a:r>
              <a:rPr lang="en-US" sz="1600" b="1" u="none" strike="noStrike">
                <a:solidFill>
                  <a:srgbClr val="2B3139"/>
                </a:solidFill>
                <a:effectLst/>
                <a:uFillTx/>
                <a:latin typeface="Geist Bold"/>
                <a:ea typeface="Geist Bold"/>
              </a:rPr>
              <a:t>Diagram:</a:t>
            </a:r>
            <a:r>
              <a:rPr lang="en-US" sz="1600" b="0" u="none" strike="noStrike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 one point per feature, (birth, death)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5080" indent="-325080" defTabSz="914400">
              <a:lnSpc>
                <a:spcPct val="118000"/>
              </a:lnSpc>
              <a:buClr>
                <a:srgbClr val="2B3139"/>
              </a:buClr>
              <a:buFont typeface="Symbol" charset="2"/>
              <a:buChar char=""/>
            </a:pPr>
            <a:r>
              <a:rPr lang="en-US" sz="1600" b="1" u="none" strike="noStrike">
                <a:solidFill>
                  <a:srgbClr val="2B3139"/>
                </a:solidFill>
                <a:effectLst/>
                <a:uFillTx/>
                <a:latin typeface="Geist Bold"/>
                <a:ea typeface="Geist Bold"/>
              </a:rPr>
              <a:t>This run:</a:t>
            </a:r>
            <a:r>
              <a:rPr lang="en-US" sz="1600" b="0" u="none" strike="noStrike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 longest H1 bar 1.19; next longest 0.06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9" name="Image 0" descr="preencoded.png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4120" y="1285560"/>
            <a:ext cx="9795240" cy="44071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itle"/>
          <p:cNvSpPr/>
          <p:nvPr/>
        </p:nvSpPr>
        <p:spPr>
          <a:xfrm>
            <a:off x="457200" y="457200"/>
            <a:ext cx="11277360" cy="61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3150" b="0" u="none" strike="noStrike">
                <a:solidFill>
                  <a:srgbClr val="1B2638"/>
                </a:solidFill>
                <a:effectLst/>
                <a:uFillTx/>
                <a:latin typeface="Newsreader Medium"/>
                <a:ea typeface="Newsreader Medium"/>
              </a:rPr>
              <a:t>Conditions for a trustworthy topological signal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itle-rule"/>
          <p:cNvSpPr/>
          <p:nvPr/>
        </p:nvSpPr>
        <p:spPr>
          <a:xfrm>
            <a:off x="457200" y="1162080"/>
            <a:ext cx="11277360" cy="23400"/>
          </a:xfrm>
          <a:prstGeom prst="rect">
            <a:avLst/>
          </a:prstGeom>
          <a:solidFill>
            <a:srgbClr val="4A5B7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1240" rIns="90000" bIns="-212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label-160"/>
          <p:cNvSpPr/>
          <p:nvPr/>
        </p:nvSpPr>
        <p:spPr>
          <a:xfrm>
            <a:off x="457200" y="1523880"/>
            <a:ext cx="2619000" cy="54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70" b="1" u="none" strike="noStrike">
                <a:solidFill>
                  <a:srgbClr val="4A5B70"/>
                </a:solidFill>
                <a:effectLst/>
                <a:uFillTx/>
                <a:latin typeface="Geist"/>
                <a:ea typeface="Geist"/>
              </a:rPr>
              <a:t>Stability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body-160"/>
          <p:cNvSpPr/>
          <p:nvPr/>
        </p:nvSpPr>
        <p:spPr>
          <a:xfrm>
            <a:off x="3305160" y="1523880"/>
            <a:ext cx="8334000" cy="81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70" b="0" u="none" strike="noStrike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For sublevel-set persistence, small uniform changes in the function bound changes in the persistence diagram.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label-282"/>
          <p:cNvSpPr/>
          <p:nvPr/>
        </p:nvSpPr>
        <p:spPr>
          <a:xfrm>
            <a:off x="457200" y="2685960"/>
            <a:ext cx="2619000" cy="54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70" b="1" u="none" strike="noStrike">
                <a:solidFill>
                  <a:srgbClr val="4A5B70"/>
                </a:solidFill>
                <a:effectLst/>
                <a:uFillTx/>
                <a:latin typeface="Geist"/>
                <a:ea typeface="Geist"/>
              </a:rPr>
              <a:t>Model sensitivity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body-282"/>
          <p:cNvSpPr/>
          <p:nvPr/>
        </p:nvSpPr>
        <p:spPr>
          <a:xfrm>
            <a:off x="3305160" y="2685960"/>
            <a:ext cx="8334000" cy="81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70" b="0" u="none" strike="noStrike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Repeat with sensible scaling, metrics and subsamples. Density gaps, outliers and embeddings can distort structure.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label-404"/>
          <p:cNvSpPr/>
          <p:nvPr/>
        </p:nvSpPr>
        <p:spPr>
          <a:xfrm>
            <a:off x="457200" y="3848040"/>
            <a:ext cx="2619000" cy="54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70" b="1" u="none" strike="noStrike">
                <a:solidFill>
                  <a:srgbClr val="4A5B70"/>
                </a:solidFill>
                <a:effectLst/>
                <a:uFillTx/>
                <a:latin typeface="Geist"/>
                <a:ea typeface="Geist"/>
              </a:rPr>
              <a:t>Statistical evidence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body-404"/>
          <p:cNvSpPr/>
          <p:nvPr/>
        </p:nvSpPr>
        <p:spPr>
          <a:xfrm>
            <a:off x="3305160" y="3848040"/>
            <a:ext cx="8334000" cy="81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70" b="0" u="none" strike="noStrike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Compare persistence with an appropriate null model. Calibrate thresholds on held-out normal data and monitor false alarms.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label-526"/>
          <p:cNvSpPr/>
          <p:nvPr/>
        </p:nvSpPr>
        <p:spPr>
          <a:xfrm>
            <a:off x="457200" y="5010120"/>
            <a:ext cx="2619000" cy="54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70" b="1" u="none" strike="noStrike">
                <a:solidFill>
                  <a:srgbClr val="4A5B70"/>
                </a:solidFill>
                <a:effectLst/>
                <a:uFillTx/>
                <a:latin typeface="Geist"/>
                <a:ea typeface="Geist"/>
              </a:rPr>
              <a:t>Physical meaning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body-526"/>
          <p:cNvSpPr/>
          <p:nvPr/>
        </p:nvSpPr>
        <p:spPr>
          <a:xfrm>
            <a:off x="3305160" y="5010120"/>
            <a:ext cx="8334000" cy="81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70" b="0" u="none" strike="noStrike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Connect features to wafer locations or process history. Topological similarity supplies a hypothesis for engineering validation.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Text 0"/>
          <p:cNvSpPr/>
          <p:nvPr/>
        </p:nvSpPr>
        <p:spPr>
          <a:xfrm>
            <a:off x="609480" y="5236560"/>
            <a:ext cx="34538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88000"/>
              </a:lnSpc>
              <a:tabLst>
                <a:tab pos="0" algn="l"/>
              </a:tabLst>
            </a:pPr>
            <a:r>
              <a:rPr lang="en-US" sz="4800" b="0" u="none" strike="noStrike" spc="-96">
                <a:solidFill>
                  <a:srgbClr val="4A5B70"/>
                </a:solidFill>
                <a:effectLst/>
                <a:uFillTx/>
                <a:latin typeface="Newsreader Medium"/>
                <a:ea typeface="Newsreader Medium"/>
              </a:rPr>
              <a:t>3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2"/>
          <p:cNvSpPr/>
          <p:nvPr/>
        </p:nvSpPr>
        <p:spPr>
          <a:xfrm>
            <a:off x="4927320" y="1860120"/>
            <a:ext cx="7263720" cy="18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 spc="91">
                <a:solidFill>
                  <a:srgbClr val="4A5B70"/>
                </a:solidFill>
                <a:effectLst/>
                <a:uFillTx/>
                <a:latin typeface="Geist SemiBold"/>
                <a:ea typeface="Geist SemiBold"/>
              </a:rPr>
              <a:t>PART 3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3"/>
          <p:cNvSpPr/>
          <p:nvPr/>
        </p:nvSpPr>
        <p:spPr>
          <a:xfrm>
            <a:off x="4927320" y="2133000"/>
            <a:ext cx="665424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lnSpcReduction="10000"/>
          </a:bodyPr>
          <a:lstStyle/>
          <a:p>
            <a:pPr defTabSz="914400">
              <a:lnSpc>
                <a:spcPct val="88000"/>
              </a:lnSpc>
              <a:tabLst>
                <a:tab pos="0" algn="l"/>
              </a:tabLst>
            </a:pPr>
            <a:r>
              <a:rPr lang="en-US" sz="4800" b="0" u="none" strike="noStrike" spc="-71">
                <a:solidFill>
                  <a:srgbClr val="1B2638"/>
                </a:solidFill>
                <a:effectLst/>
                <a:uFillTx/>
                <a:latin typeface="Newsreader Medium"/>
                <a:ea typeface="Newsreader Medium"/>
              </a:rPr>
              <a:t>The Deep TDA (DTDA) framework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4"/>
          <p:cNvSpPr/>
          <p:nvPr/>
        </p:nvSpPr>
        <p:spPr>
          <a:xfrm>
            <a:off x="4927320" y="3687840"/>
            <a:ext cx="6654240" cy="31320"/>
          </a:xfrm>
          <a:prstGeom prst="roundRect">
            <a:avLst>
              <a:gd name="adj" fmla="val 49998"/>
            </a:avLst>
          </a:prstGeom>
          <a:solidFill>
            <a:srgbClr val="4A5B7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2320" rIns="90000" bIns="-2232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4" name="Text 5"/>
          <p:cNvSpPr/>
          <p:nvPr/>
        </p:nvSpPr>
        <p:spPr>
          <a:xfrm>
            <a:off x="4927320" y="3971880"/>
            <a:ext cx="6654240" cy="102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Persistent homology + deep learning + statistical inference · vectorisation · learned topological layers · Mapper for exploration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6"/>
          <p:cNvSpPr/>
          <p:nvPr/>
        </p:nvSpPr>
        <p:spPr>
          <a:xfrm>
            <a:off x="4464000" y="0"/>
            <a:ext cx="12240" cy="6857640"/>
          </a:xfrm>
          <a:prstGeom prst="rect">
            <a:avLst/>
          </a:prstGeom>
          <a:solidFill>
            <a:srgbClr val="D8D1C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ext 0"/>
          <p:cNvSpPr/>
          <p:nvPr/>
        </p:nvSpPr>
        <p:spPr>
          <a:xfrm>
            <a:off x="457200" y="457200"/>
            <a:ext cx="11277000" cy="43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92000"/>
              </a:lnSpc>
              <a:tabLst>
                <a:tab pos="0" algn="l"/>
              </a:tabLst>
            </a:pPr>
            <a:r>
              <a:rPr lang="en-US" sz="3100" b="0" u="none" strike="noStrike" spc="-31">
                <a:solidFill>
                  <a:srgbClr val="1B2638"/>
                </a:solidFill>
                <a:effectLst/>
                <a:uFillTx/>
                <a:latin typeface="Newsreader Medium"/>
                <a:ea typeface="Newsreader Medium"/>
              </a:rPr>
              <a:t>A hybrid pipeline: topology, deep learning and inference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1"/>
          <p:cNvSpPr/>
          <p:nvPr/>
        </p:nvSpPr>
        <p:spPr>
          <a:xfrm>
            <a:off x="457200" y="1164960"/>
            <a:ext cx="11277000" cy="31320"/>
          </a:xfrm>
          <a:prstGeom prst="roundRect">
            <a:avLst>
              <a:gd name="adj" fmla="val 49998"/>
            </a:avLst>
          </a:prstGeom>
          <a:solidFill>
            <a:srgbClr val="4A5B7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2320" rIns="90000" bIns="-2232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8" name="Text 2"/>
          <p:cNvSpPr/>
          <p:nvPr/>
        </p:nvSpPr>
        <p:spPr>
          <a:xfrm>
            <a:off x="457200" y="1292760"/>
            <a:ext cx="11277000" cy="167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marL="325080" indent="-325080" defTabSz="914400">
              <a:lnSpc>
                <a:spcPct val="118000"/>
              </a:lnSpc>
              <a:buClr>
                <a:srgbClr val="2B3139"/>
              </a:buClr>
              <a:buFont typeface="Calibri Light"/>
              <a:buAutoNum type="arabicPeriod"/>
            </a:pPr>
            <a:r>
              <a:rPr lang="en-US" sz="1600" b="1" u="none" strike="noStrike">
                <a:solidFill>
                  <a:srgbClr val="2B3139"/>
                </a:solidFill>
                <a:effectLst/>
                <a:uFillTx/>
                <a:latin typeface="Geist Bold"/>
                <a:ea typeface="Geist Bold"/>
              </a:rPr>
              <a:t>IC data:</a:t>
            </a:r>
            <a:r>
              <a:rPr lang="en-US" sz="1600" b="0" u="none" strike="noStrike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 wafer maps, SEM, layout clips, sensor traces, test tables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5080" indent="-325080" defTabSz="914400">
              <a:lnSpc>
                <a:spcPct val="118000"/>
              </a:lnSpc>
              <a:buClr>
                <a:srgbClr val="2B3139"/>
              </a:buClr>
              <a:buFont typeface="Calibri Light"/>
              <a:buAutoNum type="arabicPeriod" startAt="2"/>
            </a:pPr>
            <a:r>
              <a:rPr lang="en-US" sz="1600" b="1" u="none" strike="noStrike">
                <a:solidFill>
                  <a:srgbClr val="2B3139"/>
                </a:solidFill>
                <a:effectLst/>
                <a:uFillTx/>
                <a:latin typeface="Geist Bold"/>
                <a:ea typeface="Geist Bold"/>
              </a:rPr>
              <a:t>Topological encoding:</a:t>
            </a:r>
            <a:r>
              <a:rPr lang="en-US" sz="1600" b="0" u="none" strike="noStrike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 Rips (point clouds) · cubical (images) · Mapper (tables)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5080" indent="-325080" defTabSz="914400">
              <a:lnSpc>
                <a:spcPct val="118000"/>
              </a:lnSpc>
              <a:buClr>
                <a:srgbClr val="2B3139"/>
              </a:buClr>
              <a:buFont typeface="Calibri Light"/>
              <a:buAutoNum type="arabicPeriod" startAt="3"/>
            </a:pPr>
            <a:r>
              <a:rPr lang="en-US" sz="1600" b="1" u="none" strike="noStrike">
                <a:solidFill>
                  <a:srgbClr val="2B3139"/>
                </a:solidFill>
                <a:effectLst/>
                <a:uFillTx/>
                <a:latin typeface="Geist Bold"/>
                <a:ea typeface="Geist Bold"/>
              </a:rPr>
              <a:t>Vectorise:</a:t>
            </a:r>
            <a:r>
              <a:rPr lang="en-US" sz="1600" b="0" u="none" strike="noStrike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 statistics · landscapes · persistence images · learned layers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5080" indent="-325080" defTabSz="914400">
              <a:lnSpc>
                <a:spcPct val="118000"/>
              </a:lnSpc>
              <a:buClr>
                <a:srgbClr val="2B3139"/>
              </a:buClr>
              <a:buFont typeface="Calibri Light"/>
              <a:buAutoNum type="arabicPeriod" startAt="4"/>
            </a:pPr>
            <a:r>
              <a:rPr lang="en-US" sz="1600" b="1" u="none" strike="noStrike">
                <a:solidFill>
                  <a:srgbClr val="2B3139"/>
                </a:solidFill>
                <a:effectLst/>
                <a:uFillTx/>
                <a:latin typeface="Geist Bold"/>
                <a:ea typeface="Geist Bold"/>
              </a:rPr>
              <a:t>Deep learning:</a:t>
            </a:r>
            <a:r>
              <a:rPr lang="en-US" sz="1600" b="0" u="none" strike="noStrike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 fuse with CNN / self-supervised embeddings; transfer learning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5080" indent="-325080" defTabSz="914400">
              <a:lnSpc>
                <a:spcPct val="118000"/>
              </a:lnSpc>
              <a:buClr>
                <a:srgbClr val="2B3139"/>
              </a:buClr>
              <a:buFont typeface="Calibri Light"/>
              <a:buAutoNum type="arabicPeriod" startAt="5"/>
            </a:pPr>
            <a:r>
              <a:rPr lang="en-US" sz="1600" b="1" u="none" strike="noStrike">
                <a:solidFill>
                  <a:srgbClr val="2B3139"/>
                </a:solidFill>
                <a:effectLst/>
                <a:uFillTx/>
                <a:latin typeface="Geist Bold"/>
                <a:ea typeface="Geist Bold"/>
              </a:rPr>
              <a:t>Inference:</a:t>
            </a:r>
            <a:r>
              <a:rPr lang="en-US" sz="1600" b="0" u="none" strike="noStrike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 calibrated thresholds, confidence sets, false-alarm control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3"/>
          <p:cNvSpPr/>
          <p:nvPr/>
        </p:nvSpPr>
        <p:spPr>
          <a:xfrm>
            <a:off x="511920" y="6183720"/>
            <a:ext cx="11277000" cy="57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Engineering loop: root-cause analysis · excursion and drift alerts · defect-pattern triage · hotspot review · feedback to process and design. Giri &amp; Lengyel (2023); Giri, Lengyel, Kent &amp; Kibardin (2025, arXiv:2505.03848).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0" name="Picture 6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2086560" y="2805120"/>
            <a:ext cx="5728320" cy="32220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xt 0"/>
          <p:cNvSpPr/>
          <p:nvPr/>
        </p:nvSpPr>
        <p:spPr>
          <a:xfrm>
            <a:off x="609480" y="5076360"/>
            <a:ext cx="3453840" cy="79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88000"/>
              </a:lnSpc>
              <a:tabLst>
                <a:tab pos="0" algn="l"/>
              </a:tabLst>
            </a:pPr>
            <a:r>
              <a:rPr lang="en-US" sz="6000" b="0" u="none" strike="noStrike" spc="-119">
                <a:solidFill>
                  <a:srgbClr val="4A5B70"/>
                </a:solidFill>
                <a:effectLst/>
                <a:uFillTx/>
                <a:latin typeface="Newsreader Medium"/>
                <a:ea typeface="Newsreader Medium"/>
              </a:rPr>
              <a:t>4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2"/>
          <p:cNvSpPr/>
          <p:nvPr/>
        </p:nvSpPr>
        <p:spPr>
          <a:xfrm>
            <a:off x="4927320" y="1860120"/>
            <a:ext cx="7263720" cy="18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 spc="91">
                <a:solidFill>
                  <a:srgbClr val="4A5B70"/>
                </a:solidFill>
                <a:effectLst/>
                <a:uFillTx/>
                <a:latin typeface="Geist SemiBold"/>
                <a:ea typeface="Geist SemiBold"/>
              </a:rPr>
              <a:t>PART 4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3"/>
          <p:cNvSpPr/>
          <p:nvPr/>
        </p:nvSpPr>
        <p:spPr>
          <a:xfrm>
            <a:off x="4927320" y="2133000"/>
            <a:ext cx="665424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lnSpcReduction="10000"/>
          </a:bodyPr>
          <a:lstStyle/>
          <a:p>
            <a:pPr defTabSz="914400">
              <a:lnSpc>
                <a:spcPct val="88000"/>
              </a:lnSpc>
              <a:tabLst>
                <a:tab pos="0" algn="l"/>
              </a:tabLst>
            </a:pPr>
            <a:r>
              <a:rPr lang="en-US" sz="4800" b="0" u="none" strike="noStrike" spc="-71">
                <a:solidFill>
                  <a:srgbClr val="1B2638"/>
                </a:solidFill>
                <a:effectLst/>
                <a:uFillTx/>
                <a:latin typeface="Newsreader Medium"/>
                <a:ea typeface="Newsreader Medium"/>
              </a:rPr>
              <a:t>Deployment patterns in IC data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4"/>
          <p:cNvSpPr/>
          <p:nvPr/>
        </p:nvSpPr>
        <p:spPr>
          <a:xfrm>
            <a:off x="4927320" y="3687840"/>
            <a:ext cx="6654240" cy="31320"/>
          </a:xfrm>
          <a:prstGeom prst="roundRect">
            <a:avLst>
              <a:gd name="adj" fmla="val 49998"/>
            </a:avLst>
          </a:prstGeom>
          <a:solidFill>
            <a:srgbClr val="4A5B7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2320" rIns="90000" bIns="-2232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5" name="Text 5"/>
          <p:cNvSpPr/>
          <p:nvPr/>
        </p:nvSpPr>
        <p:spPr>
          <a:xfrm>
            <a:off x="4927320" y="3971880"/>
            <a:ext cx="6654240" cy="102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Yield drift detection · defect-pattern discovery · lithography layout inference · hotspot classification · metrology and inspection analytics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6"/>
          <p:cNvSpPr/>
          <p:nvPr/>
        </p:nvSpPr>
        <p:spPr>
          <a:xfrm>
            <a:off x="4464000" y="0"/>
            <a:ext cx="12240" cy="6857640"/>
          </a:xfrm>
          <a:prstGeom prst="rect">
            <a:avLst/>
          </a:prstGeom>
          <a:solidFill>
            <a:srgbClr val="D8D1C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xt 0"/>
          <p:cNvSpPr/>
          <p:nvPr/>
        </p:nvSpPr>
        <p:spPr>
          <a:xfrm>
            <a:off x="457200" y="457200"/>
            <a:ext cx="11277000" cy="43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92000"/>
              </a:lnSpc>
              <a:tabLst>
                <a:tab pos="0" algn="l"/>
              </a:tabLst>
            </a:pPr>
            <a:r>
              <a:rPr lang="en-US" sz="3100" b="0" u="none" strike="noStrike" spc="-31">
                <a:solidFill>
                  <a:srgbClr val="1B2638"/>
                </a:solidFill>
                <a:effectLst/>
                <a:uFillTx/>
                <a:latin typeface="Newsreader Medium"/>
                <a:ea typeface="Newsreader Medium"/>
              </a:rPr>
              <a:t>Two published DTDA variants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1"/>
          <p:cNvSpPr/>
          <p:nvPr/>
        </p:nvSpPr>
        <p:spPr>
          <a:xfrm>
            <a:off x="457200" y="1164960"/>
            <a:ext cx="11277000" cy="31320"/>
          </a:xfrm>
          <a:prstGeom prst="roundRect">
            <a:avLst>
              <a:gd name="adj" fmla="val 49998"/>
            </a:avLst>
          </a:prstGeom>
          <a:solidFill>
            <a:srgbClr val="4A5B7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2320" rIns="90000" bIns="-2232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9" name="Text 2"/>
          <p:cNvSpPr/>
          <p:nvPr/>
        </p:nvSpPr>
        <p:spPr>
          <a:xfrm>
            <a:off x="457200" y="1450800"/>
            <a:ext cx="11734200" cy="18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 spc="91">
                <a:solidFill>
                  <a:srgbClr val="4A5B70"/>
                </a:solidFill>
                <a:effectLst/>
                <a:uFillTx/>
                <a:latin typeface="Geist SemiBold"/>
                <a:ea typeface="Geist SemiBold"/>
              </a:rPr>
              <a:t>SPEAKER'S WORK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3"/>
          <p:cNvSpPr/>
          <p:nvPr/>
        </p:nvSpPr>
        <p:spPr>
          <a:xfrm>
            <a:off x="457200" y="1834920"/>
            <a:ext cx="11277000" cy="149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marL="325080" indent="-325080" defTabSz="914400">
              <a:lnSpc>
                <a:spcPct val="118000"/>
              </a:lnSpc>
              <a:buClr>
                <a:srgbClr val="2B3139"/>
              </a:buClr>
              <a:buFont typeface="Symbol" charset="2"/>
              <a:buChar char=""/>
            </a:pPr>
            <a:r>
              <a:rPr lang="en-US" sz="1600" b="1" u="none" strike="noStrike" dirty="0">
                <a:solidFill>
                  <a:srgbClr val="2B3139"/>
                </a:solidFill>
                <a:effectLst/>
                <a:uFillTx/>
                <a:latin typeface="Geist Bold"/>
                <a:ea typeface="Geist Bold"/>
              </a:rPr>
              <a:t>2023 · Yield and quality root cause:</a:t>
            </a:r>
            <a:r>
              <a:rPr lang="en-US" sz="1600" b="0" u="none" strike="noStrike" dirty="0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 wafer-fab data that is high-dimensional, sparse and imbalanced; graphs whose nodes are clusters of similar samples and edges mark overlapping characteristics; identifies features behind yield and quality issues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5080" indent="-325080" defTabSz="914400">
              <a:lnSpc>
                <a:spcPct val="118000"/>
              </a:lnSpc>
              <a:buClr>
                <a:srgbClr val="2B3139"/>
              </a:buClr>
              <a:buFont typeface="Symbol" charset="2"/>
              <a:buChar char=""/>
            </a:pPr>
            <a:r>
              <a:rPr lang="en-US" sz="1600" b="1" u="none" strike="noStrike" dirty="0">
                <a:solidFill>
                  <a:srgbClr val="2B3139"/>
                </a:solidFill>
                <a:effectLst/>
                <a:uFillTx/>
                <a:latin typeface="Geist Bold"/>
                <a:ea typeface="Geist Bold"/>
              </a:rPr>
              <a:t>2025 · Semiconductor image clustering:</a:t>
            </a:r>
            <a:r>
              <a:rPr lang="en-US" sz="1600" b="0" u="none" strike="noStrike" dirty="0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 deep TDA with self-supervised and transfer learning; validated on synthetic and open-source datasets; clusters aligned with defect patterns and process variations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4"/>
          <p:cNvSpPr/>
          <p:nvPr/>
        </p:nvSpPr>
        <p:spPr>
          <a:xfrm>
            <a:off x="457200" y="3537720"/>
            <a:ext cx="11734200" cy="28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Giri &amp; Lengyel (2023), ASME InterPACK, V001T08A001; Giri et al. (2025), arXiv:2505.03848.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Text 1"/>
          <p:cNvSpPr/>
          <p:nvPr/>
        </p:nvSpPr>
        <p:spPr>
          <a:xfrm>
            <a:off x="457200" y="731880"/>
            <a:ext cx="11277000" cy="43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92000"/>
              </a:lnSpc>
              <a:tabLst>
                <a:tab pos="0" algn="l"/>
              </a:tabLst>
            </a:pPr>
            <a:r>
              <a:rPr lang="en-US" sz="3100" b="0" u="none" strike="noStrike" spc="-31">
                <a:solidFill>
                  <a:srgbClr val="1B2638"/>
                </a:solidFill>
                <a:effectLst/>
                <a:uFillTx/>
                <a:latin typeface="Newsreader Medium"/>
                <a:ea typeface="Newsreader Medium"/>
              </a:rPr>
              <a:t>The analytics pipeline: from data ingestion to feature selection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2"/>
          <p:cNvSpPr/>
          <p:nvPr/>
        </p:nvSpPr>
        <p:spPr>
          <a:xfrm>
            <a:off x="457200" y="1439640"/>
            <a:ext cx="11277000" cy="31320"/>
          </a:xfrm>
          <a:prstGeom prst="roundRect">
            <a:avLst>
              <a:gd name="adj" fmla="val 49998"/>
            </a:avLst>
          </a:prstGeom>
          <a:solidFill>
            <a:srgbClr val="4A5B7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2320" rIns="90000" bIns="-2232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84" name="Image 0" descr="preencoded.png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457200" y="1520280"/>
            <a:ext cx="11277000" cy="459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5" name="Text 3"/>
          <p:cNvSpPr/>
          <p:nvPr/>
        </p:nvSpPr>
        <p:spPr>
          <a:xfrm>
            <a:off x="457200" y="6203520"/>
            <a:ext cx="11734200" cy="1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13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B6676"/>
                </a:solidFill>
                <a:effectLst/>
                <a:uFillTx/>
                <a:latin typeface="Geist"/>
                <a:ea typeface="Geist"/>
              </a:rPr>
              <a:t>Giri &amp; Lengyel (2023), ASME InterPACK, Fig. 1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ext 1"/>
          <p:cNvSpPr/>
          <p:nvPr/>
        </p:nvSpPr>
        <p:spPr>
          <a:xfrm>
            <a:off x="457200" y="731880"/>
            <a:ext cx="11277000" cy="43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92000"/>
              </a:lnSpc>
              <a:tabLst>
                <a:tab pos="0" algn="l"/>
              </a:tabLst>
            </a:pPr>
            <a:r>
              <a:rPr lang="en-US" sz="3100" b="0" u="none" strike="noStrike" spc="-31">
                <a:solidFill>
                  <a:srgbClr val="1B2638"/>
                </a:solidFill>
                <a:effectLst/>
                <a:uFillTx/>
                <a:latin typeface="Newsreader Medium"/>
                <a:ea typeface="Newsreader Medium"/>
              </a:rPr>
              <a:t>Use case 1: 15 failing wafers among 2,952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2"/>
          <p:cNvSpPr/>
          <p:nvPr/>
        </p:nvSpPr>
        <p:spPr>
          <a:xfrm>
            <a:off x="457200" y="1439640"/>
            <a:ext cx="11277000" cy="31320"/>
          </a:xfrm>
          <a:prstGeom prst="roundRect">
            <a:avLst>
              <a:gd name="adj" fmla="val 49998"/>
            </a:avLst>
          </a:prstGeom>
          <a:solidFill>
            <a:srgbClr val="4A5B7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2320" rIns="90000" bIns="-2232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8" name="Text 3"/>
          <p:cNvSpPr/>
          <p:nvPr/>
        </p:nvSpPr>
        <p:spPr>
          <a:xfrm>
            <a:off x="457200" y="1723680"/>
            <a:ext cx="5409720" cy="311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marL="325080" indent="-325080" defTabSz="914400">
              <a:lnSpc>
                <a:spcPct val="118000"/>
              </a:lnSpc>
              <a:buClr>
                <a:srgbClr val="2B3139"/>
              </a:buClr>
              <a:buFont typeface="Symbol" charset="2"/>
              <a:buChar char=""/>
            </a:pPr>
            <a:r>
              <a:rPr lang="en-US" sz="1600" dirty="0">
                <a:solidFill>
                  <a:srgbClr val="2B3139"/>
                </a:solidFill>
                <a:latin typeface="Geist"/>
                <a:ea typeface="Geist"/>
              </a:rPr>
              <a:t>Data: 2,952 wafers × 974 process-flow variables, including 15 failures (0.5%)</a:t>
            </a:r>
          </a:p>
          <a:p>
            <a:pPr marL="325080" indent="-325080" defTabSz="914400">
              <a:lnSpc>
                <a:spcPct val="118000"/>
              </a:lnSpc>
              <a:buClr>
                <a:srgbClr val="2B3139"/>
              </a:buClr>
              <a:buFont typeface="Symbol" charset="2"/>
              <a:buChar char=""/>
            </a:pPr>
            <a:r>
              <a:rPr lang="en-US" sz="1600" dirty="0">
                <a:solidFill>
                  <a:srgbClr val="2B3139"/>
                </a:solidFill>
                <a:latin typeface="Geist"/>
                <a:ea typeface="Geist"/>
              </a:rPr>
              <a:t>Inputs: operating conditions, equipment units, time spans and sensor parameters</a:t>
            </a:r>
          </a:p>
          <a:p>
            <a:pPr marL="325080" indent="-325080" defTabSz="914400">
              <a:lnSpc>
                <a:spcPct val="118000"/>
              </a:lnSpc>
              <a:buClr>
                <a:srgbClr val="2B3139"/>
              </a:buClr>
              <a:buFont typeface="Symbol" charset="2"/>
              <a:buChar char=""/>
            </a:pPr>
            <a:r>
              <a:rPr lang="en-US" sz="1600" dirty="0">
                <a:solidFill>
                  <a:srgbClr val="2B3139"/>
                </a:solidFill>
                <a:latin typeface="Geist"/>
                <a:ea typeface="Geist"/>
              </a:rPr>
              <a:t>Target: 1 = fail, 0 = pass, overlaid after unsupervised clustering</a:t>
            </a:r>
          </a:p>
          <a:p>
            <a:pPr marL="325080" indent="-325080" defTabSz="914400">
              <a:lnSpc>
                <a:spcPct val="118000"/>
              </a:lnSpc>
              <a:buClr>
                <a:srgbClr val="2B3139"/>
              </a:buClr>
              <a:buFont typeface="Symbol" charset="2"/>
              <a:buChar char=""/>
            </a:pPr>
            <a:r>
              <a:rPr lang="en-US" sz="1600" dirty="0">
                <a:solidFill>
                  <a:srgbClr val="2B3139"/>
                </a:solidFill>
                <a:latin typeface="Geist"/>
                <a:ea typeface="Geist"/>
              </a:rPr>
              <a:t>Question: do failed wafers occupy a distinct region of the map?</a:t>
            </a:r>
          </a:p>
          <a:p>
            <a:pPr marL="325080" indent="-325080" defTabSz="914400">
              <a:lnSpc>
                <a:spcPct val="118000"/>
              </a:lnSpc>
              <a:buClr>
                <a:srgbClr val="2B3139"/>
              </a:buClr>
              <a:buFont typeface="Symbol" charset="2"/>
              <a:buChar char=""/>
            </a:pPr>
            <a:r>
              <a:rPr lang="en-US" sz="1600" dirty="0">
                <a:solidFill>
                  <a:srgbClr val="2B3139"/>
                </a:solidFill>
                <a:latin typeface="Geist"/>
                <a:ea typeface="Geist"/>
              </a:rPr>
              <a:t>Result: all 15 failures appear in one target cluster. Process validation is needed to establish causality</a:t>
            </a:r>
          </a:p>
        </p:txBody>
      </p:sp>
      <p:sp>
        <p:nvSpPr>
          <p:cNvPr id="189" name="Shape 4"/>
          <p:cNvSpPr/>
          <p:nvPr/>
        </p:nvSpPr>
        <p:spPr>
          <a:xfrm>
            <a:off x="6324480" y="1723680"/>
            <a:ext cx="5409720" cy="338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8D1C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90" name="Image 0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6457680" y="1856880"/>
            <a:ext cx="5142960" cy="311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1" name="Text 5"/>
          <p:cNvSpPr/>
          <p:nvPr/>
        </p:nvSpPr>
        <p:spPr>
          <a:xfrm>
            <a:off x="6324480" y="5241600"/>
            <a:ext cx="540972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13000"/>
              </a:lnSpc>
              <a:spcAft>
                <a:spcPts val="1001"/>
              </a:spcAft>
              <a:tabLst>
                <a:tab pos="0" algn="l"/>
              </a:tabLst>
            </a:pPr>
            <a:r>
              <a:rPr lang="en-US" sz="1150" b="0" u="none" strike="noStrike">
                <a:solidFill>
                  <a:srgbClr val="5B6676"/>
                </a:solidFill>
                <a:effectLst/>
                <a:uFillTx/>
                <a:latin typeface="Geist"/>
                <a:ea typeface="Geist"/>
              </a:rPr>
              <a:t>Figure 3: topological map; nodes = wafer-sample clusters, edges = overlapping characteristics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3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B6676"/>
                </a:solidFill>
                <a:effectLst/>
                <a:uFillTx/>
                <a:latin typeface="Geist"/>
                <a:ea typeface="Geist"/>
              </a:rPr>
              <a:t>Giri &amp; Lengyel (2023), ASME InterPACK, Fig. 3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Text 1"/>
          <p:cNvSpPr/>
          <p:nvPr/>
        </p:nvSpPr>
        <p:spPr>
          <a:xfrm>
            <a:off x="457200" y="731880"/>
            <a:ext cx="11277000" cy="43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92000"/>
              </a:lnSpc>
              <a:tabLst>
                <a:tab pos="0" algn="l"/>
              </a:tabLst>
            </a:pPr>
            <a:r>
              <a:rPr lang="en-US" sz="3100" b="0" u="none" strike="noStrike" spc="-31">
                <a:solidFill>
                  <a:srgbClr val="1B2638"/>
                </a:solidFill>
                <a:effectLst/>
                <a:uFillTx/>
                <a:latin typeface="Newsreader Medium"/>
                <a:ea typeface="Newsreader Medium"/>
              </a:rPr>
              <a:t>All 15 failed wafers fall in one cluster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2"/>
          <p:cNvSpPr/>
          <p:nvPr/>
        </p:nvSpPr>
        <p:spPr>
          <a:xfrm>
            <a:off x="457200" y="1439640"/>
            <a:ext cx="11277000" cy="31320"/>
          </a:xfrm>
          <a:prstGeom prst="roundRect">
            <a:avLst>
              <a:gd name="adj" fmla="val 49998"/>
            </a:avLst>
          </a:prstGeom>
          <a:solidFill>
            <a:srgbClr val="4A5B7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2320" rIns="90000" bIns="-2232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4" name="Text 3"/>
          <p:cNvSpPr/>
          <p:nvPr/>
        </p:nvSpPr>
        <p:spPr>
          <a:xfrm>
            <a:off x="457200" y="1723680"/>
            <a:ext cx="5409720" cy="57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Overlaying the target shows that 100% of failed wafers aggregate into one cluster (green).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4"/>
          <p:cNvSpPr/>
          <p:nvPr/>
        </p:nvSpPr>
        <p:spPr>
          <a:xfrm>
            <a:off x="6324480" y="1590120"/>
            <a:ext cx="5409720" cy="43462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1C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96" name="Image 0" descr="preencoded.png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6457680" y="1856880"/>
            <a:ext cx="5142960" cy="407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7" name="Text 5"/>
          <p:cNvSpPr/>
          <p:nvPr/>
        </p:nvSpPr>
        <p:spPr>
          <a:xfrm>
            <a:off x="6324480" y="6055560"/>
            <a:ext cx="540972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13000"/>
              </a:lnSpc>
              <a:spcAft>
                <a:spcPts val="1001"/>
              </a:spcAft>
              <a:tabLst>
                <a:tab pos="0" algn="l"/>
              </a:tabLst>
            </a:pPr>
            <a:r>
              <a:rPr lang="en-US" sz="1150" b="0" u="none" strike="noStrike" dirty="0">
                <a:solidFill>
                  <a:srgbClr val="5B6676"/>
                </a:solidFill>
                <a:effectLst/>
                <a:uFillTx/>
                <a:latin typeface="Geist"/>
                <a:ea typeface="Geist"/>
              </a:rPr>
              <a:t>Distribution of target in each cluster; the target cluster (green) contains the 15 failed wafers.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3000"/>
              </a:lnSpc>
              <a:tabLst>
                <a:tab pos="0" algn="l"/>
              </a:tabLst>
            </a:pPr>
            <a:r>
              <a:rPr lang="en-US" sz="1150" b="0" u="none" strike="noStrike" dirty="0">
                <a:solidFill>
                  <a:srgbClr val="5B6676"/>
                </a:solidFill>
                <a:effectLst/>
                <a:uFillTx/>
                <a:latin typeface="Geist"/>
                <a:ea typeface="Geist"/>
              </a:rPr>
              <a:t>Giri &amp; Lengyel (2023), ASME </a:t>
            </a:r>
            <a:r>
              <a:rPr lang="en-US" sz="1150" b="0" u="none" strike="noStrike" dirty="0" err="1">
                <a:solidFill>
                  <a:srgbClr val="5B6676"/>
                </a:solidFill>
                <a:effectLst/>
                <a:uFillTx/>
                <a:latin typeface="Geist"/>
                <a:ea typeface="Geist"/>
              </a:rPr>
              <a:t>InterPACK</a:t>
            </a:r>
            <a:r>
              <a:rPr lang="en-US" sz="1150" b="0" u="none" strike="noStrike" dirty="0">
                <a:solidFill>
                  <a:srgbClr val="5B6676"/>
                </a:solidFill>
                <a:effectLst/>
                <a:uFillTx/>
                <a:latin typeface="Geist"/>
                <a:ea typeface="Geist"/>
              </a:rPr>
              <a:t>, Fig. 4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Text 1"/>
          <p:cNvSpPr/>
          <p:nvPr/>
        </p:nvSpPr>
        <p:spPr>
          <a:xfrm>
            <a:off x="457200" y="731880"/>
            <a:ext cx="11277000" cy="43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92000"/>
              </a:lnSpc>
              <a:tabLst>
                <a:tab pos="0" algn="l"/>
              </a:tabLst>
            </a:pPr>
            <a:r>
              <a:rPr lang="en-US" sz="3100" b="0" u="none" strike="noStrike" spc="-31">
                <a:solidFill>
                  <a:srgbClr val="1B2638"/>
                </a:solidFill>
                <a:effectLst/>
                <a:uFillTx/>
                <a:latin typeface="Newsreader Medium"/>
                <a:ea typeface="Newsreader Medium"/>
              </a:rPr>
              <a:t>One feature, X_470, separates the failing cluster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2"/>
          <p:cNvSpPr/>
          <p:nvPr/>
        </p:nvSpPr>
        <p:spPr>
          <a:xfrm>
            <a:off x="457200" y="1439640"/>
            <a:ext cx="11277000" cy="31320"/>
          </a:xfrm>
          <a:prstGeom prst="roundRect">
            <a:avLst>
              <a:gd name="adj" fmla="val 49998"/>
            </a:avLst>
          </a:prstGeom>
          <a:solidFill>
            <a:srgbClr val="4A5B7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2320" rIns="90000" bIns="-2232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0" name="Text 3"/>
          <p:cNvSpPr/>
          <p:nvPr/>
        </p:nvSpPr>
        <p:spPr>
          <a:xfrm>
            <a:off x="457200" y="1723680"/>
            <a:ext cx="5409720" cy="242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marL="325080" indent="-325080" defTabSz="914400">
              <a:lnSpc>
                <a:spcPct val="118000"/>
              </a:lnSpc>
              <a:buClr>
                <a:srgbClr val="2B3139"/>
              </a:buClr>
              <a:buFont typeface="Symbol" charset="2"/>
              <a:buChar char=""/>
            </a:pPr>
            <a:r>
              <a:rPr lang="en-US" sz="1600" b="1" u="none" strike="noStrike">
                <a:solidFill>
                  <a:srgbClr val="2B3139"/>
                </a:solidFill>
                <a:effectLst/>
                <a:uFillTx/>
                <a:latin typeface="Geist Bold"/>
                <a:ea typeface="Geist Bold"/>
              </a:rPr>
              <a:t>Top feature:</a:t>
            </a:r>
            <a:r>
              <a:rPr lang="en-US" sz="1600" b="0" u="none" strike="noStrike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 X_470 is the top contributing feature for the data separation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5080" indent="-325080" defTabSz="914400">
              <a:lnSpc>
                <a:spcPct val="118000"/>
              </a:lnSpc>
              <a:buClr>
                <a:srgbClr val="2B3139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The target cluster (100% failed wafers) sits at the maximum value of X_470 (25.24, with 0% nulls); other clusters average about 23.2–24.6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5080" indent="-325080" defTabSz="914400">
              <a:lnSpc>
                <a:spcPct val="118000"/>
              </a:lnSpc>
              <a:buClr>
                <a:srgbClr val="2B3139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Zooming into the target cluster, the features and combinations behind the clustering were X_101, X_156, X_517, X_452, X_679 and others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4"/>
          <p:cNvSpPr/>
          <p:nvPr/>
        </p:nvSpPr>
        <p:spPr>
          <a:xfrm>
            <a:off x="6324480" y="1723680"/>
            <a:ext cx="5409720" cy="363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1C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02" name="Image 0" descr="preencoded.png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6457680" y="1856880"/>
            <a:ext cx="5142960" cy="336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3" name="Text 5"/>
          <p:cNvSpPr/>
          <p:nvPr/>
        </p:nvSpPr>
        <p:spPr>
          <a:xfrm>
            <a:off x="6324480" y="5489280"/>
            <a:ext cx="5409720" cy="52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3000"/>
              </a:lnSpc>
              <a:spcAft>
                <a:spcPts val="1001"/>
              </a:spcAft>
              <a:tabLst>
                <a:tab pos="0" algn="l"/>
              </a:tabLst>
            </a:pPr>
            <a:r>
              <a:rPr lang="en-US" sz="1150" b="0" u="none" strike="noStrike">
                <a:solidFill>
                  <a:srgbClr val="5B6676"/>
                </a:solidFill>
                <a:effectLst/>
                <a:uFillTx/>
                <a:latin typeface="Geist"/>
                <a:ea typeface="Geist"/>
              </a:rPr>
              <a:t>Coloured by X_470; grey = null values, red = maximum value.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3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B6676"/>
                </a:solidFill>
                <a:effectLst/>
                <a:uFillTx/>
                <a:latin typeface="Geist"/>
                <a:ea typeface="Geist"/>
              </a:rPr>
              <a:t>Giri &amp; Lengyel (2023), ASME InterPACK, Fig. 5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Text 1"/>
          <p:cNvSpPr/>
          <p:nvPr/>
        </p:nvSpPr>
        <p:spPr>
          <a:xfrm>
            <a:off x="457200" y="731880"/>
            <a:ext cx="11277000" cy="43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92000"/>
              </a:lnSpc>
              <a:tabLst>
                <a:tab pos="0" algn="l"/>
              </a:tabLst>
            </a:pPr>
            <a:r>
              <a:rPr lang="en-US" sz="3100" b="0" u="none" strike="noStrike" spc="-31">
                <a:solidFill>
                  <a:srgbClr val="1B2638"/>
                </a:solidFill>
                <a:effectLst/>
                <a:uFillTx/>
                <a:latin typeface="Newsreader Medium"/>
                <a:ea typeface="Newsreader Medium"/>
              </a:rPr>
              <a:t>Supervised check: which features drive failure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2"/>
          <p:cNvSpPr/>
          <p:nvPr/>
        </p:nvSpPr>
        <p:spPr>
          <a:xfrm>
            <a:off x="457200" y="1439640"/>
            <a:ext cx="11277000" cy="31320"/>
          </a:xfrm>
          <a:prstGeom prst="roundRect">
            <a:avLst>
              <a:gd name="adj" fmla="val 49998"/>
            </a:avLst>
          </a:prstGeom>
          <a:solidFill>
            <a:srgbClr val="4A5B7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2320" rIns="90000" bIns="-2232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6" name="Text 3"/>
          <p:cNvSpPr/>
          <p:nvPr/>
        </p:nvSpPr>
        <p:spPr>
          <a:xfrm>
            <a:off x="457200" y="1723680"/>
            <a:ext cx="5409720" cy="228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18000"/>
              </a:lnSpc>
              <a:spcAft>
                <a:spcPts val="1001"/>
              </a:spcAft>
              <a:tabLst>
                <a:tab pos="0" algn="l"/>
              </a:tabLst>
            </a:pPr>
            <a:r>
              <a:rPr lang="en-US" sz="1600" b="0" u="none" strike="noStrike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CatBoost (gradient boosting on decision trees) was applied to see which features matter to the outcome (failed vs normal).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spcAft>
                <a:spcPts val="1001"/>
              </a:spcAft>
              <a:tabLst>
                <a:tab pos="0" algn="l"/>
              </a:tabLst>
            </a:pPr>
            <a:r>
              <a:rPr lang="en-US" sz="1600" b="1" u="none" strike="noStrike">
                <a:solidFill>
                  <a:srgbClr val="2B3139"/>
                </a:solidFill>
                <a:effectLst/>
                <a:uFillTx/>
                <a:latin typeface="Geist Bold"/>
                <a:ea typeface="Geist Bold"/>
              </a:rPr>
              <a:t>Top features by importance:</a:t>
            </a:r>
            <a:r>
              <a:rPr lang="en-US" sz="1600" b="0" u="none" strike="noStrike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 X_918 (~0.15), X_259 (~0.11), X_470 (~0.075), X_643 (~0.065), X_392 (~0.06)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Process owners confirmed these features as top contributors to the observed failures.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4"/>
          <p:cNvSpPr/>
          <p:nvPr/>
        </p:nvSpPr>
        <p:spPr>
          <a:xfrm>
            <a:off x="6324480" y="1723680"/>
            <a:ext cx="5409720" cy="3293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1C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08" name="Image 0" descr="preencoded.png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6457680" y="1856880"/>
            <a:ext cx="5142960" cy="302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9" name="Text 5"/>
          <p:cNvSpPr/>
          <p:nvPr/>
        </p:nvSpPr>
        <p:spPr>
          <a:xfrm>
            <a:off x="6324480" y="5151240"/>
            <a:ext cx="540972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13000"/>
              </a:lnSpc>
              <a:spcAft>
                <a:spcPts val="1001"/>
              </a:spcAft>
              <a:tabLst>
                <a:tab pos="0" algn="l"/>
              </a:tabLst>
            </a:pPr>
            <a:r>
              <a:rPr lang="en-US" sz="1150" b="0" u="none" strike="noStrike">
                <a:solidFill>
                  <a:srgbClr val="5B6676"/>
                </a:solidFill>
                <a:effectLst/>
                <a:uFillTx/>
                <a:latin typeface="Geist"/>
                <a:ea typeface="Geist"/>
              </a:rPr>
              <a:t>Higher score = larger impact on the outcome. Bar values are read from the chart and approximate.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3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B6676"/>
                </a:solidFill>
                <a:effectLst/>
                <a:uFillTx/>
                <a:latin typeface="Geist"/>
                <a:ea typeface="Geist"/>
              </a:rPr>
              <a:t>Giri &amp; Lengyel (2023), ASME InterPACK, Fig. 6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Text 1"/>
          <p:cNvSpPr/>
          <p:nvPr/>
        </p:nvSpPr>
        <p:spPr>
          <a:xfrm>
            <a:off x="457200" y="716400"/>
            <a:ext cx="11277000" cy="41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92000"/>
              </a:lnSpc>
              <a:tabLst>
                <a:tab pos="0" algn="l"/>
              </a:tabLst>
            </a:pPr>
            <a:r>
              <a:rPr lang="en-US" sz="2950" b="0" u="none" strike="noStrike" spc="-31">
                <a:solidFill>
                  <a:srgbClr val="1B2638"/>
                </a:solidFill>
                <a:effectLst/>
                <a:uFillTx/>
                <a:latin typeface="Newsreader Medium"/>
                <a:ea typeface="Newsreader Medium"/>
              </a:rPr>
              <a:t>Use case 2: failures spread across the map</a:t>
            </a:r>
            <a:endParaRPr lang="en-US" sz="2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2"/>
          <p:cNvSpPr/>
          <p:nvPr/>
        </p:nvSpPr>
        <p:spPr>
          <a:xfrm>
            <a:off x="457200" y="1384920"/>
            <a:ext cx="11277000" cy="31320"/>
          </a:xfrm>
          <a:prstGeom prst="roundRect">
            <a:avLst>
              <a:gd name="adj" fmla="val 49998"/>
            </a:avLst>
          </a:prstGeom>
          <a:solidFill>
            <a:srgbClr val="4A5B7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2320" rIns="90000" bIns="-2232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2" name="Text 3"/>
          <p:cNvSpPr/>
          <p:nvPr/>
        </p:nvSpPr>
        <p:spPr>
          <a:xfrm>
            <a:off x="457200" y="1649880"/>
            <a:ext cx="3606480" cy="502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marL="315000" indent="-315000" defTabSz="914400">
              <a:lnSpc>
                <a:spcPct val="116000"/>
              </a:lnSpc>
              <a:buClr>
                <a:srgbClr val="2B3139"/>
              </a:buClr>
              <a:buFont typeface="Symbol" charset="2"/>
              <a:buChar char=""/>
            </a:pPr>
            <a:r>
              <a:rPr lang="en-US" sz="1500" b="1" u="none" strike="noStrike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Data: 11,468 wafers × 962 process-flow steps, including 1,137 failing wafers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15000" indent="-315000" defTabSz="914400">
              <a:lnSpc>
                <a:spcPct val="116000"/>
              </a:lnSpc>
              <a:buClr>
                <a:srgbClr val="2B3139"/>
              </a:buClr>
              <a:buFont typeface="Symbol" charset="2"/>
              <a:buChar char=""/>
            </a:pPr>
            <a:r>
              <a:rPr lang="en-US" sz="1500" b="1" u="none" strike="noStrike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Observation: failures span multiple clusters, with cluster failure rates of roughly 4.5%–20.4%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15000" indent="-315000" defTabSz="914400">
              <a:lnSpc>
                <a:spcPct val="116000"/>
              </a:lnSpc>
              <a:buClr>
                <a:srgbClr val="2B3139"/>
              </a:buClr>
              <a:buFont typeface="Symbol" charset="2"/>
              <a:buChar char=""/>
            </a:pPr>
            <a:r>
              <a:rPr lang="en-US" sz="1500" b="1" u="none" strike="noStrike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Interpretation: this map shows no single failure cluster. It does not establish that useful predictors are absent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15000" indent="-315000" defTabSz="914400">
              <a:lnSpc>
                <a:spcPct val="116000"/>
              </a:lnSpc>
              <a:buClr>
                <a:srgbClr val="2B3139"/>
              </a:buClr>
              <a:buFont typeface="Symbol" charset="2"/>
              <a:buChar char=""/>
            </a:pPr>
            <a:r>
              <a:rPr lang="en-US" sz="1500" b="1" u="none" strike="noStrike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Next step: check data coverage, time effects and Mapper settings. Test predictive signal with held-out data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4"/>
          <p:cNvSpPr/>
          <p:nvPr/>
        </p:nvSpPr>
        <p:spPr>
          <a:xfrm>
            <a:off x="4521240" y="1649880"/>
            <a:ext cx="3377880" cy="26708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1C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14" name="Image 0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4654440" y="1783080"/>
            <a:ext cx="3111120" cy="2404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5" name="Text 5"/>
          <p:cNvSpPr/>
          <p:nvPr/>
        </p:nvSpPr>
        <p:spPr>
          <a:xfrm>
            <a:off x="4521240" y="4448520"/>
            <a:ext cx="3377880" cy="18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6676"/>
                </a:solidFill>
                <a:effectLst/>
                <a:uFillTx/>
                <a:latin typeface="Geist"/>
                <a:ea typeface="Geist"/>
              </a:rPr>
              <a:t>Giri &amp; Lengyel (2023), ASME InterPACK, Fig. 7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6"/>
          <p:cNvSpPr/>
          <p:nvPr/>
        </p:nvSpPr>
        <p:spPr>
          <a:xfrm>
            <a:off x="8356320" y="1649880"/>
            <a:ext cx="3377880" cy="33156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1C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17" name="Image 1"/>
          <p:cNvPicPr/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8489880" y="1783080"/>
            <a:ext cx="3111120" cy="3049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8" name="Text 7"/>
          <p:cNvSpPr/>
          <p:nvPr/>
        </p:nvSpPr>
        <p:spPr>
          <a:xfrm>
            <a:off x="8356320" y="5093280"/>
            <a:ext cx="3377880" cy="18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6676"/>
                </a:solidFill>
                <a:effectLst/>
                <a:uFillTx/>
                <a:latin typeface="Geist"/>
                <a:ea typeface="Geist"/>
              </a:rPr>
              <a:t>Giri &amp; Lengyel (2023), ASME InterPACK, Fig. 8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Picture 13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457200" y="2359080"/>
            <a:ext cx="3053880" cy="150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0" name="Picture 11"/>
          <p:cNvSpPr/>
          <p:nvPr/>
        </p:nvSpPr>
        <p:spPr>
          <a:xfrm>
            <a:off x="7333560" y="1856160"/>
            <a:ext cx="4187520" cy="3549600"/>
          </a:xfrm>
          <a:prstGeom prst="ellipse">
            <a:avLst/>
          </a:prstGeom>
          <a:blipFill rotWithShape="0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a:blipFill>
          <a:ln w="0">
            <a:noFill/>
          </a:ln>
          <a:effectLst>
            <a:softEdge rad="11268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Box 14"/>
          <p:cNvSpPr/>
          <p:nvPr/>
        </p:nvSpPr>
        <p:spPr>
          <a:xfrm>
            <a:off x="457200" y="457200"/>
            <a:ext cx="11274120" cy="47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3100" b="0" u="none" strike="noStrike">
                <a:solidFill>
                  <a:srgbClr val="1B2638"/>
                </a:solidFill>
                <a:effectLst/>
                <a:uFillTx/>
                <a:latin typeface="Newsreader Medium"/>
              </a:rPr>
              <a:t>Deep TDA + self-supervised learning for image analytics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Rectangle 15"/>
          <p:cNvSpPr/>
          <p:nvPr/>
        </p:nvSpPr>
        <p:spPr>
          <a:xfrm>
            <a:off x="457200" y="1161360"/>
            <a:ext cx="11274120" cy="27000"/>
          </a:xfrm>
          <a:prstGeom prst="rect">
            <a:avLst/>
          </a:prstGeom>
          <a:solidFill>
            <a:srgbClr val="4A5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7640" rIns="90000" bIns="-1764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3" name="TextBox 16"/>
          <p:cNvSpPr/>
          <p:nvPr/>
        </p:nvSpPr>
        <p:spPr>
          <a:xfrm>
            <a:off x="457200" y="1463040"/>
            <a:ext cx="30538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rgbClr val="4A5B70"/>
                </a:solidFill>
                <a:effectLst/>
                <a:uFillTx/>
                <a:latin typeface="Geist SemiBold"/>
              </a:rPr>
              <a:t>IMAGES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Box 17"/>
          <p:cNvSpPr/>
          <p:nvPr/>
        </p:nvSpPr>
        <p:spPr>
          <a:xfrm>
            <a:off x="4654440" y="1485720"/>
            <a:ext cx="2358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rgbClr val="4A5B70"/>
                </a:solidFill>
                <a:effectLst/>
                <a:uFillTx/>
                <a:latin typeface="Geist SemiBold"/>
              </a:rPr>
              <a:t>MODEL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Box 18"/>
          <p:cNvSpPr/>
          <p:nvPr/>
        </p:nvSpPr>
        <p:spPr>
          <a:xfrm>
            <a:off x="7333560" y="1463040"/>
            <a:ext cx="41875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rgbClr val="4A5B70"/>
                </a:solidFill>
                <a:effectLst/>
                <a:uFillTx/>
                <a:latin typeface="Geist SemiBold"/>
              </a:rPr>
              <a:t>TDA MAP (CLUSTERS &amp; LABELS)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Box 19"/>
          <p:cNvSpPr/>
          <p:nvPr/>
        </p:nvSpPr>
        <p:spPr>
          <a:xfrm>
            <a:off x="3538800" y="2853000"/>
            <a:ext cx="36540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800" b="0" u="none" strike="noStrike">
                <a:solidFill>
                  <a:srgbClr val="7A2331"/>
                </a:solidFill>
                <a:effectLst/>
                <a:uFillTx/>
                <a:latin typeface="Newsreader Medium"/>
              </a:rPr>
              <a:t>→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Box 20"/>
          <p:cNvSpPr/>
          <p:nvPr/>
        </p:nvSpPr>
        <p:spPr>
          <a:xfrm>
            <a:off x="3986640" y="2030040"/>
            <a:ext cx="2358720" cy="85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r>
              <a:rPr lang="en-US" sz="1900" b="0" u="none" strike="noStrike">
                <a:solidFill>
                  <a:srgbClr val="2B3139"/>
                </a:solidFill>
                <a:effectLst/>
                <a:uFillTx/>
                <a:latin typeface="Geist SemiBold"/>
              </a:rPr>
              <a:t>Deep Topological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900" b="0" u="none" strike="noStrike">
                <a:solidFill>
                  <a:srgbClr val="2B3139"/>
                </a:solidFill>
                <a:effectLst/>
                <a:uFillTx/>
                <a:latin typeface="Geist SemiBold"/>
              </a:rPr>
              <a:t>Data Analysis (DTDA)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Rectangle 21"/>
          <p:cNvSpPr/>
          <p:nvPr/>
        </p:nvSpPr>
        <p:spPr>
          <a:xfrm>
            <a:off x="4361760" y="2999160"/>
            <a:ext cx="1608840" cy="13320"/>
          </a:xfrm>
          <a:prstGeom prst="rect">
            <a:avLst/>
          </a:prstGeom>
          <a:solidFill>
            <a:srgbClr val="D8D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9" name="TextBox 22"/>
          <p:cNvSpPr/>
          <p:nvPr/>
        </p:nvSpPr>
        <p:spPr>
          <a:xfrm>
            <a:off x="4846320" y="3072240"/>
            <a:ext cx="63972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700" b="0" u="none" strike="noStrike">
                <a:solidFill>
                  <a:srgbClr val="7A2331"/>
                </a:solidFill>
                <a:effectLst/>
                <a:uFillTx/>
                <a:latin typeface="Newsreader Medium"/>
              </a:rPr>
              <a:t>+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Rectangle 23"/>
          <p:cNvSpPr/>
          <p:nvPr/>
        </p:nvSpPr>
        <p:spPr>
          <a:xfrm>
            <a:off x="4361760" y="3593520"/>
            <a:ext cx="1608840" cy="13320"/>
          </a:xfrm>
          <a:prstGeom prst="rect">
            <a:avLst/>
          </a:prstGeom>
          <a:solidFill>
            <a:srgbClr val="D8D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1" name="TextBox 24"/>
          <p:cNvSpPr/>
          <p:nvPr/>
        </p:nvSpPr>
        <p:spPr>
          <a:xfrm>
            <a:off x="3986640" y="3712320"/>
            <a:ext cx="2358720" cy="85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r>
              <a:rPr lang="en-US" sz="1900" b="0" u="none" strike="noStrike">
                <a:solidFill>
                  <a:srgbClr val="2B3139"/>
                </a:solidFill>
                <a:effectLst/>
                <a:uFillTx/>
                <a:latin typeface="Geist SemiBold"/>
              </a:rPr>
              <a:t>Self-Supervised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900" b="0" u="none" strike="noStrike">
                <a:solidFill>
                  <a:srgbClr val="2B3139"/>
                </a:solidFill>
                <a:effectLst/>
                <a:uFillTx/>
                <a:latin typeface="Geist SemiBold"/>
              </a:rPr>
              <a:t>Learning (SSL)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Box 25"/>
          <p:cNvSpPr/>
          <p:nvPr/>
        </p:nvSpPr>
        <p:spPr>
          <a:xfrm>
            <a:off x="6565320" y="285300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800" b="0" u="none" strike="noStrike">
                <a:solidFill>
                  <a:srgbClr val="7A2331"/>
                </a:solidFill>
                <a:effectLst/>
                <a:uFillTx/>
                <a:latin typeface="Newsreader Medium"/>
              </a:rPr>
              <a:t>=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120" cy="42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0000"/>
          </a:bodyPr>
          <a:lstStyle/>
          <a:p>
            <a:pPr indent="0" algn="l" defTabSz="914400">
              <a:lnSpc>
                <a:spcPct val="100000"/>
              </a:lnSpc>
              <a:buNone/>
            </a:pPr>
            <a:r>
              <a:rPr lang="en-US" sz="3100" b="0" u="none" strike="noStrike">
                <a:solidFill>
                  <a:srgbClr val="1B2638"/>
                </a:solidFill>
                <a:effectLst/>
                <a:uFillTx/>
                <a:latin typeface="Newsreader Medium"/>
                <a:ea typeface="IntelOne Display Light"/>
              </a:rPr>
              <a:t>Image segmentation of WM811K wafer maps</a:t>
            </a:r>
            <a:endParaRPr lang="en-US" sz="3100" b="0" u="none" strike="noStrike">
              <a:solidFill>
                <a:srgbClr val="6DDCFF"/>
              </a:solidFill>
              <a:effectLst/>
              <a:uFillTx/>
              <a:latin typeface="IntelOne Display Light"/>
            </a:endParaRPr>
          </a:p>
        </p:txBody>
      </p:sp>
      <p:pic>
        <p:nvPicPr>
          <p:cNvPr id="234" name="Picture 8"/>
          <p:cNvPicPr/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21040" y="1870560"/>
            <a:ext cx="3154320" cy="389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5" name="TextBox 13"/>
          <p:cNvSpPr/>
          <p:nvPr/>
        </p:nvSpPr>
        <p:spPr>
          <a:xfrm>
            <a:off x="8321040" y="1444680"/>
            <a:ext cx="3154320" cy="30744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4A5B70"/>
                </a:solidFill>
                <a:effectLst/>
                <a:uFillTx/>
                <a:latin typeface="Geist SemiBold"/>
              </a:rPr>
              <a:t>Clusters based on defects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36" name="Group 19"/>
          <p:cNvGrpSpPr/>
          <p:nvPr/>
        </p:nvGrpSpPr>
        <p:grpSpPr>
          <a:xfrm>
            <a:off x="457200" y="1417320"/>
            <a:ext cx="7570800" cy="5147640"/>
            <a:chOff x="457200" y="1417320"/>
            <a:chExt cx="7570800" cy="5147640"/>
          </a:xfrm>
        </p:grpSpPr>
        <p:grpSp>
          <p:nvGrpSpPr>
            <p:cNvPr id="237" name="Group 18"/>
            <p:cNvGrpSpPr/>
            <p:nvPr/>
          </p:nvGrpSpPr>
          <p:grpSpPr>
            <a:xfrm>
              <a:off x="457200" y="1417320"/>
              <a:ext cx="7570800" cy="5147640"/>
              <a:chOff x="457200" y="1417320"/>
              <a:chExt cx="7570800" cy="5147640"/>
            </a:xfrm>
          </p:grpSpPr>
          <p:pic>
            <p:nvPicPr>
              <p:cNvPr id="238" name="Picture 5"/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/>
            </p:blipFill>
            <p:spPr>
              <a:xfrm>
                <a:off x="457200" y="1417320"/>
                <a:ext cx="7570800" cy="51476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239" name="Rectangle 14"/>
              <p:cNvSpPr/>
              <p:nvPr/>
            </p:nvSpPr>
            <p:spPr>
              <a:xfrm>
                <a:off x="633240" y="5119560"/>
                <a:ext cx="738000" cy="348120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horzOverflow="overflow" lIns="45720" rIns="45720" numCol="1" spcCol="38160" anchor="ctr">
                <a:spAutoFit/>
              </a:bodyPr>
              <a:lstStyle/>
              <a:p>
                <a:endParaRPr lang="en-US" sz="1800" b="0" u="none" strike="noStrike">
                  <a:solidFill>
                    <a:srgbClr val="525252"/>
                  </a:solidFill>
                  <a:effectLst/>
                  <a:uFillTx/>
                  <a:latin typeface="IntelOne Text Light"/>
                </a:endParaRPr>
              </a:p>
            </p:txBody>
          </p:sp>
          <p:sp>
            <p:nvSpPr>
              <p:cNvPr id="240" name="Rectangle 15"/>
              <p:cNvSpPr/>
              <p:nvPr/>
            </p:nvSpPr>
            <p:spPr>
              <a:xfrm>
                <a:off x="633240" y="3064320"/>
                <a:ext cx="738000" cy="216720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horzOverflow="overflow" lIns="45720" rIns="45720" numCol="1" spcCol="38160" anchor="ctr">
                <a:noAutofit/>
              </a:bodyPr>
              <a:lstStyle/>
              <a:p>
                <a:endParaRPr lang="en-US" sz="1800" b="0" u="none" strike="noStrike">
                  <a:solidFill>
                    <a:srgbClr val="525252"/>
                  </a:solidFill>
                  <a:effectLst/>
                  <a:uFillTx/>
                  <a:latin typeface="IntelOne Text Light"/>
                </a:endParaRPr>
              </a:p>
            </p:txBody>
          </p:sp>
          <p:sp>
            <p:nvSpPr>
              <p:cNvPr id="241" name="Rectangle 16"/>
              <p:cNvSpPr/>
              <p:nvPr/>
            </p:nvSpPr>
            <p:spPr>
              <a:xfrm>
                <a:off x="3414240" y="1969560"/>
                <a:ext cx="738000" cy="390600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horzOverflow="overflow" lIns="45720" rIns="45720" numCol="1" spcCol="38160" anchor="ctr">
                <a:noAutofit/>
              </a:bodyPr>
              <a:lstStyle/>
              <a:p>
                <a:endParaRPr lang="en-US" sz="1800" b="0" u="none" strike="noStrike">
                  <a:solidFill>
                    <a:srgbClr val="525252"/>
                  </a:solidFill>
                  <a:effectLst/>
                  <a:uFillTx/>
                  <a:latin typeface="IntelOne Text Light"/>
                </a:endParaRPr>
              </a:p>
            </p:txBody>
          </p:sp>
          <p:sp>
            <p:nvSpPr>
              <p:cNvPr id="242" name="Rectangle 17"/>
              <p:cNvSpPr/>
              <p:nvPr/>
            </p:nvSpPr>
            <p:spPr>
              <a:xfrm>
                <a:off x="7062480" y="5597640"/>
                <a:ext cx="664560" cy="390600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horzOverflow="overflow" lIns="45720" rIns="45720" numCol="1" spcCol="38160" anchor="ctr">
                <a:noAutofit/>
              </a:bodyPr>
              <a:lstStyle/>
              <a:p>
                <a:endParaRPr lang="en-US" sz="1800" b="0" u="none" strike="noStrike">
                  <a:solidFill>
                    <a:srgbClr val="525252"/>
                  </a:solidFill>
                  <a:effectLst/>
                  <a:uFillTx/>
                  <a:latin typeface="IntelOne Text Light"/>
                </a:endParaRPr>
              </a:p>
            </p:txBody>
          </p:sp>
        </p:grpSp>
        <p:sp>
          <p:nvSpPr>
            <p:cNvPr id="243" name="TextBox 9"/>
            <p:cNvSpPr/>
            <p:nvPr/>
          </p:nvSpPr>
          <p:spPr>
            <a:xfrm>
              <a:off x="1002240" y="1675440"/>
              <a:ext cx="1556280" cy="47736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horzOverflow="overflow" lIns="45720" rIns="45720" numCol="1" spcCol="38160" anchor="t">
              <a:sp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400" b="1" u="none" strike="noStrike">
                  <a:solidFill>
                    <a:srgbClr val="2B3139"/>
                  </a:solidFill>
                  <a:effectLst/>
                  <a:uFillTx/>
                  <a:latin typeface="Geist"/>
                  <a:ea typeface="IntelOne Text Light"/>
                </a:rPr>
                <a:t>TDA Map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4" name="TextBox 12"/>
            <p:cNvSpPr/>
            <p:nvPr/>
          </p:nvSpPr>
          <p:spPr>
            <a:xfrm>
              <a:off x="2027880" y="5809320"/>
              <a:ext cx="3044880" cy="58968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400" b="1" u="none" strike="noStrike">
                  <a:solidFill>
                    <a:srgbClr val="2B3139"/>
                  </a:solidFill>
                  <a:effectLst/>
                  <a:uFillTx/>
                  <a:latin typeface="Geist"/>
                </a:rPr>
                <a:t>4 Clusters with % distribution of a defect in each cluster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45" name="Rectangle 20"/>
          <p:cNvSpPr/>
          <p:nvPr/>
        </p:nvSpPr>
        <p:spPr>
          <a:xfrm>
            <a:off x="457200" y="1161360"/>
            <a:ext cx="11274120" cy="27000"/>
          </a:xfrm>
          <a:prstGeom prst="rect">
            <a:avLst/>
          </a:prstGeom>
          <a:solidFill>
            <a:srgbClr val="4A5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7640" rIns="90000" bIns="-1764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120" cy="42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0000"/>
          </a:bodyPr>
          <a:lstStyle/>
          <a:p>
            <a:pPr indent="0" algn="l" defTabSz="914400">
              <a:lnSpc>
                <a:spcPct val="100000"/>
              </a:lnSpc>
              <a:buNone/>
            </a:pPr>
            <a:r>
              <a:rPr lang="en-US" sz="3100" b="0" u="none" strike="noStrike">
                <a:solidFill>
                  <a:srgbClr val="1B2638"/>
                </a:solidFill>
                <a:effectLst/>
                <a:uFillTx/>
                <a:latin typeface="Newsreader Medium"/>
                <a:ea typeface="IntelOne Display Light"/>
              </a:rPr>
              <a:t>Analyzing individual segments per defect type</a:t>
            </a:r>
            <a:endParaRPr lang="en-US" sz="3100" b="0" u="none" strike="noStrike">
              <a:solidFill>
                <a:srgbClr val="6DDCFF"/>
              </a:solidFill>
              <a:effectLst/>
              <a:uFillTx/>
              <a:latin typeface="IntelOne Display Light"/>
            </a:endParaRPr>
          </a:p>
        </p:txBody>
      </p:sp>
      <p:pic>
        <p:nvPicPr>
          <p:cNvPr id="247" name="Picture 7"/>
          <p:cNvPicPr/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794760" y="1794600"/>
            <a:ext cx="3840120" cy="3735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8" name="Picture 9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7882200" y="2263320"/>
            <a:ext cx="3840120" cy="279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9" name="TextBox 10"/>
          <p:cNvSpPr/>
          <p:nvPr/>
        </p:nvSpPr>
        <p:spPr>
          <a:xfrm>
            <a:off x="457200" y="2597400"/>
            <a:ext cx="2925720" cy="49212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7A2331"/>
                </a:solidFill>
                <a:effectLst/>
                <a:uFillTx/>
                <a:latin typeface="Newsreader Medium"/>
              </a:rPr>
              <a:t>Near Full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Box 11"/>
          <p:cNvSpPr/>
          <p:nvPr/>
        </p:nvSpPr>
        <p:spPr>
          <a:xfrm>
            <a:off x="3794760" y="5710320"/>
            <a:ext cx="3840120" cy="33804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B3139"/>
                </a:solidFill>
                <a:effectLst/>
                <a:uFillTx/>
                <a:latin typeface="Geist SemiBold"/>
              </a:rPr>
              <a:t>Center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Box 12"/>
          <p:cNvSpPr/>
          <p:nvPr/>
        </p:nvSpPr>
        <p:spPr>
          <a:xfrm>
            <a:off x="7882200" y="5710320"/>
            <a:ext cx="3840120" cy="33804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B3139"/>
                </a:solidFill>
                <a:effectLst/>
                <a:uFillTx/>
                <a:latin typeface="Geist SemiBold"/>
              </a:rPr>
              <a:t>Donut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Rectangle 13"/>
          <p:cNvSpPr/>
          <p:nvPr/>
        </p:nvSpPr>
        <p:spPr>
          <a:xfrm>
            <a:off x="457200" y="1161360"/>
            <a:ext cx="11274120" cy="27000"/>
          </a:xfrm>
          <a:prstGeom prst="rect">
            <a:avLst/>
          </a:prstGeom>
          <a:solidFill>
            <a:srgbClr val="4A5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7640" rIns="90000" bIns="-1764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120" cy="42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0000"/>
          </a:bodyPr>
          <a:lstStyle/>
          <a:p>
            <a:pPr indent="0" algn="l" defTabSz="914400">
              <a:lnSpc>
                <a:spcPct val="100000"/>
              </a:lnSpc>
              <a:buNone/>
            </a:pPr>
            <a:r>
              <a:rPr lang="en-US" sz="3100" b="0" u="none" strike="noStrike">
                <a:solidFill>
                  <a:srgbClr val="1B2638"/>
                </a:solidFill>
                <a:effectLst/>
                <a:uFillTx/>
                <a:latin typeface="Newsreader Medium"/>
                <a:ea typeface="IntelOne Display Light"/>
              </a:rPr>
              <a:t>Analyzing segments per defect type (cont.)</a:t>
            </a:r>
            <a:endParaRPr lang="en-US" sz="3100" b="0" u="none" strike="noStrike">
              <a:solidFill>
                <a:srgbClr val="6DDCFF"/>
              </a:solidFill>
              <a:effectLst/>
              <a:uFillTx/>
              <a:latin typeface="IntelOne Display Light"/>
            </a:endParaRPr>
          </a:p>
        </p:txBody>
      </p:sp>
      <p:pic>
        <p:nvPicPr>
          <p:cNvPr id="254" name="Picture 5"/>
          <p:cNvPicPr/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488160" y="1508760"/>
            <a:ext cx="5287320" cy="4388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5" name="Picture 7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6474240" y="1508760"/>
            <a:ext cx="5165640" cy="438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6" name="TextBox 8"/>
          <p:cNvSpPr/>
          <p:nvPr/>
        </p:nvSpPr>
        <p:spPr>
          <a:xfrm>
            <a:off x="457200" y="5916240"/>
            <a:ext cx="5348880" cy="33804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B3139"/>
                </a:solidFill>
                <a:effectLst/>
                <a:uFillTx/>
                <a:latin typeface="Geist SemiBold"/>
                <a:ea typeface="IntelOne Text Light"/>
              </a:rPr>
              <a:t>Loc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Box 9"/>
          <p:cNvSpPr/>
          <p:nvPr/>
        </p:nvSpPr>
        <p:spPr>
          <a:xfrm>
            <a:off x="6382440" y="5916240"/>
            <a:ext cx="5348880" cy="33804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B3139"/>
                </a:solidFill>
                <a:effectLst/>
                <a:uFillTx/>
                <a:latin typeface="Geist SemiBold"/>
                <a:ea typeface="IntelOne Text Light"/>
              </a:rPr>
              <a:t>Edge-Loc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Rectangle 10"/>
          <p:cNvSpPr/>
          <p:nvPr/>
        </p:nvSpPr>
        <p:spPr>
          <a:xfrm>
            <a:off x="457200" y="1161360"/>
            <a:ext cx="11274120" cy="27000"/>
          </a:xfrm>
          <a:prstGeom prst="rect">
            <a:avLst/>
          </a:prstGeom>
          <a:solidFill>
            <a:srgbClr val="4A5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7640" rIns="90000" bIns="-1764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120" cy="42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0000"/>
          </a:bodyPr>
          <a:lstStyle/>
          <a:p>
            <a:pPr indent="0" algn="l" defTabSz="914400">
              <a:lnSpc>
                <a:spcPct val="100000"/>
              </a:lnSpc>
              <a:buNone/>
            </a:pPr>
            <a:r>
              <a:rPr lang="en-US" sz="3100" b="0" u="none" strike="noStrike">
                <a:solidFill>
                  <a:srgbClr val="1B2638"/>
                </a:solidFill>
                <a:effectLst/>
                <a:uFillTx/>
                <a:latin typeface="Newsreader Medium"/>
                <a:ea typeface="IntelOne Display Light"/>
              </a:rPr>
              <a:t>Analyzing segments per defect type (cont.)</a:t>
            </a:r>
            <a:endParaRPr lang="en-US" sz="3100" b="0" u="none" strike="noStrike">
              <a:solidFill>
                <a:srgbClr val="6DDCFF"/>
              </a:solidFill>
              <a:effectLst/>
              <a:uFillTx/>
              <a:latin typeface="IntelOne Display Light"/>
            </a:endParaRPr>
          </a:p>
        </p:txBody>
      </p:sp>
      <p:pic>
        <p:nvPicPr>
          <p:cNvPr id="260" name="Picture 7"/>
          <p:cNvPicPr/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7200" y="1775160"/>
            <a:ext cx="5348880" cy="3801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1" name="Picture 9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6382440" y="2051280"/>
            <a:ext cx="5348880" cy="324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2" name="TextBox 10"/>
          <p:cNvSpPr/>
          <p:nvPr/>
        </p:nvSpPr>
        <p:spPr>
          <a:xfrm>
            <a:off x="457200" y="5888880"/>
            <a:ext cx="5348880" cy="33804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B3139"/>
                </a:solidFill>
                <a:effectLst/>
                <a:uFillTx/>
                <a:latin typeface="Geist SemiBold"/>
                <a:ea typeface="IntelOne Text Light"/>
              </a:rPr>
              <a:t>Edge-Ring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Box 11"/>
          <p:cNvSpPr/>
          <p:nvPr/>
        </p:nvSpPr>
        <p:spPr>
          <a:xfrm>
            <a:off x="6382440" y="5888880"/>
            <a:ext cx="5348880" cy="33804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B3139"/>
                </a:solidFill>
                <a:effectLst/>
                <a:uFillTx/>
                <a:latin typeface="Geist SemiBold"/>
                <a:ea typeface="IntelOne Text Light"/>
              </a:rPr>
              <a:t>Near-Full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Rectangle 12"/>
          <p:cNvSpPr/>
          <p:nvPr/>
        </p:nvSpPr>
        <p:spPr>
          <a:xfrm>
            <a:off x="457200" y="1161360"/>
            <a:ext cx="11274120" cy="27000"/>
          </a:xfrm>
          <a:prstGeom prst="rect">
            <a:avLst/>
          </a:prstGeom>
          <a:solidFill>
            <a:srgbClr val="4A5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7640" rIns="90000" bIns="-1764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120" cy="42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0000"/>
          </a:bodyPr>
          <a:lstStyle/>
          <a:p>
            <a:pPr indent="0" algn="l" defTabSz="914400">
              <a:lnSpc>
                <a:spcPct val="100000"/>
              </a:lnSpc>
              <a:buNone/>
            </a:pPr>
            <a:r>
              <a:rPr lang="en-US" sz="3100" b="0" u="none" strike="noStrike">
                <a:solidFill>
                  <a:srgbClr val="1B2638"/>
                </a:solidFill>
                <a:effectLst/>
                <a:uFillTx/>
                <a:latin typeface="Newsreader Medium"/>
                <a:ea typeface="IntelOne Display Light"/>
              </a:rPr>
              <a:t>Image segmentation of MixedWM38 wafer maps</a:t>
            </a:r>
            <a:endParaRPr lang="en-US" sz="3100" b="0" u="none" strike="noStrike">
              <a:solidFill>
                <a:srgbClr val="6DDCFF"/>
              </a:solidFill>
              <a:effectLst/>
              <a:uFillTx/>
              <a:latin typeface="IntelOne Display Light"/>
            </a:endParaRPr>
          </a:p>
        </p:txBody>
      </p:sp>
      <p:sp>
        <p:nvSpPr>
          <p:cNvPr id="266" name="TextBox 6"/>
          <p:cNvSpPr/>
          <p:nvPr/>
        </p:nvSpPr>
        <p:spPr>
          <a:xfrm>
            <a:off x="6629400" y="1965960"/>
            <a:ext cx="4617360" cy="201132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lIns="0" tIns="0" rIns="0" bIns="0" numCol="1" spcCol="38160" anchor="t">
            <a:spAutoFit/>
          </a:bodyPr>
          <a:lstStyle/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pos="0" algn="l"/>
              </a:tabLst>
            </a:pPr>
            <a:r>
              <a:rPr lang="en-US" sz="4200" b="1" u="none" strike="noStrike">
                <a:solidFill>
                  <a:srgbClr val="1B2638"/>
                </a:solidFill>
                <a:effectLst/>
                <a:uFillTx/>
                <a:latin typeface="Newsreader Medium"/>
              </a:rPr>
              <a:t>31 clusters 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2B3139"/>
                </a:solidFill>
                <a:effectLst/>
                <a:uFillTx/>
                <a:latin typeface="Geist"/>
              </a:rPr>
              <a:t>Single and Mixed categories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7" name="Picture 5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457200" y="1664280"/>
            <a:ext cx="5577480" cy="48186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68" name="Group 17"/>
          <p:cNvGrpSpPr/>
          <p:nvPr/>
        </p:nvGrpSpPr>
        <p:grpSpPr>
          <a:xfrm>
            <a:off x="2283480" y="4754880"/>
            <a:ext cx="2960640" cy="1667520"/>
            <a:chOff x="2283480" y="4754880"/>
            <a:chExt cx="2960640" cy="1667520"/>
          </a:xfrm>
        </p:grpSpPr>
        <p:grpSp>
          <p:nvGrpSpPr>
            <p:cNvPr id="269" name="Group 14"/>
            <p:cNvGrpSpPr/>
            <p:nvPr/>
          </p:nvGrpSpPr>
          <p:grpSpPr>
            <a:xfrm>
              <a:off x="2429280" y="4754880"/>
              <a:ext cx="767160" cy="1057680"/>
              <a:chOff x="2429280" y="4754880"/>
              <a:chExt cx="767160" cy="1057680"/>
            </a:xfrm>
          </p:grpSpPr>
          <p:sp>
            <p:nvSpPr>
              <p:cNvPr id="270" name="Rectangle 7"/>
              <p:cNvSpPr/>
              <p:nvPr/>
            </p:nvSpPr>
            <p:spPr>
              <a:xfrm>
                <a:off x="2429280" y="5054760"/>
                <a:ext cx="767160" cy="757800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horzOverflow="overflow" lIns="45720" rIns="45720" numCol="1" spcCol="38160" anchor="ctr">
                <a:spAutoFit/>
              </a:bodyPr>
              <a:lstStyle/>
              <a:p>
                <a:endParaRPr lang="en-US" sz="1800" b="0" u="none" strike="noStrike">
                  <a:solidFill>
                    <a:srgbClr val="525252"/>
                  </a:solidFill>
                  <a:effectLst/>
                  <a:uFillTx/>
                  <a:latin typeface="IntelOne Text Light"/>
                </a:endParaRPr>
              </a:p>
            </p:txBody>
          </p:sp>
          <p:sp>
            <p:nvSpPr>
              <p:cNvPr id="271" name="TextBox 10"/>
              <p:cNvSpPr/>
              <p:nvPr/>
            </p:nvSpPr>
            <p:spPr>
              <a:xfrm>
                <a:off x="2429280" y="4754880"/>
                <a:ext cx="691200" cy="30600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horzOverflow="overflow" wrap="none" lIns="45720" rIns="45720" numCol="1" spcCol="38160" anchor="t">
                <a:sp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800" b="1" u="none" strike="noStrike">
                    <a:solidFill>
                      <a:srgbClr val="525252"/>
                    </a:solidFill>
                    <a:effectLst/>
                    <a:highlight>
                      <a:srgbClr val="FFFF00"/>
                    </a:highlight>
                    <a:uFillTx/>
                    <a:latin typeface="IntelOne Text Light"/>
                    <a:ea typeface="IntelOne Text Light"/>
                  </a:rPr>
                  <a:t>normal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72" name="Group 15"/>
            <p:cNvGrpSpPr/>
            <p:nvPr/>
          </p:nvGrpSpPr>
          <p:grpSpPr>
            <a:xfrm>
              <a:off x="2283480" y="5861880"/>
              <a:ext cx="2960640" cy="560520"/>
              <a:chOff x="2283480" y="5861880"/>
              <a:chExt cx="2960640" cy="560520"/>
            </a:xfrm>
          </p:grpSpPr>
          <p:sp>
            <p:nvSpPr>
              <p:cNvPr id="273" name="Rectangle 8"/>
              <p:cNvSpPr/>
              <p:nvPr/>
            </p:nvSpPr>
            <p:spPr>
              <a:xfrm>
                <a:off x="2283480" y="5861880"/>
                <a:ext cx="912600" cy="560520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horzOverflow="overflow" lIns="45720" rIns="45720" numCol="1" spcCol="38160" anchor="ctr">
                <a:spAutoFit/>
              </a:bodyPr>
              <a:lstStyle/>
              <a:p>
                <a:endParaRPr lang="en-US" sz="1800" b="0" u="none" strike="noStrike">
                  <a:solidFill>
                    <a:srgbClr val="525252"/>
                  </a:solidFill>
                  <a:effectLst/>
                  <a:uFillTx/>
                  <a:latin typeface="IntelOne Text Light"/>
                </a:endParaRPr>
              </a:p>
            </p:txBody>
          </p:sp>
          <p:sp>
            <p:nvSpPr>
              <p:cNvPr id="274" name="TextBox 11"/>
              <p:cNvSpPr/>
              <p:nvPr/>
            </p:nvSpPr>
            <p:spPr>
              <a:xfrm>
                <a:off x="3246120" y="5989320"/>
                <a:ext cx="1998000" cy="30600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horzOverflow="overflow" wrap="none" lIns="45720" rIns="45720" numCol="1" spcCol="38160" anchor="t">
                <a:sp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sz="1800" b="1" u="none" strike="noStrike">
                    <a:solidFill>
                      <a:srgbClr val="525252"/>
                    </a:solidFill>
                    <a:effectLst/>
                    <a:highlight>
                      <a:srgbClr val="FFFF00"/>
                    </a:highlight>
                    <a:uFillTx/>
                    <a:latin typeface="IntelOne Text Light"/>
                    <a:ea typeface="IntelOne Text Light"/>
                  </a:rPr>
                  <a:t>Near-full and Random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75" name="Rectangle 19"/>
          <p:cNvSpPr/>
          <p:nvPr/>
        </p:nvSpPr>
        <p:spPr>
          <a:xfrm>
            <a:off x="457200" y="1161360"/>
            <a:ext cx="11274120" cy="27000"/>
          </a:xfrm>
          <a:prstGeom prst="rect">
            <a:avLst/>
          </a:prstGeom>
          <a:solidFill>
            <a:srgbClr val="4A5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7640" rIns="90000" bIns="-1764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6" name="TextBox 20"/>
          <p:cNvSpPr/>
          <p:nvPr/>
        </p:nvSpPr>
        <p:spPr>
          <a:xfrm>
            <a:off x="457200" y="1417320"/>
            <a:ext cx="55774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150" b="1" u="none" strike="noStrike">
                <a:solidFill>
                  <a:srgbClr val="4A5B70"/>
                </a:solidFill>
                <a:effectLst/>
                <a:uFillTx/>
                <a:latin typeface="Geist SemiBold"/>
              </a:rPr>
              <a:t>TDA MAP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Box 21"/>
          <p:cNvSpPr/>
          <p:nvPr/>
        </p:nvSpPr>
        <p:spPr>
          <a:xfrm>
            <a:off x="6629400" y="4370760"/>
            <a:ext cx="461736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2B3139"/>
                </a:solidFill>
                <a:effectLst/>
                <a:uFillTx/>
                <a:latin typeface="Geist"/>
              </a:rPr>
              <a:t>Topology separates normal structure from mixed defect patterns.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120" cy="42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0000"/>
          </a:bodyPr>
          <a:lstStyle/>
          <a:p>
            <a:pPr indent="0" algn="l" defTabSz="914400">
              <a:lnSpc>
                <a:spcPct val="100000"/>
              </a:lnSpc>
              <a:buNone/>
            </a:pPr>
            <a:r>
              <a:rPr lang="en-US" sz="3100" b="0" u="none" strike="noStrike">
                <a:solidFill>
                  <a:srgbClr val="1B2638"/>
                </a:solidFill>
                <a:effectLst/>
                <a:uFillTx/>
                <a:latin typeface="Newsreader Medium"/>
                <a:ea typeface="IntelOne Display Light"/>
              </a:rPr>
              <a:t>Image segmentation results for single-type defects</a:t>
            </a:r>
            <a:endParaRPr lang="en-US" sz="3100" b="0" u="none" strike="noStrike">
              <a:solidFill>
                <a:srgbClr val="6DDCFF"/>
              </a:solidFill>
              <a:effectLst/>
              <a:uFillTx/>
              <a:latin typeface="IntelOne Display Light"/>
            </a:endParaRPr>
          </a:p>
        </p:txBody>
      </p:sp>
      <p:pic>
        <p:nvPicPr>
          <p:cNvPr id="279" name="Picture 26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457200" y="2638440"/>
            <a:ext cx="5348880" cy="2559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0" name="Picture 28"/>
          <p:cNvPicPr/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82440" y="1833480"/>
            <a:ext cx="5348880" cy="4168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1" name="TextBox 29"/>
          <p:cNvSpPr/>
          <p:nvPr/>
        </p:nvSpPr>
        <p:spPr>
          <a:xfrm>
            <a:off x="457200" y="1417320"/>
            <a:ext cx="5348880" cy="21492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lIns="0" tIns="0" rIns="0" bIns="0" numCol="1" spcCol="3816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4A5B70"/>
                </a:solidFill>
                <a:effectLst/>
                <a:uFillTx/>
                <a:latin typeface="Geist SemiBold"/>
              </a:rPr>
              <a:t>C7 · Near-full cluster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Box 30"/>
          <p:cNvSpPr/>
          <p:nvPr/>
        </p:nvSpPr>
        <p:spPr>
          <a:xfrm>
            <a:off x="6382440" y="1417320"/>
            <a:ext cx="5348880" cy="21492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horzOverflow="overflow" lIns="0" tIns="0" rIns="0" bIns="0" numCol="1" spcCol="3816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4A5B70"/>
                </a:solidFill>
                <a:effectLst/>
                <a:uFillTx/>
                <a:latin typeface="Geist SemiBold"/>
              </a:rPr>
              <a:t>C9 · Random cluster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Rectangle 31"/>
          <p:cNvSpPr/>
          <p:nvPr/>
        </p:nvSpPr>
        <p:spPr>
          <a:xfrm>
            <a:off x="457200" y="1161360"/>
            <a:ext cx="11274120" cy="27000"/>
          </a:xfrm>
          <a:prstGeom prst="rect">
            <a:avLst/>
          </a:prstGeom>
          <a:solidFill>
            <a:srgbClr val="4A5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7640" rIns="90000" bIns="-1764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120" cy="429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0000"/>
          </a:bodyPr>
          <a:lstStyle/>
          <a:p>
            <a:pPr indent="0" algn="l" defTabSz="914400">
              <a:lnSpc>
                <a:spcPct val="100000"/>
              </a:lnSpc>
              <a:buNone/>
            </a:pPr>
            <a:r>
              <a:rPr lang="en-US" sz="3100" b="0" u="none" strike="noStrike">
                <a:solidFill>
                  <a:srgbClr val="1B2638"/>
                </a:solidFill>
                <a:effectLst/>
                <a:uFillTx/>
                <a:latin typeface="Newsreader Medium"/>
                <a:ea typeface="Newsreader Medium"/>
              </a:rPr>
              <a:t>Image segmentation results: C10–C22 Mixed Type 2</a:t>
            </a:r>
            <a:endParaRPr lang="en-US" sz="3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85" name="Picture 4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457200" y="1664280"/>
            <a:ext cx="5623200" cy="478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6" name="Rectangle 16"/>
          <p:cNvSpPr/>
          <p:nvPr/>
        </p:nvSpPr>
        <p:spPr>
          <a:xfrm>
            <a:off x="4286520" y="3381120"/>
            <a:ext cx="255240" cy="299160"/>
          </a:xfrm>
          <a:prstGeom prst="rect">
            <a:avLst/>
          </a:prstGeom>
          <a:noFill/>
          <a:ln w="28575">
            <a:solidFill>
              <a:srgbClr val="4472C4">
                <a:lumMod val="60000"/>
                <a:lumOff val="40000"/>
              </a:srgb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rIns="45720" anchor="ctr">
            <a:noAutofit/>
          </a:bodyPr>
          <a:lstStyle/>
          <a:p>
            <a:endParaRPr lang="en-US" sz="1800" b="0" u="none" strike="noStrike">
              <a:solidFill>
                <a:srgbClr val="525252"/>
              </a:solidFill>
              <a:effectLst/>
              <a:uFillTx/>
              <a:latin typeface="IntelOne Text Light"/>
            </a:endParaRPr>
          </a:p>
        </p:txBody>
      </p:sp>
      <p:sp>
        <p:nvSpPr>
          <p:cNvPr id="287" name="Rectangle 18"/>
          <p:cNvSpPr/>
          <p:nvPr/>
        </p:nvSpPr>
        <p:spPr>
          <a:xfrm>
            <a:off x="4381560" y="3977280"/>
            <a:ext cx="615960" cy="403560"/>
          </a:xfrm>
          <a:prstGeom prst="rect">
            <a:avLst/>
          </a:prstGeom>
          <a:noFill/>
          <a:ln w="28575">
            <a:solidFill>
              <a:srgbClr val="4472C4">
                <a:lumMod val="60000"/>
                <a:lumOff val="40000"/>
              </a:srgb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rIns="45720" anchor="ctr">
            <a:noAutofit/>
          </a:bodyPr>
          <a:lstStyle/>
          <a:p>
            <a:endParaRPr lang="en-US" sz="1800" b="0" u="none" strike="noStrike">
              <a:solidFill>
                <a:srgbClr val="525252"/>
              </a:solidFill>
              <a:effectLst/>
              <a:uFillTx/>
              <a:latin typeface="IntelOne Text Light"/>
            </a:endParaRPr>
          </a:p>
        </p:txBody>
      </p:sp>
      <p:sp>
        <p:nvSpPr>
          <p:cNvPr id="288" name="Rectangle 19"/>
          <p:cNvSpPr/>
          <p:nvPr/>
        </p:nvSpPr>
        <p:spPr>
          <a:xfrm>
            <a:off x="5246280" y="3442680"/>
            <a:ext cx="255240" cy="403560"/>
          </a:xfrm>
          <a:prstGeom prst="rect">
            <a:avLst/>
          </a:prstGeom>
          <a:noFill/>
          <a:ln w="28575">
            <a:solidFill>
              <a:srgbClr val="4472C4">
                <a:lumMod val="60000"/>
                <a:lumOff val="40000"/>
              </a:srgb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rIns="45720" anchor="ctr">
            <a:spAutoFit/>
          </a:bodyPr>
          <a:lstStyle/>
          <a:p>
            <a:endParaRPr lang="en-US" sz="1800" b="0" u="none" strike="noStrike">
              <a:solidFill>
                <a:srgbClr val="525252"/>
              </a:solidFill>
              <a:effectLst/>
              <a:uFillTx/>
              <a:latin typeface="IntelOne Text Light"/>
            </a:endParaRPr>
          </a:p>
        </p:txBody>
      </p:sp>
      <p:sp>
        <p:nvSpPr>
          <p:cNvPr id="289" name="Rectangle 20"/>
          <p:cNvSpPr/>
          <p:nvPr/>
        </p:nvSpPr>
        <p:spPr>
          <a:xfrm>
            <a:off x="3780360" y="4115880"/>
            <a:ext cx="328320" cy="311040"/>
          </a:xfrm>
          <a:prstGeom prst="rect">
            <a:avLst/>
          </a:prstGeom>
          <a:noFill/>
          <a:ln w="28575">
            <a:solidFill>
              <a:srgbClr val="4472C4">
                <a:lumMod val="60000"/>
                <a:lumOff val="40000"/>
              </a:srgb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rIns="45720" anchor="ctr">
            <a:noAutofit/>
          </a:bodyPr>
          <a:lstStyle/>
          <a:p>
            <a:endParaRPr lang="en-US" sz="1800" b="0" u="none" strike="noStrike">
              <a:solidFill>
                <a:srgbClr val="525252"/>
              </a:solidFill>
              <a:effectLst/>
              <a:uFillTx/>
              <a:latin typeface="IntelOne Text Light"/>
            </a:endParaRPr>
          </a:p>
        </p:txBody>
      </p:sp>
      <p:sp>
        <p:nvSpPr>
          <p:cNvPr id="290" name="Oval 5"/>
          <p:cNvSpPr/>
          <p:nvPr/>
        </p:nvSpPr>
        <p:spPr>
          <a:xfrm>
            <a:off x="2062440" y="2937960"/>
            <a:ext cx="328320" cy="311040"/>
          </a:xfrm>
          <a:prstGeom prst="ellipse">
            <a:avLst/>
          </a:prstGeom>
          <a:noFill/>
          <a:ln w="28575">
            <a:solidFill>
              <a:srgbClr val="FF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rIns="45720" anchor="ctr">
            <a:spAutoFit/>
          </a:bodyPr>
          <a:lstStyle/>
          <a:p>
            <a:endParaRPr lang="en-US" sz="1800" b="0" u="none" strike="noStrike">
              <a:solidFill>
                <a:srgbClr val="525252"/>
              </a:solidFill>
              <a:effectLst/>
              <a:uFillTx/>
              <a:latin typeface="IntelOne Text Light"/>
            </a:endParaRPr>
          </a:p>
        </p:txBody>
      </p:sp>
      <p:sp>
        <p:nvSpPr>
          <p:cNvPr id="291" name="Oval 6"/>
          <p:cNvSpPr/>
          <p:nvPr/>
        </p:nvSpPr>
        <p:spPr>
          <a:xfrm>
            <a:off x="632880" y="3990600"/>
            <a:ext cx="328320" cy="311040"/>
          </a:xfrm>
          <a:prstGeom prst="ellipse">
            <a:avLst/>
          </a:prstGeom>
          <a:noFill/>
          <a:ln w="28575">
            <a:solidFill>
              <a:srgbClr val="FF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rIns="45720" anchor="ctr">
            <a:spAutoFit/>
          </a:bodyPr>
          <a:lstStyle/>
          <a:p>
            <a:endParaRPr lang="en-US" sz="1800" b="0" u="none" strike="noStrike">
              <a:solidFill>
                <a:srgbClr val="525252"/>
              </a:solidFill>
              <a:effectLst/>
              <a:uFillTx/>
              <a:latin typeface="IntelOne Text Light"/>
            </a:endParaRPr>
          </a:p>
        </p:txBody>
      </p:sp>
      <p:sp>
        <p:nvSpPr>
          <p:cNvPr id="292" name="Oval 7"/>
          <p:cNvSpPr/>
          <p:nvPr/>
        </p:nvSpPr>
        <p:spPr>
          <a:xfrm>
            <a:off x="460080" y="4983480"/>
            <a:ext cx="328320" cy="311040"/>
          </a:xfrm>
          <a:prstGeom prst="ellipse">
            <a:avLst/>
          </a:prstGeom>
          <a:noFill/>
          <a:ln w="28575">
            <a:solidFill>
              <a:srgbClr val="FF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rIns="45720" anchor="ctr">
            <a:spAutoFit/>
          </a:bodyPr>
          <a:lstStyle/>
          <a:p>
            <a:endParaRPr lang="en-US" sz="1800" b="0" u="none" strike="noStrike">
              <a:solidFill>
                <a:srgbClr val="525252"/>
              </a:solidFill>
              <a:effectLst/>
              <a:uFillTx/>
              <a:latin typeface="IntelOne Text Light"/>
            </a:endParaRPr>
          </a:p>
        </p:txBody>
      </p:sp>
      <p:sp>
        <p:nvSpPr>
          <p:cNvPr id="293" name="Oval 8"/>
          <p:cNvSpPr/>
          <p:nvPr/>
        </p:nvSpPr>
        <p:spPr>
          <a:xfrm>
            <a:off x="1131120" y="5957640"/>
            <a:ext cx="328320" cy="311040"/>
          </a:xfrm>
          <a:prstGeom prst="ellipse">
            <a:avLst/>
          </a:prstGeom>
          <a:noFill/>
          <a:ln w="28575">
            <a:solidFill>
              <a:srgbClr val="FF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rIns="45720" anchor="ctr">
            <a:spAutoFit/>
          </a:bodyPr>
          <a:lstStyle/>
          <a:p>
            <a:endParaRPr lang="en-US" sz="1800" b="0" u="none" strike="noStrike">
              <a:solidFill>
                <a:srgbClr val="525252"/>
              </a:solidFill>
              <a:effectLst/>
              <a:uFillTx/>
              <a:latin typeface="IntelOne Text Light"/>
            </a:endParaRPr>
          </a:p>
        </p:txBody>
      </p:sp>
      <p:sp>
        <p:nvSpPr>
          <p:cNvPr id="294" name="Oval 9"/>
          <p:cNvSpPr/>
          <p:nvPr/>
        </p:nvSpPr>
        <p:spPr>
          <a:xfrm rot="8852400">
            <a:off x="2585520" y="5870520"/>
            <a:ext cx="328320" cy="529200"/>
          </a:xfrm>
          <a:prstGeom prst="ellipse">
            <a:avLst/>
          </a:prstGeom>
          <a:noFill/>
          <a:ln w="28575">
            <a:solidFill>
              <a:srgbClr val="FF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rIns="45720" anchor="ctr">
            <a:spAutoFit/>
          </a:bodyPr>
          <a:lstStyle/>
          <a:p>
            <a:endParaRPr lang="en-US" sz="1800" b="0" u="none" strike="noStrike">
              <a:solidFill>
                <a:srgbClr val="525252"/>
              </a:solidFill>
              <a:effectLst/>
              <a:uFillTx/>
              <a:latin typeface="IntelOne Text Light"/>
            </a:endParaRPr>
          </a:p>
        </p:txBody>
      </p:sp>
      <p:sp>
        <p:nvSpPr>
          <p:cNvPr id="295" name="Oval 10"/>
          <p:cNvSpPr/>
          <p:nvPr/>
        </p:nvSpPr>
        <p:spPr>
          <a:xfrm>
            <a:off x="2790000" y="3157920"/>
            <a:ext cx="328320" cy="311040"/>
          </a:xfrm>
          <a:prstGeom prst="ellipse">
            <a:avLst/>
          </a:prstGeom>
          <a:noFill/>
          <a:ln w="28575">
            <a:solidFill>
              <a:srgbClr val="FF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rIns="45720" anchor="ctr">
            <a:spAutoFit/>
          </a:bodyPr>
          <a:lstStyle/>
          <a:p>
            <a:endParaRPr lang="en-US" sz="1800" b="0" u="none" strike="noStrike">
              <a:solidFill>
                <a:srgbClr val="525252"/>
              </a:solidFill>
              <a:effectLst/>
              <a:uFillTx/>
              <a:latin typeface="IntelOne Text Light"/>
            </a:endParaRPr>
          </a:p>
        </p:txBody>
      </p:sp>
      <p:sp>
        <p:nvSpPr>
          <p:cNvPr id="296" name="Oval 12"/>
          <p:cNvSpPr/>
          <p:nvPr/>
        </p:nvSpPr>
        <p:spPr>
          <a:xfrm>
            <a:off x="3615840" y="2846520"/>
            <a:ext cx="328320" cy="311040"/>
          </a:xfrm>
          <a:prstGeom prst="ellipse">
            <a:avLst/>
          </a:prstGeom>
          <a:noFill/>
          <a:ln w="28575">
            <a:solidFill>
              <a:srgbClr val="FF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rIns="45720" anchor="ctr">
            <a:spAutoFit/>
          </a:bodyPr>
          <a:lstStyle/>
          <a:p>
            <a:endParaRPr lang="en-US" sz="1800" b="0" u="none" strike="noStrike">
              <a:solidFill>
                <a:srgbClr val="525252"/>
              </a:solidFill>
              <a:effectLst/>
              <a:uFillTx/>
              <a:latin typeface="IntelOne Text Light"/>
            </a:endParaRPr>
          </a:p>
        </p:txBody>
      </p:sp>
      <p:sp>
        <p:nvSpPr>
          <p:cNvPr id="297" name="Rectangle 23"/>
          <p:cNvSpPr/>
          <p:nvPr/>
        </p:nvSpPr>
        <p:spPr>
          <a:xfrm>
            <a:off x="3366360" y="3183480"/>
            <a:ext cx="255240" cy="197280"/>
          </a:xfrm>
          <a:prstGeom prst="rect">
            <a:avLst/>
          </a:prstGeom>
          <a:noFill/>
          <a:ln w="28575">
            <a:solidFill>
              <a:srgbClr val="4472C4">
                <a:lumMod val="60000"/>
                <a:lumOff val="40000"/>
              </a:srgb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rIns="45720" anchor="ctr">
            <a:noAutofit/>
          </a:bodyPr>
          <a:lstStyle/>
          <a:p>
            <a:endParaRPr lang="en-US" sz="1800" b="0" u="none" strike="noStrike">
              <a:solidFill>
                <a:srgbClr val="525252"/>
              </a:solidFill>
              <a:effectLst/>
              <a:uFillTx/>
              <a:latin typeface="IntelOne Text Light"/>
            </a:endParaRPr>
          </a:p>
        </p:txBody>
      </p:sp>
      <p:sp>
        <p:nvSpPr>
          <p:cNvPr id="298" name="TextBox 37"/>
          <p:cNvSpPr/>
          <p:nvPr/>
        </p:nvSpPr>
        <p:spPr>
          <a:xfrm>
            <a:off x="457200" y="1417320"/>
            <a:ext cx="5623200" cy="26892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rIns="4572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4A5B70"/>
                </a:solidFill>
                <a:effectLst/>
                <a:uFillTx/>
                <a:latin typeface="Geist SemiBold"/>
                <a:ea typeface="Geist SemiBold"/>
              </a:rPr>
              <a:t>Distribution of Type 2 categories 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Box 38"/>
          <p:cNvSpPr/>
          <p:nvPr/>
        </p:nvSpPr>
        <p:spPr>
          <a:xfrm>
            <a:off x="6537960" y="1417320"/>
            <a:ext cx="5193360" cy="32292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rIns="4572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4A5B70"/>
                </a:solidFill>
                <a:effectLst/>
                <a:uFillTx/>
                <a:latin typeface="Geist SemiBold"/>
                <a:ea typeface="Geist SemiBold"/>
              </a:rPr>
              <a:t>Comparing two clusters for C12 (Center + Local)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0" name="Picture 40"/>
          <p:cNvPicPr/>
          <p:nvPr/>
        </p:nvPicPr>
        <p:blipFill>
          <a:blip r:embed="rId4"/>
          <a:stretch/>
        </p:blipFill>
        <p:spPr>
          <a:xfrm>
            <a:off x="6537960" y="3429000"/>
            <a:ext cx="2500920" cy="178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1" name="TextBox 41"/>
          <p:cNvSpPr/>
          <p:nvPr/>
        </p:nvSpPr>
        <p:spPr>
          <a:xfrm>
            <a:off x="7251120" y="3934080"/>
            <a:ext cx="1755720" cy="42120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rIns="4572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Different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2" name="Picture 43"/>
          <p:cNvPicPr/>
          <p:nvPr/>
        </p:nvPicPr>
        <p:blipFill>
          <a:blip r:embed="rId5"/>
          <a:stretch/>
        </p:blipFill>
        <p:spPr>
          <a:xfrm>
            <a:off x="9349920" y="3429000"/>
            <a:ext cx="2381400" cy="1782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3" name="TextBox 44"/>
          <p:cNvSpPr/>
          <p:nvPr/>
        </p:nvSpPr>
        <p:spPr>
          <a:xfrm>
            <a:off x="10357560" y="3893040"/>
            <a:ext cx="1041120" cy="42120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rIns="4572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Same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4" name="Picture 46"/>
          <p:cNvPicPr/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74560" y="1856160"/>
            <a:ext cx="1567080" cy="135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5" name="TextBox 13"/>
          <p:cNvSpPr/>
          <p:nvPr/>
        </p:nvSpPr>
        <p:spPr>
          <a:xfrm>
            <a:off x="7020000" y="5440680"/>
            <a:ext cx="786960" cy="28836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rIns="4572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 None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Oval 14"/>
          <p:cNvSpPr/>
          <p:nvPr/>
        </p:nvSpPr>
        <p:spPr>
          <a:xfrm>
            <a:off x="6772320" y="5542560"/>
            <a:ext cx="167760" cy="107280"/>
          </a:xfrm>
          <a:prstGeom prst="ellipse">
            <a:avLst/>
          </a:prstGeom>
          <a:noFill/>
          <a:ln w="19050">
            <a:solidFill>
              <a:srgbClr val="FF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38160" rIns="45720" bIns="38160" anchor="ctr">
            <a:spAutoFit/>
          </a:bodyPr>
          <a:lstStyle/>
          <a:p>
            <a:endParaRPr lang="en-US" sz="1800" b="0" u="none" strike="noStrike">
              <a:solidFill>
                <a:srgbClr val="525252"/>
              </a:solidFill>
              <a:effectLst/>
              <a:uFillTx/>
              <a:latin typeface="IntelOne Text Light"/>
            </a:endParaRPr>
          </a:p>
        </p:txBody>
      </p:sp>
      <p:sp>
        <p:nvSpPr>
          <p:cNvPr id="307" name="Rectangle 27"/>
          <p:cNvSpPr/>
          <p:nvPr/>
        </p:nvSpPr>
        <p:spPr>
          <a:xfrm>
            <a:off x="6680880" y="5842440"/>
            <a:ext cx="237600" cy="107280"/>
          </a:xfrm>
          <a:prstGeom prst="rect">
            <a:avLst/>
          </a:prstGeom>
          <a:noFill/>
          <a:ln w="28575">
            <a:solidFill>
              <a:srgbClr val="4472C4">
                <a:lumMod val="60000"/>
                <a:lumOff val="40000"/>
              </a:srgb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rIns="45720" anchor="ctr">
            <a:noAutofit/>
          </a:bodyPr>
          <a:lstStyle/>
          <a:p>
            <a:endParaRPr lang="en-US" sz="1800" b="0" u="none" strike="noStrike">
              <a:solidFill>
                <a:srgbClr val="525252"/>
              </a:solidFill>
              <a:effectLst/>
              <a:uFillTx/>
              <a:latin typeface="IntelOne Text Light"/>
            </a:endParaRPr>
          </a:p>
        </p:txBody>
      </p:sp>
      <p:sp>
        <p:nvSpPr>
          <p:cNvPr id="308" name="TextBox 31"/>
          <p:cNvSpPr/>
          <p:nvPr/>
        </p:nvSpPr>
        <p:spPr>
          <a:xfrm>
            <a:off x="7020000" y="5753520"/>
            <a:ext cx="1416960" cy="28836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rIns="4572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 1 sub-type 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Box 32"/>
          <p:cNvSpPr/>
          <p:nvPr/>
        </p:nvSpPr>
        <p:spPr>
          <a:xfrm>
            <a:off x="7072920" y="6066360"/>
            <a:ext cx="1522080" cy="28836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rIns="4572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 &gt; 1 sub-type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Box 34"/>
          <p:cNvSpPr/>
          <p:nvPr/>
        </p:nvSpPr>
        <p:spPr>
          <a:xfrm>
            <a:off x="6537960" y="6078600"/>
            <a:ext cx="761400" cy="26604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rest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1" name="Picture 48"/>
          <p:cNvPicPr/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9590760" y="1856160"/>
            <a:ext cx="2023200" cy="135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2" name="TextBox 49"/>
          <p:cNvSpPr/>
          <p:nvPr/>
        </p:nvSpPr>
        <p:spPr>
          <a:xfrm>
            <a:off x="8778240" y="2250360"/>
            <a:ext cx="639720" cy="39960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rIns="45720" anchor="ctr">
            <a:sp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7A2331"/>
                </a:solidFill>
                <a:effectLst/>
                <a:uFillTx/>
                <a:latin typeface="Newsreader Medium"/>
                <a:ea typeface="Newsreader Medium"/>
              </a:rPr>
              <a:t>VS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Box 52"/>
          <p:cNvSpPr/>
          <p:nvPr/>
        </p:nvSpPr>
        <p:spPr>
          <a:xfrm>
            <a:off x="8759880" y="5535360"/>
            <a:ext cx="2971440" cy="60912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rIns="45720" anchor="ctr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B3139"/>
                </a:solidFill>
                <a:effectLst/>
                <a:uFillTx/>
                <a:latin typeface="Geist SemiBold"/>
                <a:ea typeface="Geist SemiBold"/>
              </a:rPr>
              <a:t>Same defect class, different morphology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Rectangle 53"/>
          <p:cNvSpPr/>
          <p:nvPr/>
        </p:nvSpPr>
        <p:spPr>
          <a:xfrm>
            <a:off x="457200" y="1161360"/>
            <a:ext cx="11274120" cy="27000"/>
          </a:xfrm>
          <a:prstGeom prst="rect">
            <a:avLst/>
          </a:prstGeom>
          <a:solidFill>
            <a:srgbClr val="4A5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7640" rIns="90000" bIns="-1764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Text 0"/>
          <p:cNvSpPr/>
          <p:nvPr/>
        </p:nvSpPr>
        <p:spPr>
          <a:xfrm>
            <a:off x="609480" y="5236560"/>
            <a:ext cx="34538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88000"/>
              </a:lnSpc>
              <a:tabLst>
                <a:tab pos="0" algn="l"/>
              </a:tabLst>
            </a:pPr>
            <a:r>
              <a:rPr lang="en-US" sz="4800" b="0" u="none" strike="noStrike" spc="-96">
                <a:solidFill>
                  <a:srgbClr val="4A5B70"/>
                </a:solidFill>
                <a:effectLst/>
                <a:uFillTx/>
                <a:latin typeface="Newsreader Medium"/>
                <a:ea typeface="Newsreader Medium"/>
              </a:rPr>
              <a:t>5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2"/>
          <p:cNvSpPr/>
          <p:nvPr/>
        </p:nvSpPr>
        <p:spPr>
          <a:xfrm>
            <a:off x="4927320" y="2031480"/>
            <a:ext cx="7263720" cy="18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 spc="91">
                <a:solidFill>
                  <a:srgbClr val="4A5B70"/>
                </a:solidFill>
                <a:effectLst/>
                <a:uFillTx/>
                <a:latin typeface="Geist SemiBold"/>
                <a:ea typeface="Geist SemiBold"/>
              </a:rPr>
              <a:t>PART 5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3"/>
          <p:cNvSpPr/>
          <p:nvPr/>
        </p:nvSpPr>
        <p:spPr>
          <a:xfrm>
            <a:off x="4927320" y="2304360"/>
            <a:ext cx="665424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lnSpcReduction="10000"/>
          </a:bodyPr>
          <a:lstStyle/>
          <a:p>
            <a:pPr defTabSz="914400">
              <a:lnSpc>
                <a:spcPct val="88000"/>
              </a:lnSpc>
              <a:tabLst>
                <a:tab pos="0" algn="l"/>
              </a:tabLst>
            </a:pPr>
            <a:r>
              <a:rPr lang="en-US" sz="4800" b="0" u="none" strike="noStrike" spc="-71">
                <a:solidFill>
                  <a:srgbClr val="1B2638"/>
                </a:solidFill>
                <a:effectLst/>
                <a:uFillTx/>
                <a:latin typeface="Newsreader Medium"/>
                <a:ea typeface="Newsreader Medium"/>
              </a:rPr>
              <a:t>Architecture, complexity and interpretability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Shape 4"/>
          <p:cNvSpPr/>
          <p:nvPr/>
        </p:nvSpPr>
        <p:spPr>
          <a:xfrm>
            <a:off x="4927320" y="3858840"/>
            <a:ext cx="6654240" cy="31320"/>
          </a:xfrm>
          <a:prstGeom prst="roundRect">
            <a:avLst>
              <a:gd name="adj" fmla="val 49998"/>
            </a:avLst>
          </a:prstGeom>
          <a:solidFill>
            <a:srgbClr val="4A5B7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2320" rIns="90000" bIns="-2232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9" name="Text 5"/>
          <p:cNvSpPr/>
          <p:nvPr/>
        </p:nvSpPr>
        <p:spPr>
          <a:xfrm>
            <a:off x="4927320" y="4143240"/>
            <a:ext cx="6654240" cy="68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18000"/>
              </a:lnSpc>
            </a:pPr>
            <a:r>
              <a:rPr lang="en-US" sz="1900" b="0" u="none" strike="noStrike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Design choices · algorithmic cost with measured timings · build vs buy ·  tracing model output back to silicon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6"/>
          <p:cNvSpPr/>
          <p:nvPr/>
        </p:nvSpPr>
        <p:spPr>
          <a:xfrm>
            <a:off x="4464000" y="0"/>
            <a:ext cx="12240" cy="6857640"/>
          </a:xfrm>
          <a:prstGeom prst="rect">
            <a:avLst/>
          </a:prstGeom>
          <a:solidFill>
            <a:srgbClr val="D8D1C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Text 0"/>
          <p:cNvSpPr/>
          <p:nvPr/>
        </p:nvSpPr>
        <p:spPr>
          <a:xfrm>
            <a:off x="457200" y="457200"/>
            <a:ext cx="11277000" cy="43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92000"/>
              </a:lnSpc>
              <a:tabLst>
                <a:tab pos="0" algn="l"/>
              </a:tabLst>
            </a:pPr>
            <a:r>
              <a:rPr lang="en-US" sz="3100" b="0" u="none" strike="noStrike" spc="-31">
                <a:solidFill>
                  <a:srgbClr val="1B2638"/>
                </a:solidFill>
                <a:effectLst/>
                <a:uFillTx/>
                <a:latin typeface="Newsreader Medium"/>
                <a:ea typeface="Newsreader Medium"/>
              </a:rPr>
              <a:t>Six decisions that shape a DTDA system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1"/>
          <p:cNvSpPr/>
          <p:nvPr/>
        </p:nvSpPr>
        <p:spPr>
          <a:xfrm>
            <a:off x="457200" y="1164960"/>
            <a:ext cx="11277000" cy="31320"/>
          </a:xfrm>
          <a:prstGeom prst="roundRect">
            <a:avLst>
              <a:gd name="adj" fmla="val 49998"/>
            </a:avLst>
          </a:prstGeom>
          <a:solidFill>
            <a:srgbClr val="4A5B7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2320" rIns="90000" bIns="-2232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3" name="Text 2"/>
          <p:cNvSpPr/>
          <p:nvPr/>
        </p:nvSpPr>
        <p:spPr>
          <a:xfrm>
            <a:off x="457200" y="1449000"/>
            <a:ext cx="11277000" cy="201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marL="325080" indent="-325080" defTabSz="914400">
              <a:lnSpc>
                <a:spcPct val="118000"/>
              </a:lnSpc>
              <a:buClr>
                <a:srgbClr val="2B3139"/>
              </a:buClr>
              <a:buFont typeface="Calibri Light"/>
              <a:buAutoNum type="arabicPeriod"/>
            </a:pPr>
            <a:r>
              <a:rPr lang="en-US" sz="1600" b="1" u="none" strike="noStrike">
                <a:solidFill>
                  <a:srgbClr val="2B3139"/>
                </a:solidFill>
                <a:effectLst/>
                <a:uFillTx/>
                <a:latin typeface="Geist Bold"/>
                <a:ea typeface="Geist Bold"/>
              </a:rPr>
              <a:t>Representation:</a:t>
            </a:r>
            <a:r>
              <a:rPr lang="en-US" sz="1600" b="0" u="none" strike="noStrike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 Rips · cubical · Mapper, matched to the data type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5080" indent="-325080" defTabSz="914400">
              <a:lnSpc>
                <a:spcPct val="118000"/>
              </a:lnSpc>
              <a:buClr>
                <a:srgbClr val="2B3139"/>
              </a:buClr>
              <a:buFont typeface="Calibri Light"/>
              <a:buAutoNum type="arabicPeriod" startAt="2"/>
            </a:pPr>
            <a:r>
              <a:rPr lang="en-US" sz="1600" b="1" u="none" strike="noStrike">
                <a:solidFill>
                  <a:srgbClr val="2B3139"/>
                </a:solidFill>
                <a:effectLst/>
                <a:uFillTx/>
                <a:latin typeface="Geist Bold"/>
                <a:ea typeface="Geist Bold"/>
              </a:rPr>
              <a:t>Filtration function:</a:t>
            </a:r>
            <a:r>
              <a:rPr lang="en-US" sz="1600" b="0" u="none" strike="noStrike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 distance, intensity, correlation or model score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5080" indent="-325080" defTabSz="914400">
              <a:lnSpc>
                <a:spcPct val="118000"/>
              </a:lnSpc>
              <a:buClr>
                <a:srgbClr val="2B3139"/>
              </a:buClr>
              <a:buFont typeface="Calibri Light"/>
              <a:buAutoNum type="arabicPeriod" startAt="3"/>
            </a:pPr>
            <a:r>
              <a:rPr lang="en-US" sz="1600" b="1" u="none" strike="noStrike">
                <a:solidFill>
                  <a:srgbClr val="2B3139"/>
                </a:solidFill>
                <a:effectLst/>
                <a:uFillTx/>
                <a:latin typeface="Geist Bold"/>
                <a:ea typeface="Geist Bold"/>
              </a:rPr>
              <a:t>Vectorisation:</a:t>
            </a:r>
            <a:r>
              <a:rPr lang="en-US" sz="1600" b="0" u="none" strike="noStrike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 fixed (stats, landscapes, images) or learned layers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5080" indent="-325080" defTabSz="914400">
              <a:lnSpc>
                <a:spcPct val="118000"/>
              </a:lnSpc>
              <a:buClr>
                <a:srgbClr val="2B3139"/>
              </a:buClr>
              <a:buFont typeface="Calibri Light"/>
              <a:buAutoNum type="arabicPeriod" startAt="4"/>
            </a:pPr>
            <a:r>
              <a:rPr lang="en-US" sz="1600" b="1" u="none" strike="noStrike">
                <a:solidFill>
                  <a:srgbClr val="2B3139"/>
                </a:solidFill>
                <a:effectLst/>
                <a:uFillTx/>
                <a:latin typeface="Geist Bold"/>
                <a:ea typeface="Geist Bold"/>
              </a:rPr>
              <a:t>Fusion point:</a:t>
            </a:r>
            <a:r>
              <a:rPr lang="en-US" sz="1600" b="0" u="none" strike="noStrike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 early concatenation with embeddings, or late combination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5080" indent="-325080" defTabSz="914400">
              <a:lnSpc>
                <a:spcPct val="118000"/>
              </a:lnSpc>
              <a:buClr>
                <a:srgbClr val="2B3139"/>
              </a:buClr>
              <a:buFont typeface="Calibri Light"/>
              <a:buAutoNum type="arabicPeriod" startAt="5"/>
            </a:pPr>
            <a:r>
              <a:rPr lang="en-US" sz="1600" b="1" u="none" strike="noStrike">
                <a:solidFill>
                  <a:srgbClr val="2B3139"/>
                </a:solidFill>
                <a:effectLst/>
                <a:uFillTx/>
                <a:latin typeface="Geist Bold"/>
                <a:ea typeface="Geist Bold"/>
              </a:rPr>
              <a:t>Inference:</a:t>
            </a:r>
            <a:r>
              <a:rPr lang="en-US" sz="1600" b="0" u="none" strike="noStrike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 calibrated thresholds; false-alarm rate on held-out normal data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5080" indent="-325080" defTabSz="914400">
              <a:lnSpc>
                <a:spcPct val="118000"/>
              </a:lnSpc>
              <a:buClr>
                <a:srgbClr val="2B3139"/>
              </a:buClr>
              <a:buFont typeface="Calibri Light"/>
              <a:buAutoNum type="arabicPeriod" startAt="6"/>
            </a:pPr>
            <a:r>
              <a:rPr lang="en-US" sz="1600" b="1" u="none" strike="noStrike">
                <a:solidFill>
                  <a:srgbClr val="2B3139"/>
                </a:solidFill>
                <a:effectLst/>
                <a:uFillTx/>
                <a:latin typeface="Geist Bold"/>
                <a:ea typeface="Geist Bold"/>
              </a:rPr>
              <a:t>Deployment cadence:</a:t>
            </a:r>
            <a:r>
              <a:rPr lang="en-US" sz="1600" b="0" u="none" strike="noStrike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 batch per lot or wafer · streaming windows · cache diagrams · landmarks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Text 0"/>
          <p:cNvSpPr/>
          <p:nvPr/>
        </p:nvSpPr>
        <p:spPr>
          <a:xfrm>
            <a:off x="457200" y="457200"/>
            <a:ext cx="11277000" cy="43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92000"/>
              </a:lnSpc>
              <a:tabLst>
                <a:tab pos="0" algn="l"/>
              </a:tabLst>
            </a:pPr>
            <a:r>
              <a:rPr lang="en-US" sz="3100" b="0" u="none" strike="noStrike" spc="-31">
                <a:solidFill>
                  <a:srgbClr val="1B2638"/>
                </a:solidFill>
                <a:effectLst/>
                <a:uFillTx/>
                <a:latin typeface="Newsreader Medium"/>
                <a:ea typeface="Newsreader Medium"/>
              </a:rPr>
              <a:t>Strengths, weaknesses, and when to choose it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Shape 1"/>
          <p:cNvSpPr/>
          <p:nvPr/>
        </p:nvSpPr>
        <p:spPr>
          <a:xfrm>
            <a:off x="457200" y="1164960"/>
            <a:ext cx="11277000" cy="31320"/>
          </a:xfrm>
          <a:prstGeom prst="roundRect">
            <a:avLst>
              <a:gd name="adj" fmla="val 49998"/>
            </a:avLst>
          </a:prstGeom>
          <a:solidFill>
            <a:srgbClr val="4A5B7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2320" rIns="90000" bIns="-223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26" name="Text 2"/>
          <p:cNvSpPr/>
          <p:nvPr/>
        </p:nvSpPr>
        <p:spPr>
          <a:xfrm>
            <a:off x="457200" y="1449000"/>
            <a:ext cx="11277000" cy="63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marL="325080" indent="-325080" defTabSz="914400">
              <a:lnSpc>
                <a:spcPct val="118000"/>
              </a:lnSpc>
              <a:buClr>
                <a:srgbClr val="2B3139"/>
              </a:buClr>
              <a:buFont typeface="Symbol" charset="2"/>
              <a:buChar char=""/>
            </a:pPr>
            <a:r>
              <a:rPr lang="en-US" sz="1600" b="1" u="none" strike="noStrike">
                <a:solidFill>
                  <a:srgbClr val="2B3139"/>
                </a:solidFill>
                <a:effectLst/>
                <a:uFillTx/>
                <a:latin typeface="Geist Bold"/>
                <a:ea typeface="Geist Bold"/>
              </a:rPr>
              <a:t>Strengths:</a:t>
            </a:r>
            <a:r>
              <a:rPr lang="en-US" sz="1600" b="0" u="none" strike="noStrike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 coordinate-free · stable under small noise · global, multi-scale structure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5080" indent="-325080" defTabSz="914400">
              <a:lnSpc>
                <a:spcPct val="118000"/>
              </a:lnSpc>
              <a:buClr>
                <a:srgbClr val="2B3139"/>
              </a:buClr>
              <a:buFont typeface="Symbol" charset="2"/>
              <a:buChar char=""/>
            </a:pPr>
            <a:r>
              <a:rPr lang="en-US" sz="1600" b="1" u="none" strike="noStrike">
                <a:solidFill>
                  <a:srgbClr val="2B3139"/>
                </a:solidFill>
                <a:effectLst/>
                <a:uFillTx/>
                <a:latin typeface="Geist Bold"/>
                <a:ea typeface="Geist Bold"/>
              </a:rPr>
              <a:t>Weaknesses:</a:t>
            </a:r>
            <a:r>
              <a:rPr lang="en-US" sz="1600" b="0" u="none" strike="noStrike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 cost grows fast with n and dimension · interpretation needs care · vectorisation needed for ML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3"/>
          <p:cNvSpPr/>
          <p:nvPr/>
        </p:nvSpPr>
        <p:spPr>
          <a:xfrm>
            <a:off x="457200" y="2288520"/>
            <a:ext cx="11734200" cy="18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 spc="91">
                <a:solidFill>
                  <a:srgbClr val="4A5B70"/>
                </a:solidFill>
                <a:effectLst/>
                <a:uFillTx/>
                <a:latin typeface="Geist SemiBold"/>
                <a:ea typeface="Geist SemiBold"/>
              </a:rPr>
              <a:t>WHEN TO REACH FOR TDA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28" name="Table 0"/>
          <p:cNvGraphicFramePr/>
          <p:nvPr/>
        </p:nvGraphicFramePr>
        <p:xfrm>
          <a:off x="457200" y="2672280"/>
          <a:ext cx="11277000" cy="3345840"/>
        </p:xfrm>
        <a:graphic>
          <a:graphicData uri="http://schemas.openxmlformats.org/drawingml/2006/table">
            <a:tbl>
              <a:tblPr/>
              <a:tblGrid>
                <a:gridCol w="473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23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36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B2638"/>
                          </a:solidFill>
                          <a:effectLst/>
                          <a:uFillTx/>
                          <a:latin typeface="Geist"/>
                          <a:ea typeface="Geist"/>
                        </a:rPr>
                        <a:t>Your question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52280" marR="152280" marT="81000" marB="81000" anchor="ctr">
                    <a:lnL w="12240">
                      <a:solidFill>
                        <a:srgbClr val="FAF7F0"/>
                      </a:solidFill>
                      <a:prstDash val="solid"/>
                    </a:lnL>
                    <a:lnR w="12240">
                      <a:solidFill>
                        <a:srgbClr val="FAF7F0"/>
                      </a:solidFill>
                      <a:prstDash val="solid"/>
                    </a:lnR>
                    <a:lnT w="12240">
                      <a:solidFill>
                        <a:srgbClr val="FAF7F0"/>
                      </a:solidFill>
                      <a:prstDash val="solid"/>
                    </a:lnT>
                    <a:lnB w="12240">
                      <a:solidFill>
                        <a:srgbClr val="D8D1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B2638"/>
                          </a:solidFill>
                          <a:effectLst/>
                          <a:uFillTx/>
                          <a:latin typeface="Geist"/>
                          <a:ea typeface="Geist"/>
                        </a:rPr>
                        <a:t>Reach for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52280" marR="152280" marT="81000" marB="81000" anchor="ctr">
                    <a:lnL w="12240">
                      <a:solidFill>
                        <a:srgbClr val="FAF7F0"/>
                      </a:solidFill>
                      <a:prstDash val="solid"/>
                    </a:lnL>
                    <a:lnR w="12240">
                      <a:solidFill>
                        <a:srgbClr val="FAF7F0"/>
                      </a:solidFill>
                      <a:prstDash val="solid"/>
                    </a:lnR>
                    <a:lnT w="12240">
                      <a:solidFill>
                        <a:srgbClr val="FAF7F0"/>
                      </a:solidFill>
                      <a:prstDash val="solid"/>
                    </a:lnT>
                    <a:lnB w="12240">
                      <a:solidFill>
                        <a:srgbClr val="D8D1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B2638"/>
                          </a:solidFill>
                          <a:effectLst/>
                          <a:uFillTx/>
                          <a:latin typeface="Geist"/>
                          <a:ea typeface="Geist"/>
                        </a:rPr>
                        <a:t>TDA adds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52280" marR="152280" marT="81000" marB="81000" anchor="ctr">
                    <a:lnL w="12240">
                      <a:solidFill>
                        <a:srgbClr val="FAF7F0"/>
                      </a:solidFill>
                      <a:prstDash val="solid"/>
                    </a:lnL>
                    <a:lnR w="12240">
                      <a:solidFill>
                        <a:srgbClr val="FAF7F0"/>
                      </a:solidFill>
                      <a:prstDash val="solid"/>
                    </a:lnR>
                    <a:lnT w="12240">
                      <a:solidFill>
                        <a:srgbClr val="FAF7F0"/>
                      </a:solidFill>
                      <a:prstDash val="solid"/>
                    </a:lnT>
                    <a:lnB w="12240">
                      <a:solidFill>
                        <a:srgbClr val="D8D1C4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20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2B3139"/>
                          </a:solidFill>
                          <a:effectLst/>
                          <a:uFillTx/>
                          <a:latin typeface="Geist"/>
                          <a:ea typeface="Geist"/>
                        </a:rPr>
                        <a:t>Which group does each point belong to?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52280" marR="152280" marT="81000" marB="81000" anchor="ctr">
                    <a:lnL w="12240">
                      <a:solidFill>
                        <a:srgbClr val="FAF7F0"/>
                      </a:solidFill>
                      <a:prstDash val="solid"/>
                    </a:lnL>
                    <a:lnR w="12240">
                      <a:solidFill>
                        <a:srgbClr val="FAF7F0"/>
                      </a:solidFill>
                      <a:prstDash val="solid"/>
                    </a:lnR>
                    <a:lnT w="12240">
                      <a:solidFill>
                        <a:srgbClr val="D8D1C4"/>
                      </a:solidFill>
                      <a:prstDash val="solid"/>
                    </a:lnT>
                    <a:lnB w="12240">
                      <a:solidFill>
                        <a:srgbClr val="D8D1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2B3139"/>
                          </a:solidFill>
                          <a:effectLst/>
                          <a:uFillTx/>
                          <a:latin typeface="Geist"/>
                          <a:ea typeface="Geist"/>
                        </a:rPr>
                        <a:t>Clustering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52280" marR="152280" marT="81000" marB="81000" anchor="ctr">
                    <a:lnL w="12240">
                      <a:solidFill>
                        <a:srgbClr val="FAF7F0"/>
                      </a:solidFill>
                      <a:prstDash val="solid"/>
                    </a:lnL>
                    <a:lnR w="12240">
                      <a:solidFill>
                        <a:srgbClr val="FAF7F0"/>
                      </a:solidFill>
                      <a:prstDash val="solid"/>
                    </a:lnR>
                    <a:lnT w="12240">
                      <a:solidFill>
                        <a:srgbClr val="D8D1C4"/>
                      </a:solidFill>
                      <a:prstDash val="solid"/>
                    </a:lnT>
                    <a:lnB w="12240">
                      <a:solidFill>
                        <a:srgbClr val="D8D1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2B3139"/>
                          </a:solidFill>
                          <a:effectLst/>
                          <a:uFillTx/>
                          <a:latin typeface="Geist"/>
                          <a:ea typeface="Geist"/>
                        </a:rPr>
                        <a:t>H0 barcode shows at what scale clusters merge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52280" marR="152280" marT="81000" marB="81000" anchor="ctr">
                    <a:lnL w="12240">
                      <a:solidFill>
                        <a:srgbClr val="FAF7F0"/>
                      </a:solidFill>
                      <a:prstDash val="solid"/>
                    </a:lnL>
                    <a:lnR w="12240">
                      <a:solidFill>
                        <a:srgbClr val="FAF7F0"/>
                      </a:solidFill>
                      <a:prstDash val="solid"/>
                    </a:lnR>
                    <a:lnT w="12240">
                      <a:solidFill>
                        <a:srgbClr val="D8D1C4"/>
                      </a:solidFill>
                      <a:prstDash val="solid"/>
                    </a:lnT>
                    <a:lnB w="12240">
                      <a:solidFill>
                        <a:srgbClr val="D8D1C4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6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2B3139"/>
                          </a:solidFill>
                          <a:effectLst/>
                          <a:uFillTx/>
                          <a:latin typeface="Geist"/>
                          <a:ea typeface="Geist"/>
                        </a:rPr>
                        <a:t>What does the data look like in 2-D?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52280" marR="152280" marT="81000" marB="81000" anchor="ctr">
                    <a:lnL w="12240">
                      <a:solidFill>
                        <a:srgbClr val="FAF7F0"/>
                      </a:solidFill>
                      <a:prstDash val="solid"/>
                    </a:lnL>
                    <a:lnR w="12240">
                      <a:solidFill>
                        <a:srgbClr val="FAF7F0"/>
                      </a:solidFill>
                      <a:prstDash val="solid"/>
                    </a:lnR>
                    <a:lnT w="12240">
                      <a:solidFill>
                        <a:srgbClr val="D8D1C4"/>
                      </a:solidFill>
                      <a:prstDash val="solid"/>
                    </a:lnT>
                    <a:lnB w="12240">
                      <a:solidFill>
                        <a:srgbClr val="D8D1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2B3139"/>
                          </a:solidFill>
                          <a:effectLst/>
                          <a:uFillTx/>
                          <a:latin typeface="Geist"/>
                          <a:ea typeface="Geist"/>
                        </a:rPr>
                        <a:t>PCA / UMAP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52280" marR="152280" marT="81000" marB="81000" anchor="ctr">
                    <a:lnL w="12240">
                      <a:solidFill>
                        <a:srgbClr val="FAF7F0"/>
                      </a:solidFill>
                      <a:prstDash val="solid"/>
                    </a:lnL>
                    <a:lnR w="12240">
                      <a:solidFill>
                        <a:srgbClr val="FAF7F0"/>
                      </a:solidFill>
                      <a:prstDash val="solid"/>
                    </a:lnR>
                    <a:lnT w="12240">
                      <a:solidFill>
                        <a:srgbClr val="D8D1C4"/>
                      </a:solidFill>
                      <a:prstDash val="solid"/>
                    </a:lnT>
                    <a:lnB w="12240">
                      <a:solidFill>
                        <a:srgbClr val="D8D1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2B3139"/>
                          </a:solidFill>
                          <a:effectLst/>
                          <a:uFillTx/>
                          <a:latin typeface="Geist"/>
                          <a:ea typeface="Geist"/>
                        </a:rPr>
                        <a:t>Check that loops or branches are real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52280" marR="152280" marT="81000" marB="81000" anchor="ctr">
                    <a:lnL w="12240">
                      <a:solidFill>
                        <a:srgbClr val="FAF7F0"/>
                      </a:solidFill>
                      <a:prstDash val="solid"/>
                    </a:lnL>
                    <a:lnR w="12240">
                      <a:solidFill>
                        <a:srgbClr val="FAF7F0"/>
                      </a:solidFill>
                      <a:prstDash val="solid"/>
                    </a:lnR>
                    <a:lnT w="12240">
                      <a:solidFill>
                        <a:srgbClr val="D8D1C4"/>
                      </a:solidFill>
                      <a:prstDash val="solid"/>
                    </a:lnT>
                    <a:lnB w="12240">
                      <a:solidFill>
                        <a:srgbClr val="D8D1C4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36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2B3139"/>
                          </a:solidFill>
                          <a:effectLst/>
                          <a:uFillTx/>
                          <a:latin typeface="Geist"/>
                          <a:ea typeface="Geist"/>
                        </a:rPr>
                        <a:t>Relations are given as edges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52280" marR="152280" marT="81000" marB="81000" anchor="ctr">
                    <a:lnL w="12240">
                      <a:solidFill>
                        <a:srgbClr val="FAF7F0"/>
                      </a:solidFill>
                      <a:prstDash val="solid"/>
                    </a:lnL>
                    <a:lnR w="12240">
                      <a:solidFill>
                        <a:srgbClr val="FAF7F0"/>
                      </a:solidFill>
                      <a:prstDash val="solid"/>
                    </a:lnR>
                    <a:lnT w="12240">
                      <a:solidFill>
                        <a:srgbClr val="D8D1C4"/>
                      </a:solidFill>
                      <a:prstDash val="solid"/>
                    </a:lnT>
                    <a:lnB w="12240">
                      <a:solidFill>
                        <a:srgbClr val="D8D1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2B3139"/>
                          </a:solidFill>
                          <a:effectLst/>
                          <a:uFillTx/>
                          <a:latin typeface="Geist"/>
                          <a:ea typeface="Geist"/>
                        </a:rPr>
                        <a:t>Graph analytics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52280" marR="152280" marT="81000" marB="81000" anchor="ctr">
                    <a:lnL w="12240">
                      <a:solidFill>
                        <a:srgbClr val="FAF7F0"/>
                      </a:solidFill>
                      <a:prstDash val="solid"/>
                    </a:lnL>
                    <a:lnR w="12240">
                      <a:solidFill>
                        <a:srgbClr val="FAF7F0"/>
                      </a:solidFill>
                      <a:prstDash val="solid"/>
                    </a:lnR>
                    <a:lnT w="12240">
                      <a:solidFill>
                        <a:srgbClr val="D8D1C4"/>
                      </a:solidFill>
                      <a:prstDash val="solid"/>
                    </a:lnT>
                    <a:lnB w="12240">
                      <a:solidFill>
                        <a:srgbClr val="D8D1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2B3139"/>
                          </a:solidFill>
                          <a:effectLst/>
                          <a:uFillTx/>
                          <a:latin typeface="Geist"/>
                          <a:ea typeface="Geist"/>
                        </a:rPr>
                        <a:t>Persistence on graph distances or weights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52280" marR="152280" marT="81000" marB="81000" anchor="ctr">
                    <a:lnL w="12240">
                      <a:solidFill>
                        <a:srgbClr val="FAF7F0"/>
                      </a:solidFill>
                      <a:prstDash val="solid"/>
                    </a:lnL>
                    <a:lnR w="12240">
                      <a:solidFill>
                        <a:srgbClr val="FAF7F0"/>
                      </a:solidFill>
                      <a:prstDash val="solid"/>
                    </a:lnR>
                    <a:lnT w="12240">
                      <a:solidFill>
                        <a:srgbClr val="D8D1C4"/>
                      </a:solidFill>
                      <a:prstDash val="solid"/>
                    </a:lnT>
                    <a:lnB w="12240">
                      <a:solidFill>
                        <a:srgbClr val="D8D1C4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20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2B3139"/>
                          </a:solidFill>
                          <a:effectLst/>
                          <a:uFillTx/>
                          <a:latin typeface="Geist"/>
                          <a:ea typeface="Geist"/>
                        </a:rPr>
                        <a:t>Are there loops, voids, multi-scale structure?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52280" marR="152280" marT="81000" marB="81000" anchor="ctr">
                    <a:lnL w="12240">
                      <a:solidFill>
                        <a:srgbClr val="FAF7F0"/>
                      </a:solidFill>
                      <a:prstDash val="solid"/>
                    </a:lnL>
                    <a:lnR w="12240">
                      <a:solidFill>
                        <a:srgbClr val="FAF7F0"/>
                      </a:solidFill>
                      <a:prstDash val="solid"/>
                    </a:lnR>
                    <a:lnT w="12240">
                      <a:solidFill>
                        <a:srgbClr val="D8D1C4"/>
                      </a:solidFill>
                      <a:prstDash val="solid"/>
                    </a:lnT>
                    <a:lnB w="12240">
                      <a:solidFill>
                        <a:srgbClr val="D8D1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2B3139"/>
                          </a:solidFill>
                          <a:effectLst/>
                          <a:uFillTx/>
                          <a:latin typeface="Geist"/>
                          <a:ea typeface="Geist"/>
                        </a:rPr>
                        <a:t>Persistent homology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52280" marR="152280" marT="81000" marB="81000" anchor="ctr">
                    <a:lnL w="12240">
                      <a:solidFill>
                        <a:srgbClr val="FAF7F0"/>
                      </a:solidFill>
                      <a:prstDash val="solid"/>
                    </a:lnL>
                    <a:lnR w="12240">
                      <a:solidFill>
                        <a:srgbClr val="FAF7F0"/>
                      </a:solidFill>
                      <a:prstDash val="solid"/>
                    </a:lnR>
                    <a:lnT w="12240">
                      <a:solidFill>
                        <a:srgbClr val="D8D1C4"/>
                      </a:solidFill>
                      <a:prstDash val="solid"/>
                    </a:lnT>
                    <a:lnB w="12240">
                      <a:solidFill>
                        <a:srgbClr val="D8D1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2B3139"/>
                          </a:solidFill>
                          <a:effectLst/>
                          <a:uFillTx/>
                          <a:latin typeface="Geist"/>
                          <a:ea typeface="Geist"/>
                        </a:rPr>
                        <a:t>Core use case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52280" marR="152280" marT="81000" marB="81000" anchor="ctr">
                    <a:lnL w="12240">
                      <a:solidFill>
                        <a:srgbClr val="FAF7F0"/>
                      </a:solidFill>
                      <a:prstDash val="solid"/>
                    </a:lnL>
                    <a:lnR w="12240">
                      <a:solidFill>
                        <a:srgbClr val="FAF7F0"/>
                      </a:solidFill>
                      <a:prstDash val="solid"/>
                    </a:lnR>
                    <a:lnT w="12240">
                      <a:solidFill>
                        <a:srgbClr val="D8D1C4"/>
                      </a:solidFill>
                      <a:prstDash val="solid"/>
                    </a:lnT>
                    <a:lnB w="12240">
                      <a:solidFill>
                        <a:srgbClr val="D8D1C4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7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2B3139"/>
                          </a:solidFill>
                          <a:effectLst/>
                          <a:uFillTx/>
                          <a:latin typeface="Geist"/>
                          <a:ea typeface="Geist"/>
                        </a:rPr>
                        <a:t>What is the global map, with branches?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52280" marR="152280" marT="81000" marB="81000" anchor="ctr">
                    <a:lnL w="12240">
                      <a:solidFill>
                        <a:srgbClr val="FAF7F0"/>
                      </a:solidFill>
                      <a:prstDash val="solid"/>
                    </a:lnL>
                    <a:lnR w="12240">
                      <a:solidFill>
                        <a:srgbClr val="FAF7F0"/>
                      </a:solidFill>
                      <a:prstDash val="solid"/>
                    </a:lnR>
                    <a:lnT w="12240">
                      <a:solidFill>
                        <a:srgbClr val="D8D1C4"/>
                      </a:solidFill>
                      <a:prstDash val="solid"/>
                    </a:lnT>
                    <a:lnB w="12240">
                      <a:solidFill>
                        <a:srgbClr val="FAF7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2B3139"/>
                          </a:solidFill>
                          <a:effectLst/>
                          <a:uFillTx/>
                          <a:latin typeface="Geist"/>
                          <a:ea typeface="Geist"/>
                        </a:rPr>
                        <a:t>Mapper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52280" marR="152280" marT="81000" marB="81000" anchor="ctr">
                    <a:lnL w="12240">
                      <a:solidFill>
                        <a:srgbClr val="FAF7F0"/>
                      </a:solidFill>
                      <a:prstDash val="solid"/>
                    </a:lnL>
                    <a:lnR w="12240">
                      <a:solidFill>
                        <a:srgbClr val="FAF7F0"/>
                      </a:solidFill>
                      <a:prstDash val="solid"/>
                    </a:lnR>
                    <a:lnT w="12240">
                      <a:solidFill>
                        <a:srgbClr val="D8D1C4"/>
                      </a:solidFill>
                      <a:prstDash val="solid"/>
                    </a:lnT>
                    <a:lnB w="12240">
                      <a:solidFill>
                        <a:srgbClr val="FAF7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 dirty="0">
                          <a:solidFill>
                            <a:srgbClr val="2B3139"/>
                          </a:solidFill>
                          <a:effectLst/>
                          <a:uFillTx/>
                          <a:latin typeface="Geist"/>
                          <a:ea typeface="Geist"/>
                        </a:rPr>
                        <a:t>Core use case</a:t>
                      </a:r>
                      <a:endParaRPr lang="en-US" sz="16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52280" marR="152280" marT="81000" marB="81000" anchor="ctr">
                    <a:lnL w="12240">
                      <a:solidFill>
                        <a:srgbClr val="FAF7F0"/>
                      </a:solidFill>
                      <a:prstDash val="solid"/>
                    </a:lnL>
                    <a:lnR w="12240">
                      <a:solidFill>
                        <a:srgbClr val="FAF7F0"/>
                      </a:solidFill>
                      <a:prstDash val="solid"/>
                    </a:lnR>
                    <a:lnT w="12240">
                      <a:solidFill>
                        <a:srgbClr val="D8D1C4"/>
                      </a:solidFill>
                      <a:prstDash val="solid"/>
                    </a:lnT>
                    <a:lnB w="12240">
                      <a:solidFill>
                        <a:srgbClr val="FAF7F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Text 0"/>
          <p:cNvSpPr/>
          <p:nvPr/>
        </p:nvSpPr>
        <p:spPr>
          <a:xfrm>
            <a:off x="457200" y="457200"/>
            <a:ext cx="11277000" cy="35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92000"/>
              </a:lnSpc>
              <a:tabLst>
                <a:tab pos="0" algn="l"/>
              </a:tabLst>
            </a:pPr>
            <a:r>
              <a:rPr lang="en-US" sz="2550" b="0" u="none" strike="noStrike" spc="-26">
                <a:solidFill>
                  <a:srgbClr val="1B2638"/>
                </a:solidFill>
                <a:effectLst/>
                <a:uFillTx/>
                <a:latin typeface="Newsreader Medium"/>
                <a:ea typeface="Newsreader Medium"/>
              </a:rPr>
              <a:t>Build vs Buy: Evaluation of TDA engines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Shape 1"/>
          <p:cNvSpPr/>
          <p:nvPr/>
        </p:nvSpPr>
        <p:spPr>
          <a:xfrm>
            <a:off x="457200" y="1004040"/>
            <a:ext cx="11277000" cy="18720"/>
          </a:xfrm>
          <a:prstGeom prst="roundRect">
            <a:avLst>
              <a:gd name="adj" fmla="val 49999"/>
            </a:avLst>
          </a:prstGeom>
          <a:solidFill>
            <a:srgbClr val="4A5B7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1320" rIns="90000" bIns="-313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331" name="Table 0"/>
          <p:cNvGraphicFramePr/>
          <p:nvPr/>
        </p:nvGraphicFramePr>
        <p:xfrm>
          <a:off x="457200" y="1262160"/>
          <a:ext cx="11276280" cy="4841280"/>
        </p:xfrm>
        <a:graphic>
          <a:graphicData uri="http://schemas.openxmlformats.org/drawingml/2006/table">
            <a:tbl>
              <a:tblPr/>
              <a:tblGrid>
                <a:gridCol w="2029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57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70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2B3139"/>
                          </a:solidFill>
                          <a:effectLst/>
                          <a:uFillTx/>
                          <a:latin typeface="Geist"/>
                          <a:ea typeface="Geist"/>
                        </a:rPr>
                        <a:t>Features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D8D1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2B3139"/>
                          </a:solidFill>
                          <a:effectLst/>
                          <a:uFillTx/>
                          <a:latin typeface="Geist"/>
                          <a:ea typeface="Geist"/>
                        </a:rPr>
                        <a:t>Open-source software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D8D1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2B3139"/>
                          </a:solidFill>
                          <a:effectLst/>
                          <a:uFillTx/>
                          <a:latin typeface="Geist"/>
                          <a:ea typeface="Geist"/>
                        </a:rPr>
                        <a:t>Vendor Ayasdi *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D8D1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Geist"/>
                          <a:ea typeface="Geist"/>
                        </a:rPr>
                        <a:t>Vendor DataRefiner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4A5B70"/>
                      </a:solidFill>
                      <a:prstDash val="solid"/>
                    </a:lnR>
                    <a:lnT w="12240">
                      <a:solidFill>
                        <a:srgbClr val="4A5B70"/>
                      </a:solidFill>
                      <a:prstDash val="solid"/>
                    </a:lnT>
                    <a:lnB w="12240">
                      <a:solidFill>
                        <a:srgbClr val="D8D1C4"/>
                      </a:solidFill>
                      <a:prstDash val="solid"/>
                    </a:lnB>
                    <a:solidFill>
                      <a:srgbClr val="4A5B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9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2B3139"/>
                          </a:solidFill>
                          <a:effectLst/>
                          <a:uFillTx/>
                          <a:latin typeface="Geist"/>
                          <a:ea typeface="Geist"/>
                        </a:rPr>
                        <a:t>Complexity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 w="12240">
                      <a:solidFill>
                        <a:srgbClr val="FAF7F0"/>
                      </a:solidFill>
                      <a:prstDash val="solid"/>
                    </a:lnL>
                    <a:lnR w="12240">
                      <a:solidFill>
                        <a:srgbClr val="FAF7F0"/>
                      </a:solidFill>
                      <a:prstDash val="solid"/>
                    </a:lnR>
                    <a:lnT w="12240">
                      <a:solidFill>
                        <a:srgbClr val="D8D1C4"/>
                      </a:solidFill>
                      <a:prstDash val="solid"/>
                    </a:lnT>
                    <a:lnB w="12240">
                      <a:solidFill>
                        <a:srgbClr val="D8D1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2B3139"/>
                          </a:solidFill>
                          <a:effectLst/>
                          <a:uFillTx/>
                          <a:latin typeface="Geist"/>
                          <a:ea typeface="Geist"/>
                        </a:rPr>
                        <a:t>High; requires users to pick parameters; trial and error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 w="12240">
                      <a:solidFill>
                        <a:srgbClr val="FAF7F0"/>
                      </a:solidFill>
                      <a:prstDash val="solid"/>
                    </a:lnL>
                    <a:lnR w="12240">
                      <a:solidFill>
                        <a:srgbClr val="FAF7F0"/>
                      </a:solidFill>
                      <a:prstDash val="solid"/>
                    </a:lnR>
                    <a:lnT w="12240">
                      <a:solidFill>
                        <a:srgbClr val="D8D1C4"/>
                      </a:solidFill>
                      <a:prstDash val="solid"/>
                    </a:lnT>
                    <a:lnB w="12240">
                      <a:solidFill>
                        <a:srgbClr val="D8D1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2B3139"/>
                          </a:solidFill>
                          <a:effectLst/>
                          <a:uFillTx/>
                          <a:latin typeface="Geist"/>
                          <a:ea typeface="Geist"/>
                        </a:rPr>
                        <a:t>High; many parameters to select; result sensitive to chosen parameters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 w="12240">
                      <a:solidFill>
                        <a:srgbClr val="FAF7F0"/>
                      </a:solidFill>
                      <a:prstDash val="solid"/>
                    </a:lnL>
                    <a:lnR w="12240">
                      <a:solidFill>
                        <a:srgbClr val="FAF7F0"/>
                      </a:solidFill>
                      <a:prstDash val="solid"/>
                    </a:lnR>
                    <a:lnT w="12240">
                      <a:solidFill>
                        <a:srgbClr val="D8D1C4"/>
                      </a:solidFill>
                      <a:prstDash val="solid"/>
                    </a:lnT>
                    <a:lnB w="12240">
                      <a:solidFill>
                        <a:srgbClr val="D8D1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2B3139"/>
                          </a:solidFill>
                          <a:effectLst/>
                          <a:uFillTx/>
                          <a:latin typeface="Geist"/>
                          <a:ea typeface="Geist"/>
                        </a:rPr>
                        <a:t>Low; small, well-explained model parameters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 w="12240">
                      <a:solidFill>
                        <a:srgbClr val="FAF7F0"/>
                      </a:solidFill>
                      <a:prstDash val="solid"/>
                    </a:lnL>
                    <a:lnR w="12240">
                      <a:solidFill>
                        <a:srgbClr val="FAF7F0"/>
                      </a:solidFill>
                      <a:prstDash val="solid"/>
                    </a:lnR>
                    <a:lnT w="12240">
                      <a:solidFill>
                        <a:srgbClr val="D8D1C4"/>
                      </a:solidFill>
                      <a:prstDash val="solid"/>
                    </a:lnT>
                    <a:lnB w="12240">
                      <a:solidFill>
                        <a:srgbClr val="D8D1C4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9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2B3139"/>
                          </a:solidFill>
                          <a:effectLst/>
                          <a:uFillTx/>
                          <a:latin typeface="Geist"/>
                          <a:ea typeface="Geist"/>
                        </a:rPr>
                        <a:t>Easy to understand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 w="12240">
                      <a:solidFill>
                        <a:srgbClr val="FAF7F0"/>
                      </a:solidFill>
                      <a:prstDash val="solid"/>
                    </a:lnL>
                    <a:lnR w="12240">
                      <a:solidFill>
                        <a:srgbClr val="FAF7F0"/>
                      </a:solidFill>
                      <a:prstDash val="solid"/>
                    </a:lnR>
                    <a:lnT w="12240">
                      <a:solidFill>
                        <a:srgbClr val="D8D1C4"/>
                      </a:solidFill>
                      <a:prstDash val="solid"/>
                    </a:lnT>
                    <a:lnB w="12240">
                      <a:solidFill>
                        <a:srgbClr val="D8D1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2B3139"/>
                          </a:solidFill>
                          <a:effectLst/>
                          <a:uFillTx/>
                          <a:latin typeface="Geist"/>
                          <a:ea typeface="Geist"/>
                        </a:rPr>
                        <a:t>Some documentation available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 w="12240">
                      <a:solidFill>
                        <a:srgbClr val="FAF7F0"/>
                      </a:solidFill>
                      <a:prstDash val="solid"/>
                    </a:lnL>
                    <a:lnR w="12240">
                      <a:solidFill>
                        <a:srgbClr val="FAF7F0"/>
                      </a:solidFill>
                      <a:prstDash val="solid"/>
                    </a:lnR>
                    <a:lnT w="12240">
                      <a:solidFill>
                        <a:srgbClr val="D8D1C4"/>
                      </a:solidFill>
                      <a:prstDash val="solid"/>
                    </a:lnT>
                    <a:lnB w="12240">
                      <a:solidFill>
                        <a:srgbClr val="D8D1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2B3139"/>
                          </a:solidFill>
                          <a:effectLst/>
                          <a:uFillTx/>
                          <a:latin typeface="Geist"/>
                          <a:ea typeface="Geist"/>
                        </a:rPr>
                        <a:t>Obscure algorithms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 w="12240">
                      <a:solidFill>
                        <a:srgbClr val="FAF7F0"/>
                      </a:solidFill>
                      <a:prstDash val="solid"/>
                    </a:lnL>
                    <a:lnR w="12240">
                      <a:solidFill>
                        <a:srgbClr val="FAF7F0"/>
                      </a:solidFill>
                      <a:prstDash val="solid"/>
                    </a:lnR>
                    <a:lnT w="12240">
                      <a:solidFill>
                        <a:srgbClr val="D8D1C4"/>
                      </a:solidFill>
                      <a:prstDash val="solid"/>
                    </a:lnT>
                    <a:lnB w="12240">
                      <a:solidFill>
                        <a:srgbClr val="D8D1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2B3139"/>
                          </a:solidFill>
                          <a:effectLst/>
                          <a:uFillTx/>
                          <a:latin typeface="Geist"/>
                          <a:ea typeface="Geist"/>
                        </a:rPr>
                        <a:t>Not a black box; documentation available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 w="12240">
                      <a:solidFill>
                        <a:srgbClr val="FAF7F0"/>
                      </a:solidFill>
                      <a:prstDash val="solid"/>
                    </a:lnL>
                    <a:lnR w="12240">
                      <a:solidFill>
                        <a:srgbClr val="FAF7F0"/>
                      </a:solidFill>
                      <a:prstDash val="solid"/>
                    </a:lnR>
                    <a:lnT w="12240">
                      <a:solidFill>
                        <a:srgbClr val="D8D1C4"/>
                      </a:solidFill>
                      <a:prstDash val="solid"/>
                    </a:lnT>
                    <a:lnB w="12240">
                      <a:solidFill>
                        <a:srgbClr val="D8D1C4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0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2B3139"/>
                          </a:solidFill>
                          <a:effectLst/>
                          <a:uFillTx/>
                          <a:latin typeface="Geist"/>
                          <a:ea typeface="Geist"/>
                        </a:rPr>
                        <a:t>Data preparation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 w="12240">
                      <a:solidFill>
                        <a:srgbClr val="FAF7F0"/>
                      </a:solidFill>
                      <a:prstDash val="solid"/>
                    </a:lnL>
                    <a:lnR w="12240">
                      <a:solidFill>
                        <a:srgbClr val="FAF7F0"/>
                      </a:solidFill>
                      <a:prstDash val="solid"/>
                    </a:lnR>
                    <a:lnT w="12240">
                      <a:solidFill>
                        <a:srgbClr val="D8D1C4"/>
                      </a:solidFill>
                      <a:prstDash val="solid"/>
                    </a:lnT>
                    <a:lnB w="12240">
                      <a:solidFill>
                        <a:srgbClr val="D8D1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2B3139"/>
                          </a:solidFill>
                          <a:effectLst/>
                          <a:uFillTx/>
                          <a:latin typeface="Geist"/>
                          <a:ea typeface="Geist"/>
                        </a:rPr>
                        <a:t>Manual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 w="12240">
                      <a:solidFill>
                        <a:srgbClr val="FAF7F0"/>
                      </a:solidFill>
                      <a:prstDash val="solid"/>
                    </a:lnL>
                    <a:lnR w="12240">
                      <a:solidFill>
                        <a:srgbClr val="FAF7F0"/>
                      </a:solidFill>
                      <a:prstDash val="solid"/>
                    </a:lnR>
                    <a:lnT w="12240">
                      <a:solidFill>
                        <a:srgbClr val="D8D1C4"/>
                      </a:solidFill>
                      <a:prstDash val="solid"/>
                    </a:lnT>
                    <a:lnB w="12240">
                      <a:solidFill>
                        <a:srgbClr val="D8D1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2B3139"/>
                          </a:solidFill>
                          <a:effectLst/>
                          <a:uFillTx/>
                          <a:latin typeface="Geist"/>
                          <a:ea typeface="Geist"/>
                        </a:rPr>
                        <a:t>Manual; not part of the platform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 w="12240">
                      <a:solidFill>
                        <a:srgbClr val="FAF7F0"/>
                      </a:solidFill>
                      <a:prstDash val="solid"/>
                    </a:lnL>
                    <a:lnR w="12240">
                      <a:solidFill>
                        <a:srgbClr val="FAF7F0"/>
                      </a:solidFill>
                      <a:prstDash val="solid"/>
                    </a:lnR>
                    <a:lnT w="12240">
                      <a:solidFill>
                        <a:srgbClr val="D8D1C4"/>
                      </a:solidFill>
                      <a:prstDash val="solid"/>
                    </a:lnT>
                    <a:lnB w="12240">
                      <a:solidFill>
                        <a:srgbClr val="D8D1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2B3139"/>
                          </a:solidFill>
                          <a:effectLst/>
                          <a:uFillTx/>
                          <a:latin typeface="Geist"/>
                          <a:ea typeface="Geist"/>
                        </a:rPr>
                        <a:t>Automated; performed in the platform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 w="12240">
                      <a:solidFill>
                        <a:srgbClr val="FAF7F0"/>
                      </a:solidFill>
                      <a:prstDash val="solid"/>
                    </a:lnL>
                    <a:lnR w="12240">
                      <a:solidFill>
                        <a:srgbClr val="FAF7F0"/>
                      </a:solidFill>
                      <a:prstDash val="solid"/>
                    </a:lnR>
                    <a:lnT w="12240">
                      <a:solidFill>
                        <a:srgbClr val="D8D1C4"/>
                      </a:solidFill>
                      <a:prstDash val="solid"/>
                    </a:lnT>
                    <a:lnB w="12240">
                      <a:solidFill>
                        <a:srgbClr val="D8D1C4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19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2B3139"/>
                          </a:solidFill>
                          <a:effectLst/>
                          <a:uFillTx/>
                          <a:latin typeface="Geist"/>
                          <a:ea typeface="Geist"/>
                        </a:rPr>
                        <a:t>Data volume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 w="12240">
                      <a:solidFill>
                        <a:srgbClr val="FAF7F0"/>
                      </a:solidFill>
                      <a:prstDash val="solid"/>
                    </a:lnL>
                    <a:lnR w="12240">
                      <a:solidFill>
                        <a:srgbClr val="FAF7F0"/>
                      </a:solidFill>
                      <a:prstDash val="solid"/>
                    </a:lnR>
                    <a:lnT w="12240">
                      <a:solidFill>
                        <a:srgbClr val="D8D1C4"/>
                      </a:solidFill>
                      <a:prstDash val="solid"/>
                    </a:lnT>
                    <a:lnB w="12240">
                      <a:solidFill>
                        <a:srgbClr val="D8D1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2B3139"/>
                          </a:solidFill>
                          <a:effectLst/>
                          <a:uFillTx/>
                          <a:latin typeface="Geist"/>
                          <a:ea typeface="Geist"/>
                        </a:rPr>
                        <a:t>Cannot handle big data; software crashes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 w="12240">
                      <a:solidFill>
                        <a:srgbClr val="FAF7F0"/>
                      </a:solidFill>
                      <a:prstDash val="solid"/>
                    </a:lnL>
                    <a:lnR w="12240">
                      <a:solidFill>
                        <a:srgbClr val="FAF7F0"/>
                      </a:solidFill>
                      <a:prstDash val="solid"/>
                    </a:lnR>
                    <a:lnT w="12240">
                      <a:solidFill>
                        <a:srgbClr val="D8D1C4"/>
                      </a:solidFill>
                      <a:prstDash val="solid"/>
                    </a:lnT>
                    <a:lnB w="12240">
                      <a:solidFill>
                        <a:srgbClr val="D8D1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2B3139"/>
                          </a:solidFill>
                          <a:effectLst/>
                          <a:uFillTx/>
                          <a:latin typeface="Geist"/>
                          <a:ea typeface="Geist"/>
                        </a:rPr>
                        <a:t>Struggles for data with over 5 million rows and ~200 columns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 w="12240">
                      <a:solidFill>
                        <a:srgbClr val="FAF7F0"/>
                      </a:solidFill>
                      <a:prstDash val="solid"/>
                    </a:lnL>
                    <a:lnR w="12240">
                      <a:solidFill>
                        <a:srgbClr val="FAF7F0"/>
                      </a:solidFill>
                      <a:prstDash val="solid"/>
                    </a:lnR>
                    <a:lnT w="12240">
                      <a:solidFill>
                        <a:srgbClr val="D8D1C4"/>
                      </a:solidFill>
                      <a:prstDash val="solid"/>
                    </a:lnT>
                    <a:lnB w="12240">
                      <a:solidFill>
                        <a:srgbClr val="D8D1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2B3139"/>
                          </a:solidFill>
                          <a:effectLst/>
                          <a:uFillTx/>
                          <a:latin typeface="Geist"/>
                          <a:ea typeface="Geist"/>
                        </a:rPr>
                        <a:t>Supports 30 million rows and 100k columns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 w="12240">
                      <a:solidFill>
                        <a:srgbClr val="FAF7F0"/>
                      </a:solidFill>
                      <a:prstDash val="solid"/>
                    </a:lnL>
                    <a:lnR w="12240">
                      <a:solidFill>
                        <a:srgbClr val="FAF7F0"/>
                      </a:solidFill>
                      <a:prstDash val="solid"/>
                    </a:lnR>
                    <a:lnT w="12240">
                      <a:solidFill>
                        <a:srgbClr val="D8D1C4"/>
                      </a:solidFill>
                      <a:prstDash val="solid"/>
                    </a:lnT>
                    <a:lnB w="12240">
                      <a:solidFill>
                        <a:srgbClr val="D8D1C4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0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2B3139"/>
                          </a:solidFill>
                          <a:effectLst/>
                          <a:uFillTx/>
                          <a:latin typeface="Geist"/>
                          <a:ea typeface="Geist"/>
                        </a:rPr>
                        <a:t>Data verifications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 w="12240">
                      <a:solidFill>
                        <a:srgbClr val="FAF7F0"/>
                      </a:solidFill>
                      <a:prstDash val="solid"/>
                    </a:lnL>
                    <a:lnR w="12240">
                      <a:solidFill>
                        <a:srgbClr val="FAF7F0"/>
                      </a:solidFill>
                      <a:prstDash val="solid"/>
                    </a:lnR>
                    <a:lnT w="12240">
                      <a:solidFill>
                        <a:srgbClr val="D8D1C4"/>
                      </a:solidFill>
                      <a:prstDash val="solid"/>
                    </a:lnT>
                    <a:lnB w="12240">
                      <a:solidFill>
                        <a:srgbClr val="D8D1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2B3139"/>
                          </a:solidFill>
                          <a:effectLst/>
                          <a:uFillTx/>
                          <a:latin typeface="Geist"/>
                          <a:ea typeface="Geist"/>
                        </a:rPr>
                        <a:t>Manual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 w="12240">
                      <a:solidFill>
                        <a:srgbClr val="FAF7F0"/>
                      </a:solidFill>
                      <a:prstDash val="solid"/>
                    </a:lnL>
                    <a:lnR w="12240">
                      <a:solidFill>
                        <a:srgbClr val="FAF7F0"/>
                      </a:solidFill>
                      <a:prstDash val="solid"/>
                    </a:lnR>
                    <a:lnT w="12240">
                      <a:solidFill>
                        <a:srgbClr val="D8D1C4"/>
                      </a:solidFill>
                      <a:prstDash val="solid"/>
                    </a:lnT>
                    <a:lnB w="12240">
                      <a:solidFill>
                        <a:srgbClr val="D8D1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2B3139"/>
                          </a:solidFill>
                          <a:effectLst/>
                          <a:uFillTx/>
                          <a:latin typeface="Geist"/>
                          <a:ea typeface="Geist"/>
                        </a:rPr>
                        <a:t>None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 w="12240">
                      <a:solidFill>
                        <a:srgbClr val="FAF7F0"/>
                      </a:solidFill>
                      <a:prstDash val="solid"/>
                    </a:lnL>
                    <a:lnR w="12240">
                      <a:solidFill>
                        <a:srgbClr val="FAF7F0"/>
                      </a:solidFill>
                      <a:prstDash val="solid"/>
                    </a:lnR>
                    <a:lnT w="12240">
                      <a:solidFill>
                        <a:srgbClr val="D8D1C4"/>
                      </a:solidFill>
                      <a:prstDash val="solid"/>
                    </a:lnT>
                    <a:lnB w="12240">
                      <a:solidFill>
                        <a:srgbClr val="D8D1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2B3139"/>
                          </a:solidFill>
                          <a:effectLst/>
                          <a:uFillTx/>
                          <a:latin typeface="Geist"/>
                          <a:ea typeface="Geist"/>
                        </a:rPr>
                        <a:t>Automated; performed in the platform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 w="12240">
                      <a:solidFill>
                        <a:srgbClr val="FAF7F0"/>
                      </a:solidFill>
                      <a:prstDash val="solid"/>
                    </a:lnL>
                    <a:lnR w="12240">
                      <a:solidFill>
                        <a:srgbClr val="FAF7F0"/>
                      </a:solidFill>
                      <a:prstDash val="solid"/>
                    </a:lnR>
                    <a:lnT w="12240">
                      <a:solidFill>
                        <a:srgbClr val="D8D1C4"/>
                      </a:solidFill>
                      <a:prstDash val="solid"/>
                    </a:lnT>
                    <a:lnB w="12240">
                      <a:solidFill>
                        <a:srgbClr val="D8D1C4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68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2B3139"/>
                          </a:solidFill>
                          <a:effectLst/>
                          <a:uFillTx/>
                          <a:latin typeface="Geist"/>
                          <a:ea typeface="Geist"/>
                        </a:rPr>
                        <a:t>Model selection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 w="12240">
                      <a:solidFill>
                        <a:srgbClr val="FAF7F0"/>
                      </a:solidFill>
                      <a:prstDash val="solid"/>
                    </a:lnL>
                    <a:lnR w="12240">
                      <a:solidFill>
                        <a:srgbClr val="FAF7F0"/>
                      </a:solidFill>
                      <a:prstDash val="solid"/>
                    </a:lnR>
                    <a:lnT w="12240">
                      <a:solidFill>
                        <a:srgbClr val="D8D1C4"/>
                      </a:solidFill>
                      <a:prstDash val="solid"/>
                    </a:lnT>
                    <a:lnB w="12240">
                      <a:solidFill>
                        <a:srgbClr val="D8D1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2B3139"/>
                          </a:solidFill>
                          <a:effectLst/>
                          <a:uFillTx/>
                          <a:latin typeface="Geist"/>
                          <a:ea typeface="Geist"/>
                        </a:rPr>
                        <a:t>Manual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 w="12240">
                      <a:solidFill>
                        <a:srgbClr val="FAF7F0"/>
                      </a:solidFill>
                      <a:prstDash val="solid"/>
                    </a:lnL>
                    <a:lnR w="12240">
                      <a:solidFill>
                        <a:srgbClr val="FAF7F0"/>
                      </a:solidFill>
                      <a:prstDash val="solid"/>
                    </a:lnR>
                    <a:lnT w="12240">
                      <a:solidFill>
                        <a:srgbClr val="D8D1C4"/>
                      </a:solidFill>
                      <a:prstDash val="solid"/>
                    </a:lnT>
                    <a:lnB w="12240">
                      <a:solidFill>
                        <a:srgbClr val="D8D1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2B3139"/>
                          </a:solidFill>
                          <a:effectLst/>
                          <a:uFillTx/>
                          <a:latin typeface="Geist"/>
                          <a:ea typeface="Geist"/>
                        </a:rPr>
                        <a:t>None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 w="12240">
                      <a:solidFill>
                        <a:srgbClr val="FAF7F0"/>
                      </a:solidFill>
                      <a:prstDash val="solid"/>
                    </a:lnL>
                    <a:lnR w="12240">
                      <a:solidFill>
                        <a:srgbClr val="FAF7F0"/>
                      </a:solidFill>
                      <a:prstDash val="solid"/>
                    </a:lnR>
                    <a:lnT w="12240">
                      <a:solidFill>
                        <a:srgbClr val="D8D1C4"/>
                      </a:solidFill>
                      <a:prstDash val="solid"/>
                    </a:lnT>
                    <a:lnB w="12240">
                      <a:solidFill>
                        <a:srgbClr val="D8D1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2B3139"/>
                          </a:solidFill>
                          <a:effectLst/>
                          <a:uFillTx/>
                          <a:latin typeface="Geist"/>
                          <a:ea typeface="Geist"/>
                        </a:rPr>
                        <a:t>Automated; picks the best one and shows the intermediate ones for user customization if needed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 w="12240">
                      <a:solidFill>
                        <a:srgbClr val="FAF7F0"/>
                      </a:solidFill>
                      <a:prstDash val="solid"/>
                    </a:lnL>
                    <a:lnR w="12240">
                      <a:solidFill>
                        <a:srgbClr val="FAF7F0"/>
                      </a:solidFill>
                      <a:prstDash val="solid"/>
                    </a:lnR>
                    <a:lnT w="12240">
                      <a:solidFill>
                        <a:srgbClr val="D8D1C4"/>
                      </a:solidFill>
                      <a:prstDash val="solid"/>
                    </a:lnT>
                    <a:lnB w="12240">
                      <a:solidFill>
                        <a:srgbClr val="D8D1C4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19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2B3139"/>
                          </a:solidFill>
                          <a:effectLst/>
                          <a:uFillTx/>
                          <a:latin typeface="Geist"/>
                          <a:ea typeface="Geist"/>
                        </a:rPr>
                        <a:t>Automatic cluster naming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 w="12240">
                      <a:solidFill>
                        <a:srgbClr val="FAF7F0"/>
                      </a:solidFill>
                      <a:prstDash val="solid"/>
                    </a:lnL>
                    <a:lnR w="12240">
                      <a:solidFill>
                        <a:srgbClr val="FAF7F0"/>
                      </a:solidFill>
                      <a:prstDash val="solid"/>
                    </a:lnR>
                    <a:lnT w="12240">
                      <a:solidFill>
                        <a:srgbClr val="D8D1C4"/>
                      </a:solidFill>
                      <a:prstDash val="solid"/>
                    </a:lnT>
                    <a:lnB w="12240">
                      <a:solidFill>
                        <a:srgbClr val="D8D1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2B3139"/>
                          </a:solidFill>
                          <a:effectLst/>
                          <a:uFillTx/>
                          <a:latin typeface="Geist"/>
                          <a:ea typeface="Geist"/>
                        </a:rPr>
                        <a:t>None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 w="12240">
                      <a:solidFill>
                        <a:srgbClr val="FAF7F0"/>
                      </a:solidFill>
                      <a:prstDash val="solid"/>
                    </a:lnL>
                    <a:lnR w="12240">
                      <a:solidFill>
                        <a:srgbClr val="FAF7F0"/>
                      </a:solidFill>
                      <a:prstDash val="solid"/>
                    </a:lnR>
                    <a:lnT w="12240">
                      <a:solidFill>
                        <a:srgbClr val="D8D1C4"/>
                      </a:solidFill>
                      <a:prstDash val="solid"/>
                    </a:lnT>
                    <a:lnB w="12240">
                      <a:solidFill>
                        <a:srgbClr val="D8D1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2B3139"/>
                          </a:solidFill>
                          <a:effectLst/>
                          <a:uFillTx/>
                          <a:latin typeface="Geist"/>
                          <a:ea typeface="Geist"/>
                        </a:rPr>
                        <a:t>None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 w="12240">
                      <a:solidFill>
                        <a:srgbClr val="FAF7F0"/>
                      </a:solidFill>
                      <a:prstDash val="solid"/>
                    </a:lnL>
                    <a:lnR w="12240">
                      <a:solidFill>
                        <a:srgbClr val="FAF7F0"/>
                      </a:solidFill>
                      <a:prstDash val="solid"/>
                    </a:lnR>
                    <a:lnT w="12240">
                      <a:solidFill>
                        <a:srgbClr val="D8D1C4"/>
                      </a:solidFill>
                      <a:prstDash val="solid"/>
                    </a:lnT>
                    <a:lnB w="12240">
                      <a:solidFill>
                        <a:srgbClr val="D8D1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2B3139"/>
                          </a:solidFill>
                          <a:effectLst/>
                          <a:uFillTx/>
                          <a:latin typeface="Geist"/>
                          <a:ea typeface="Geist"/>
                        </a:rPr>
                        <a:t>Automated; meaningful names representing relevant parameters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 w="12240">
                      <a:solidFill>
                        <a:srgbClr val="FAF7F0"/>
                      </a:solidFill>
                      <a:prstDash val="solid"/>
                    </a:lnL>
                    <a:lnR w="12240">
                      <a:solidFill>
                        <a:srgbClr val="FAF7F0"/>
                      </a:solidFill>
                      <a:prstDash val="solid"/>
                    </a:lnR>
                    <a:lnT w="12240">
                      <a:solidFill>
                        <a:srgbClr val="D8D1C4"/>
                      </a:solidFill>
                      <a:prstDash val="solid"/>
                    </a:lnT>
                    <a:lnB w="12240">
                      <a:solidFill>
                        <a:srgbClr val="D8D1C4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19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2B3139"/>
                          </a:solidFill>
                          <a:effectLst/>
                          <a:uFillTx/>
                          <a:latin typeface="Geist"/>
                          <a:ea typeface="Geist"/>
                        </a:rPr>
                        <a:t>Enterprise readiness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 w="12240">
                      <a:solidFill>
                        <a:srgbClr val="FAF7F0"/>
                      </a:solidFill>
                      <a:prstDash val="solid"/>
                    </a:lnL>
                    <a:lnR w="12240">
                      <a:solidFill>
                        <a:srgbClr val="FAF7F0"/>
                      </a:solidFill>
                      <a:prstDash val="solid"/>
                    </a:lnR>
                    <a:lnT w="12240">
                      <a:solidFill>
                        <a:srgbClr val="D8D1C4"/>
                      </a:solidFill>
                      <a:prstDash val="solid"/>
                    </a:lnT>
                    <a:lnB w="12240">
                      <a:solidFill>
                        <a:srgbClr val="D8D1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2B3139"/>
                          </a:solidFill>
                          <a:effectLst/>
                          <a:uFillTx/>
                          <a:latin typeface="Geist"/>
                          <a:ea typeface="Geist"/>
                        </a:rPr>
                        <a:t>No clear ownership and not up to date with latest developments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 w="12240">
                      <a:solidFill>
                        <a:srgbClr val="FAF7F0"/>
                      </a:solidFill>
                      <a:prstDash val="solid"/>
                    </a:lnL>
                    <a:lnR w="12240">
                      <a:solidFill>
                        <a:srgbClr val="FAF7F0"/>
                      </a:solidFill>
                      <a:prstDash val="solid"/>
                    </a:lnR>
                    <a:lnT w="12240">
                      <a:solidFill>
                        <a:srgbClr val="D8D1C4"/>
                      </a:solidFill>
                      <a:prstDash val="solid"/>
                    </a:lnT>
                    <a:lnB w="12240">
                      <a:solidFill>
                        <a:srgbClr val="D8D1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2B3139"/>
                          </a:solidFill>
                          <a:effectLst/>
                          <a:uFillTx/>
                          <a:latin typeface="Geist"/>
                          <a:ea typeface="Geist"/>
                        </a:rPr>
                        <a:t>Rebranded; currently servicing Financial Industry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 w="12240">
                      <a:solidFill>
                        <a:srgbClr val="FAF7F0"/>
                      </a:solidFill>
                      <a:prstDash val="solid"/>
                    </a:lnL>
                    <a:lnR w="12240">
                      <a:solidFill>
                        <a:srgbClr val="FAF7F0"/>
                      </a:solidFill>
                      <a:prstDash val="solid"/>
                    </a:lnR>
                    <a:lnT w="12240">
                      <a:solidFill>
                        <a:srgbClr val="D8D1C4"/>
                      </a:solidFill>
                      <a:prstDash val="solid"/>
                    </a:lnT>
                    <a:lnB w="12240">
                      <a:solidFill>
                        <a:srgbClr val="D8D1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2B3139"/>
                          </a:solidFill>
                          <a:effectLst/>
                          <a:uFillTx/>
                          <a:latin typeface="Geist"/>
                          <a:ea typeface="Geist"/>
                        </a:rPr>
                        <a:t>Yes; customers across multiple domains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 w="12240">
                      <a:solidFill>
                        <a:srgbClr val="FAF7F0"/>
                      </a:solidFill>
                      <a:prstDash val="solid"/>
                    </a:lnL>
                    <a:lnR w="12240">
                      <a:solidFill>
                        <a:srgbClr val="FAF7F0"/>
                      </a:solidFill>
                      <a:prstDash val="solid"/>
                    </a:lnR>
                    <a:lnT w="12240">
                      <a:solidFill>
                        <a:srgbClr val="D8D1C4"/>
                      </a:solidFill>
                      <a:prstDash val="solid"/>
                    </a:lnT>
                    <a:lnB w="12240">
                      <a:solidFill>
                        <a:srgbClr val="D8D1C4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58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2B3139"/>
                          </a:solidFill>
                          <a:effectLst/>
                          <a:uFillTx/>
                          <a:latin typeface="Geist"/>
                          <a:ea typeface="Geist"/>
                        </a:rPr>
                        <a:t>Applicability to real world use case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 w="12240">
                      <a:solidFill>
                        <a:srgbClr val="FAF7F0"/>
                      </a:solidFill>
                      <a:prstDash val="solid"/>
                    </a:lnL>
                    <a:lnR w="12240">
                      <a:solidFill>
                        <a:srgbClr val="FAF7F0"/>
                      </a:solidFill>
                      <a:prstDash val="solid"/>
                    </a:lnR>
                    <a:lnT w="12240">
                      <a:solidFill>
                        <a:srgbClr val="D8D1C4"/>
                      </a:solidFill>
                      <a:prstDash val="solid"/>
                    </a:lnT>
                    <a:lnB w="12240">
                      <a:solidFill>
                        <a:srgbClr val="FAF7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2B3139"/>
                          </a:solidFill>
                          <a:effectLst/>
                          <a:uFillTx/>
                          <a:latin typeface="Geist"/>
                          <a:ea typeface="Geist"/>
                        </a:rPr>
                        <a:t>Mostly R&amp;D; for POCs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 w="12240">
                      <a:solidFill>
                        <a:srgbClr val="FAF7F0"/>
                      </a:solidFill>
                      <a:prstDash val="solid"/>
                    </a:lnL>
                    <a:lnR w="12240">
                      <a:solidFill>
                        <a:srgbClr val="FAF7F0"/>
                      </a:solidFill>
                      <a:prstDash val="solid"/>
                    </a:lnR>
                    <a:lnT w="12240">
                      <a:solidFill>
                        <a:srgbClr val="D8D1C4"/>
                      </a:solidFill>
                      <a:prstDash val="solid"/>
                    </a:lnT>
                    <a:lnB w="12240">
                      <a:solidFill>
                        <a:srgbClr val="FAF7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2B3139"/>
                          </a:solidFill>
                          <a:effectLst/>
                          <a:uFillTx/>
                          <a:latin typeface="Geist"/>
                          <a:ea typeface="Geist"/>
                        </a:rPr>
                        <a:t>Yes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 w="12240">
                      <a:solidFill>
                        <a:srgbClr val="FAF7F0"/>
                      </a:solidFill>
                      <a:prstDash val="solid"/>
                    </a:lnL>
                    <a:lnR w="12240">
                      <a:solidFill>
                        <a:srgbClr val="FAF7F0"/>
                      </a:solidFill>
                      <a:prstDash val="solid"/>
                    </a:lnR>
                    <a:lnT w="12240">
                      <a:solidFill>
                        <a:srgbClr val="D8D1C4"/>
                      </a:solidFill>
                      <a:prstDash val="solid"/>
                    </a:lnT>
                    <a:lnB w="12240">
                      <a:solidFill>
                        <a:srgbClr val="FAF7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 dirty="0">
                          <a:solidFill>
                            <a:srgbClr val="2B3139"/>
                          </a:solidFill>
                          <a:effectLst/>
                          <a:uFillTx/>
                          <a:latin typeface="Geist"/>
                          <a:ea typeface="Geist"/>
                        </a:rPr>
                        <a:t>Yes</a:t>
                      </a:r>
                      <a:endParaRPr lang="en-US" sz="13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01520" marR="101520" marT="37800" marB="37800" anchor="ctr">
                    <a:lnL w="12240">
                      <a:solidFill>
                        <a:srgbClr val="FAF7F0"/>
                      </a:solidFill>
                      <a:prstDash val="solid"/>
                    </a:lnL>
                    <a:lnR w="12240">
                      <a:solidFill>
                        <a:srgbClr val="FAF7F0"/>
                      </a:solidFill>
                      <a:prstDash val="solid"/>
                    </a:lnR>
                    <a:lnT w="12240">
                      <a:solidFill>
                        <a:srgbClr val="D8D1C4"/>
                      </a:solidFill>
                      <a:prstDash val="solid"/>
                    </a:lnT>
                    <a:lnB w="12240">
                      <a:solidFill>
                        <a:srgbClr val="FAF7F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32" name="Text 3"/>
          <p:cNvSpPr/>
          <p:nvPr/>
        </p:nvSpPr>
        <p:spPr>
          <a:xfrm>
            <a:off x="457200" y="6308280"/>
            <a:ext cx="11277000" cy="45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3000"/>
              </a:lnSpc>
              <a:spcAft>
                <a:spcPts val="1049"/>
              </a:spcAft>
              <a:tabLst>
                <a:tab pos="0" algn="l"/>
              </a:tabLst>
            </a:pPr>
            <a:r>
              <a:rPr lang="en-US" sz="950" b="0" u="none" strike="noStrike">
                <a:solidFill>
                  <a:srgbClr val="5B6676"/>
                </a:solidFill>
                <a:effectLst/>
                <a:uFillTx/>
                <a:latin typeface="Geist"/>
                <a:ea typeface="Geist"/>
              </a:rPr>
              <a:t>* Product no longer available in market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3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5B6676"/>
                </a:solidFill>
                <a:effectLst/>
                <a:uFillTx/>
                <a:latin typeface="Geist"/>
                <a:ea typeface="Geist"/>
              </a:rPr>
              <a:t>Giri &amp; Lengyel (2023), ASME InterPACK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Text 1"/>
          <p:cNvSpPr/>
          <p:nvPr/>
        </p:nvSpPr>
        <p:spPr>
          <a:xfrm>
            <a:off x="457200" y="731880"/>
            <a:ext cx="11277000" cy="43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92000"/>
              </a:lnSpc>
              <a:tabLst>
                <a:tab pos="0" algn="l"/>
              </a:tabLst>
            </a:pPr>
            <a:r>
              <a:rPr lang="en-US" sz="3100" b="0" u="none" strike="noStrike" spc="-31">
                <a:solidFill>
                  <a:srgbClr val="1B2638"/>
                </a:solidFill>
                <a:effectLst/>
                <a:uFillTx/>
                <a:latin typeface="Newsreader Medium"/>
                <a:ea typeface="Newsreader Medium"/>
              </a:rPr>
              <a:t>Agentic TDA Solution 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Shape 2"/>
          <p:cNvSpPr/>
          <p:nvPr/>
        </p:nvSpPr>
        <p:spPr>
          <a:xfrm>
            <a:off x="457200" y="1439640"/>
            <a:ext cx="11277000" cy="31320"/>
          </a:xfrm>
          <a:prstGeom prst="roundRect">
            <a:avLst>
              <a:gd name="adj" fmla="val 49998"/>
            </a:avLst>
          </a:prstGeom>
          <a:solidFill>
            <a:srgbClr val="4A5B7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2320" rIns="90000" bIns="-223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335" name="Image 0" descr="preencoded.png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457200" y="1520280"/>
            <a:ext cx="11277000" cy="488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6" name="Text 3"/>
          <p:cNvSpPr/>
          <p:nvPr/>
        </p:nvSpPr>
        <p:spPr>
          <a:xfrm>
            <a:off x="7037640" y="6393240"/>
            <a:ext cx="3223440" cy="28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18000"/>
              </a:lnSpc>
            </a:pPr>
            <a:r>
              <a:rPr lang="en-US" sz="1600" b="1" u="none" strike="noStrike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Ack: Edward Kibardin, DataRefiner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"/>
          <p:cNvSpPr/>
          <p:nvPr/>
        </p:nvSpPr>
        <p:spPr>
          <a:xfrm>
            <a:off x="457200" y="457200"/>
            <a:ext cx="11277360" cy="61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3150" b="0" u="none" strike="noStrike">
                <a:solidFill>
                  <a:srgbClr val="1B2638"/>
                </a:solidFill>
                <a:effectLst/>
                <a:uFillTx/>
                <a:latin typeface="Newsreader Medium"/>
                <a:ea typeface="Newsreader Medium"/>
              </a:rPr>
              <a:t>Bonus: hands-on TDA for wafer maps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itle-rule"/>
          <p:cNvSpPr/>
          <p:nvPr/>
        </p:nvSpPr>
        <p:spPr>
          <a:xfrm>
            <a:off x="457200" y="1162080"/>
            <a:ext cx="11277360" cy="23400"/>
          </a:xfrm>
          <a:prstGeom prst="rect">
            <a:avLst/>
          </a:prstGeom>
          <a:solidFill>
            <a:srgbClr val="4A5B7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1240" rIns="90000" bIns="-212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question"/>
          <p:cNvSpPr/>
          <p:nvPr/>
        </p:nvSpPr>
        <p:spPr>
          <a:xfrm>
            <a:off x="457200" y="1438200"/>
            <a:ext cx="10858320" cy="437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2170" b="0" u="none" strike="noStrike">
                <a:solidFill>
                  <a:srgbClr val="4A5B70"/>
                </a:solidFill>
                <a:effectLst/>
                <a:uFillTx/>
                <a:latin typeface="Geist SemiBold"/>
                <a:ea typeface="Geist SemiBold"/>
              </a:rPr>
              <a:t>Does topology add value beyond geometric features?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step-0"/>
          <p:cNvSpPr/>
          <p:nvPr/>
        </p:nvSpPr>
        <p:spPr>
          <a:xfrm>
            <a:off x="457200" y="2124000"/>
            <a:ext cx="190476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70" b="0" u="none" strike="noStrike">
                <a:solidFill>
                  <a:srgbClr val="4A5B70"/>
                </a:solidFill>
                <a:effectLst/>
                <a:uFillTx/>
                <a:latin typeface="Geist SemiBold"/>
                <a:ea typeface="Geist SemiBold"/>
              </a:rPr>
              <a:t>1  Generate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instruction-0"/>
          <p:cNvSpPr/>
          <p:nvPr/>
        </p:nvSpPr>
        <p:spPr>
          <a:xfrm>
            <a:off x="2381400" y="2124000"/>
            <a:ext cx="6190920" cy="72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Run the Colab notebook to create nine synthetic defect classes.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tep-1"/>
          <p:cNvSpPr/>
          <p:nvPr/>
        </p:nvSpPr>
        <p:spPr>
          <a:xfrm>
            <a:off x="457200" y="2943360"/>
            <a:ext cx="190476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70" b="0" u="none" strike="noStrike">
                <a:solidFill>
                  <a:srgbClr val="4A5B70"/>
                </a:solidFill>
                <a:effectLst/>
                <a:uFillTx/>
                <a:latin typeface="Geist SemiBold"/>
                <a:ea typeface="Geist SemiBold"/>
              </a:rPr>
              <a:t>2  Extract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instruction-1"/>
          <p:cNvSpPr/>
          <p:nvPr/>
        </p:nvSpPr>
        <p:spPr>
          <a:xfrm>
            <a:off x="2381400" y="2943360"/>
            <a:ext cx="6190920" cy="72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Compute H0/H1 persistence from pixel coordinates.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Inspect 34 topological and image features.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tep-2"/>
          <p:cNvSpPr/>
          <p:nvPr/>
        </p:nvSpPr>
        <p:spPr>
          <a:xfrm>
            <a:off x="457200" y="3762360"/>
            <a:ext cx="190476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70" b="0" u="none" strike="noStrike">
                <a:solidFill>
                  <a:srgbClr val="4A5B70"/>
                </a:solidFill>
                <a:effectLst/>
                <a:uFillTx/>
                <a:latin typeface="Geist SemiBold"/>
                <a:ea typeface="Geist SemiBold"/>
              </a:rPr>
              <a:t>3  Evaluate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instruction-2"/>
          <p:cNvSpPr/>
          <p:nvPr/>
        </p:nvSpPr>
        <p:spPr>
          <a:xfrm>
            <a:off x="2381400" y="3762360"/>
            <a:ext cx="6190920" cy="72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Inspect the random-forest confusion matrix.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Explore the feature space with Mapper.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tep-3"/>
          <p:cNvSpPr/>
          <p:nvPr/>
        </p:nvSpPr>
        <p:spPr>
          <a:xfrm>
            <a:off x="457200" y="4581360"/>
            <a:ext cx="190476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70" b="0" u="none" strike="noStrike">
                <a:solidFill>
                  <a:srgbClr val="4A5B70"/>
                </a:solidFill>
                <a:effectLst/>
                <a:uFillTx/>
                <a:latin typeface="Geist SemiBold"/>
                <a:ea typeface="Geist SemiBold"/>
              </a:rPr>
              <a:t>4  Experiment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instruction-3"/>
          <p:cNvSpPr/>
          <p:nvPr/>
        </p:nvSpPr>
        <p:spPr>
          <a:xfrm>
            <a:off x="2381400" y="4581360"/>
            <a:ext cx="6190920" cy="72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Compare geometry-only vs. combined features.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Vary noise or pixel threshold. Keep the split fixed.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can"/>
          <p:cNvSpPr/>
          <p:nvPr/>
        </p:nvSpPr>
        <p:spPr>
          <a:xfrm>
            <a:off x="8972640" y="2095560"/>
            <a:ext cx="2761920" cy="53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729" b="0" u="none" strike="noStrike">
                <a:solidFill>
                  <a:srgbClr val="1B2638"/>
                </a:solidFill>
                <a:effectLst/>
                <a:uFillTx/>
                <a:latin typeface="Geist SemiBold"/>
                <a:ea typeface="Geist SemiBold"/>
              </a:rPr>
              <a:t>Scan for code and instructions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" name="Picture 26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9239400" y="2714760"/>
            <a:ext cx="2190240" cy="2190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colab"/>
          <p:cNvSpPr/>
          <p:nvPr/>
        </p:nvSpPr>
        <p:spPr>
          <a:xfrm>
            <a:off x="8972640" y="5048280"/>
            <a:ext cx="2761920" cy="38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u="sng" strike="noStrike">
                <a:solidFill>
                  <a:srgbClr val="0563C1"/>
                </a:solidFill>
                <a:effectLst/>
                <a:uFillTx/>
                <a:latin typeface="Geist SemiBold"/>
                <a:ea typeface="Geist SemiBold"/>
                <a:hlinkClick r:id="rId4"/>
              </a:rPr>
              <a:t>Open in Google Colab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repo"/>
          <p:cNvSpPr/>
          <p:nvPr/>
        </p:nvSpPr>
        <p:spPr>
          <a:xfrm>
            <a:off x="8972640" y="5438880"/>
            <a:ext cx="2761920" cy="50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430" b="0" u="sng" strike="noStrike">
                <a:solidFill>
                  <a:srgbClr val="0563C1"/>
                </a:solidFill>
                <a:effectLst/>
                <a:uFillTx/>
                <a:latin typeface="Geist"/>
                <a:ea typeface="Geist"/>
                <a:hlinkClick r:id="rId5"/>
              </a:rPr>
              <a:t>github.com/janhavi-giri/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30" b="0" u="sng" strike="noStrike">
                <a:solidFill>
                  <a:srgbClr val="0563C1"/>
                </a:solidFill>
                <a:effectLst/>
                <a:uFillTx/>
                <a:latin typeface="Geist"/>
                <a:ea typeface="Geist"/>
                <a:hlinkClick r:id="rId5"/>
              </a:rPr>
              <a:t>wafer-map-tda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deliverable"/>
          <p:cNvSpPr/>
          <p:nvPr/>
        </p:nvSpPr>
        <p:spPr>
          <a:xfrm>
            <a:off x="457200" y="5753160"/>
            <a:ext cx="795312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1B2638"/>
                </a:solidFill>
                <a:effectLst/>
                <a:uFillTx/>
                <a:latin typeface="Geist SemiBold"/>
                <a:ea typeface="Geist SemiBold"/>
              </a:rPr>
              <a:t>Bring back: a confusion matrix, a feature comparison and one limitation.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caveat"/>
          <p:cNvSpPr/>
          <p:nvPr/>
        </p:nvSpPr>
        <p:spPr>
          <a:xfrm>
            <a:off x="457200" y="6429240"/>
            <a:ext cx="11277360" cy="26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430" b="0" u="none" strike="noStrike">
                <a:solidFill>
                  <a:srgbClr val="4A5B70"/>
                </a:solidFill>
                <a:effectLst/>
                <a:uFillTx/>
                <a:latin typeface="Geist"/>
                <a:ea typeface="Geist"/>
              </a:rPr>
              <a:t>Synthetic teaching data. Results do not establish real-fab generalization.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EE02E-7C1F-027D-1AAE-6AB241A59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Text 0">
            <a:extLst>
              <a:ext uri="{FF2B5EF4-FFF2-40B4-BE49-F238E27FC236}">
                <a16:creationId xmlns:a16="http://schemas.microsoft.com/office/drawing/2014/main" id="{B734F638-C90E-8B3D-D5CD-804DAF9EA86B}"/>
              </a:ext>
            </a:extLst>
          </p:cNvPr>
          <p:cNvSpPr/>
          <p:nvPr/>
        </p:nvSpPr>
        <p:spPr>
          <a:xfrm>
            <a:off x="609480" y="5236560"/>
            <a:ext cx="34538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88000"/>
              </a:lnSpc>
              <a:tabLst>
                <a:tab pos="0" algn="l"/>
              </a:tabLst>
            </a:pPr>
            <a:r>
              <a:rPr lang="en-US" sz="4800" b="0" u="none" strike="noStrike" spc="-96" dirty="0">
                <a:solidFill>
                  <a:srgbClr val="4A5B70"/>
                </a:solidFill>
                <a:effectLst/>
                <a:uFillTx/>
                <a:latin typeface="Newsreader Medium"/>
                <a:ea typeface="Newsreader Medium"/>
              </a:rPr>
              <a:t>6</a:t>
            </a:r>
            <a:endParaRPr lang="en-US" sz="4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2">
            <a:extLst>
              <a:ext uri="{FF2B5EF4-FFF2-40B4-BE49-F238E27FC236}">
                <a16:creationId xmlns:a16="http://schemas.microsoft.com/office/drawing/2014/main" id="{A5DA9EEE-5EBB-2876-F520-39639003730F}"/>
              </a:ext>
            </a:extLst>
          </p:cNvPr>
          <p:cNvSpPr/>
          <p:nvPr/>
        </p:nvSpPr>
        <p:spPr>
          <a:xfrm>
            <a:off x="4927320" y="2031480"/>
            <a:ext cx="7263720" cy="18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 spc="91" dirty="0">
                <a:solidFill>
                  <a:srgbClr val="4A5B70"/>
                </a:solidFill>
                <a:effectLst/>
                <a:uFillTx/>
                <a:latin typeface="Geist SemiBold"/>
                <a:ea typeface="Geist SemiBold"/>
              </a:rPr>
              <a:t>PART 6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3">
            <a:extLst>
              <a:ext uri="{FF2B5EF4-FFF2-40B4-BE49-F238E27FC236}">
                <a16:creationId xmlns:a16="http://schemas.microsoft.com/office/drawing/2014/main" id="{A05565D4-B56C-7302-77F2-F2E2DE11E79C}"/>
              </a:ext>
            </a:extLst>
          </p:cNvPr>
          <p:cNvSpPr/>
          <p:nvPr/>
        </p:nvSpPr>
        <p:spPr>
          <a:xfrm>
            <a:off x="4927320" y="2304360"/>
            <a:ext cx="665424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88000"/>
              </a:lnSpc>
              <a:tabLst>
                <a:tab pos="0" algn="l"/>
              </a:tabLst>
            </a:pPr>
            <a:r>
              <a:rPr lang="en-US" sz="4800" spc="-71" dirty="0">
                <a:solidFill>
                  <a:srgbClr val="1B2638"/>
                </a:solidFill>
                <a:latin typeface="Newsreader Medium"/>
              </a:rPr>
              <a:t>Key Takeaways</a:t>
            </a:r>
            <a:endParaRPr lang="en-US" sz="4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Shape 4">
            <a:extLst>
              <a:ext uri="{FF2B5EF4-FFF2-40B4-BE49-F238E27FC236}">
                <a16:creationId xmlns:a16="http://schemas.microsoft.com/office/drawing/2014/main" id="{180F9BF6-1E4C-5048-043C-96AB1AA260B5}"/>
              </a:ext>
            </a:extLst>
          </p:cNvPr>
          <p:cNvSpPr/>
          <p:nvPr/>
        </p:nvSpPr>
        <p:spPr>
          <a:xfrm>
            <a:off x="4927320" y="3858840"/>
            <a:ext cx="6654240" cy="31320"/>
          </a:xfrm>
          <a:prstGeom prst="roundRect">
            <a:avLst>
              <a:gd name="adj" fmla="val 49998"/>
            </a:avLst>
          </a:prstGeom>
          <a:solidFill>
            <a:srgbClr val="4A5B7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2320" rIns="90000" bIns="-2232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9" name="Text 5">
            <a:extLst>
              <a:ext uri="{FF2B5EF4-FFF2-40B4-BE49-F238E27FC236}">
                <a16:creationId xmlns:a16="http://schemas.microsoft.com/office/drawing/2014/main" id="{029B9B24-DE68-AFF7-BE86-77EC2947CD29}"/>
              </a:ext>
            </a:extLst>
          </p:cNvPr>
          <p:cNvSpPr/>
          <p:nvPr/>
        </p:nvSpPr>
        <p:spPr>
          <a:xfrm>
            <a:off x="4927320" y="4143240"/>
            <a:ext cx="6654240" cy="68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en-US" sz="1900" dirty="0">
                <a:solidFill>
                  <a:srgbClr val="2B3139"/>
                </a:solidFill>
                <a:latin typeface="Geist"/>
                <a:ea typeface="Geist"/>
              </a:rPr>
              <a:t>Method · future applications · agentic AI · adoption challenges · path to value</a:t>
            </a:r>
          </a:p>
        </p:txBody>
      </p:sp>
      <p:sp>
        <p:nvSpPr>
          <p:cNvPr id="320" name="Shape 6">
            <a:extLst>
              <a:ext uri="{FF2B5EF4-FFF2-40B4-BE49-F238E27FC236}">
                <a16:creationId xmlns:a16="http://schemas.microsoft.com/office/drawing/2014/main" id="{B73C50E2-7925-A225-91C5-7C7209D249CC}"/>
              </a:ext>
            </a:extLst>
          </p:cNvPr>
          <p:cNvSpPr/>
          <p:nvPr/>
        </p:nvSpPr>
        <p:spPr>
          <a:xfrm>
            <a:off x="4464000" y="0"/>
            <a:ext cx="12240" cy="6857640"/>
          </a:xfrm>
          <a:prstGeom prst="rect">
            <a:avLst/>
          </a:prstGeom>
          <a:solidFill>
            <a:srgbClr val="D8D1C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1808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title"/>
          <p:cNvSpPr/>
          <p:nvPr/>
        </p:nvSpPr>
        <p:spPr>
          <a:xfrm>
            <a:off x="457200" y="457200"/>
            <a:ext cx="11277360" cy="61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3150" b="0" u="none" strike="noStrike">
                <a:solidFill>
                  <a:srgbClr val="1B2638"/>
                </a:solidFill>
                <a:effectLst/>
                <a:uFillTx/>
                <a:latin typeface="Newsreader Medium"/>
                <a:ea typeface="Newsreader Medium"/>
              </a:rPr>
              <a:t>Key takeaways and the path ahead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itle-rule"/>
          <p:cNvSpPr/>
          <p:nvPr/>
        </p:nvSpPr>
        <p:spPr>
          <a:xfrm>
            <a:off x="457200" y="1162080"/>
            <a:ext cx="11277360" cy="23400"/>
          </a:xfrm>
          <a:prstGeom prst="rect">
            <a:avLst/>
          </a:prstGeom>
          <a:solidFill>
            <a:srgbClr val="4A5B7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1240" rIns="90000" bIns="-212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takeaway-label-0"/>
          <p:cNvSpPr/>
          <p:nvPr/>
        </p:nvSpPr>
        <p:spPr>
          <a:xfrm>
            <a:off x="457200" y="1438200"/>
            <a:ext cx="2333160" cy="52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4A5B70"/>
                </a:solidFill>
                <a:effectLst/>
                <a:uFillTx/>
                <a:latin typeface="Geist"/>
                <a:ea typeface="Geist"/>
              </a:rPr>
              <a:t>Method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akeaway-body-0"/>
          <p:cNvSpPr/>
          <p:nvPr/>
        </p:nvSpPr>
        <p:spPr>
          <a:xfrm>
            <a:off x="3009960" y="1438200"/>
            <a:ext cx="8714880" cy="87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DTDA combines shape with learned representations to expose defect families and process regimes. Causal claims need process evidence.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akeaway-label-1"/>
          <p:cNvSpPr/>
          <p:nvPr/>
        </p:nvSpPr>
        <p:spPr>
          <a:xfrm>
            <a:off x="457200" y="2428920"/>
            <a:ext cx="2333160" cy="52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4A5B70"/>
                </a:solidFill>
                <a:effectLst/>
                <a:uFillTx/>
                <a:latin typeface="Geist"/>
                <a:ea typeface="Geist"/>
              </a:rPr>
              <a:t>Future applications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akeaway-body-1"/>
          <p:cNvSpPr/>
          <p:nvPr/>
        </p:nvSpPr>
        <p:spPr>
          <a:xfrm>
            <a:off x="3009960" y="2428920"/>
            <a:ext cx="8714880" cy="87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Candidate extensions include excursion early warning, multimodal wafer–sensor analysis, lithography hotspot triage and digital-twin monitoring.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akeaway-label-2"/>
          <p:cNvSpPr/>
          <p:nvPr/>
        </p:nvSpPr>
        <p:spPr>
          <a:xfrm>
            <a:off x="457200" y="3419640"/>
            <a:ext cx="2333160" cy="52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4A5B70"/>
                </a:solidFill>
                <a:effectLst/>
                <a:uFillTx/>
                <a:latin typeface="Geist"/>
                <a:ea typeface="Geist"/>
              </a:rPr>
              <a:t>Agentic AI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akeaway-body-2"/>
          <p:cNvSpPr/>
          <p:nvPr/>
        </p:nvSpPr>
        <p:spPr>
          <a:xfrm>
            <a:off x="3009960" y="3419640"/>
            <a:ext cx="8714880" cy="87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Agents could curate and align data, compare topology settings, retrieve similar cases, propose tests and draft evidence-linked investigation reports.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akeaway-label-3"/>
          <p:cNvSpPr/>
          <p:nvPr/>
        </p:nvSpPr>
        <p:spPr>
          <a:xfrm>
            <a:off x="457200" y="4410000"/>
            <a:ext cx="2333160" cy="52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4A5B70"/>
                </a:solidFill>
                <a:effectLst/>
                <a:uFillTx/>
                <a:latin typeface="Geist"/>
                <a:ea typeface="Geist"/>
              </a:rPr>
              <a:t>Foreseen challenges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akeaway-body-3"/>
          <p:cNvSpPr/>
          <p:nvPr/>
        </p:nvSpPr>
        <p:spPr>
          <a:xfrm>
            <a:off x="3009960" y="4410000"/>
            <a:ext cx="8714880" cy="87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Compute cost, metric sensitivity, drift and scarce labels complicate adoption. Agent errors and IP controls require traceable tools and engineer approval.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akeaway-label-4"/>
          <p:cNvSpPr/>
          <p:nvPr/>
        </p:nvSpPr>
        <p:spPr>
          <a:xfrm>
            <a:off x="457200" y="5400720"/>
            <a:ext cx="2333160" cy="52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4A5B70"/>
                </a:solidFill>
                <a:effectLst/>
                <a:uFillTx/>
                <a:latin typeface="Geist"/>
                <a:ea typeface="Geist"/>
              </a:rPr>
              <a:t>Path to value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akeaway-body-4"/>
          <p:cNvSpPr/>
          <p:nvPr/>
        </p:nvSpPr>
        <p:spPr>
          <a:xfrm>
            <a:off x="3009960" y="5400720"/>
            <a:ext cx="8714880" cy="87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2B3139"/>
                </a:solidFill>
                <a:effectLst/>
                <a:uFillTx/>
                <a:latin typeface="Geist"/>
                <a:ea typeface="Geist"/>
              </a:rPr>
              <a:t>Begin with one offline workflow. Compare with strong ML baselines and topology ablations, then measure detection lead time, false alarms and triage effort.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DDECD-EDAD-3CD0-3D5F-C81A68FB3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Text 0">
            <a:extLst>
              <a:ext uri="{FF2B5EF4-FFF2-40B4-BE49-F238E27FC236}">
                <a16:creationId xmlns:a16="http://schemas.microsoft.com/office/drawing/2014/main" id="{E42F4031-421D-DFF4-194A-B4832D9280D0}"/>
              </a:ext>
            </a:extLst>
          </p:cNvPr>
          <p:cNvSpPr/>
          <p:nvPr/>
        </p:nvSpPr>
        <p:spPr>
          <a:xfrm>
            <a:off x="609480" y="5236560"/>
            <a:ext cx="34538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88000"/>
              </a:lnSpc>
              <a:tabLst>
                <a:tab pos="0" algn="l"/>
              </a:tabLst>
            </a:pPr>
            <a:r>
              <a:rPr lang="en-US" sz="4800" b="0" u="none" strike="noStrike" spc="-96" dirty="0">
                <a:solidFill>
                  <a:srgbClr val="4A5B70"/>
                </a:solidFill>
                <a:effectLst/>
                <a:uFillTx/>
                <a:latin typeface="Newsreader Medium"/>
                <a:ea typeface="Newsreader Medium"/>
              </a:rPr>
              <a:t>7</a:t>
            </a:r>
            <a:endParaRPr lang="en-US" sz="4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2">
            <a:extLst>
              <a:ext uri="{FF2B5EF4-FFF2-40B4-BE49-F238E27FC236}">
                <a16:creationId xmlns:a16="http://schemas.microsoft.com/office/drawing/2014/main" id="{97D2CCF7-C7BB-0E47-AD3B-F55948E69D28}"/>
              </a:ext>
            </a:extLst>
          </p:cNvPr>
          <p:cNvSpPr/>
          <p:nvPr/>
        </p:nvSpPr>
        <p:spPr>
          <a:xfrm>
            <a:off x="4927320" y="2031480"/>
            <a:ext cx="7263720" cy="18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 spc="91" dirty="0">
                <a:solidFill>
                  <a:srgbClr val="4A5B70"/>
                </a:solidFill>
                <a:effectLst/>
                <a:uFillTx/>
                <a:latin typeface="Geist SemiBold"/>
                <a:ea typeface="Geist SemiBold"/>
              </a:rPr>
              <a:t>PART 7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3">
            <a:extLst>
              <a:ext uri="{FF2B5EF4-FFF2-40B4-BE49-F238E27FC236}">
                <a16:creationId xmlns:a16="http://schemas.microsoft.com/office/drawing/2014/main" id="{70D05394-FA93-F5F3-2D57-E1EE220BE0DF}"/>
              </a:ext>
            </a:extLst>
          </p:cNvPr>
          <p:cNvSpPr/>
          <p:nvPr/>
        </p:nvSpPr>
        <p:spPr>
          <a:xfrm>
            <a:off x="4927320" y="2304360"/>
            <a:ext cx="665424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88000"/>
              </a:lnSpc>
              <a:tabLst>
                <a:tab pos="0" algn="l"/>
              </a:tabLst>
            </a:pPr>
            <a:r>
              <a:rPr lang="en-US" sz="4800" spc="-71" dirty="0">
                <a:solidFill>
                  <a:srgbClr val="1B2638"/>
                </a:solidFill>
                <a:latin typeface="Newsreader Medium"/>
              </a:rPr>
              <a:t>Bonus</a:t>
            </a:r>
            <a:endParaRPr lang="en-US" sz="4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Shape 4">
            <a:extLst>
              <a:ext uri="{FF2B5EF4-FFF2-40B4-BE49-F238E27FC236}">
                <a16:creationId xmlns:a16="http://schemas.microsoft.com/office/drawing/2014/main" id="{EB1E3E67-0D8C-04F3-3FD0-3341016FC2B2}"/>
              </a:ext>
            </a:extLst>
          </p:cNvPr>
          <p:cNvSpPr/>
          <p:nvPr/>
        </p:nvSpPr>
        <p:spPr>
          <a:xfrm>
            <a:off x="4927320" y="3858840"/>
            <a:ext cx="6654240" cy="31320"/>
          </a:xfrm>
          <a:prstGeom prst="roundRect">
            <a:avLst>
              <a:gd name="adj" fmla="val 49998"/>
            </a:avLst>
          </a:prstGeom>
          <a:solidFill>
            <a:srgbClr val="4A5B7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2320" rIns="90000" bIns="-2232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9" name="Text 5">
            <a:extLst>
              <a:ext uri="{FF2B5EF4-FFF2-40B4-BE49-F238E27FC236}">
                <a16:creationId xmlns:a16="http://schemas.microsoft.com/office/drawing/2014/main" id="{D6C59DA6-7CA7-A42E-2914-85377867ECE4}"/>
              </a:ext>
            </a:extLst>
          </p:cNvPr>
          <p:cNvSpPr/>
          <p:nvPr/>
        </p:nvSpPr>
        <p:spPr>
          <a:xfrm>
            <a:off x="4927320" y="4143240"/>
            <a:ext cx="6654240" cy="68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>
              <a:lnSpc>
                <a:spcPct val="118000"/>
              </a:lnSpc>
              <a:tabLst>
                <a:tab pos="0" algn="l"/>
              </a:tabLst>
            </a:pPr>
            <a:r>
              <a:rPr lang="en-US" sz="1900" dirty="0">
                <a:solidFill>
                  <a:srgbClr val="2B3139"/>
                </a:solidFill>
                <a:latin typeface="Geist"/>
                <a:ea typeface="Geist"/>
              </a:rPr>
              <a:t>Hands-on wafer-map lab · synthetic defect classes · topology vs. geometry · </a:t>
            </a:r>
            <a:r>
              <a:rPr lang="en-US" sz="1900" dirty="0" err="1">
                <a:solidFill>
                  <a:srgbClr val="2B3139"/>
                </a:solidFill>
                <a:latin typeface="Geist"/>
                <a:ea typeface="Geist"/>
              </a:rPr>
              <a:t>Colab</a:t>
            </a:r>
            <a:r>
              <a:rPr lang="en-US" sz="1900" dirty="0">
                <a:solidFill>
                  <a:srgbClr val="2B3139"/>
                </a:solidFill>
                <a:latin typeface="Geist"/>
                <a:ea typeface="Geist"/>
              </a:rPr>
              <a:t> exercise</a:t>
            </a:r>
          </a:p>
        </p:txBody>
      </p:sp>
      <p:sp>
        <p:nvSpPr>
          <p:cNvPr id="320" name="Shape 6">
            <a:extLst>
              <a:ext uri="{FF2B5EF4-FFF2-40B4-BE49-F238E27FC236}">
                <a16:creationId xmlns:a16="http://schemas.microsoft.com/office/drawing/2014/main" id="{9773A185-B5B0-8FE0-D075-B96B9992D529}"/>
              </a:ext>
            </a:extLst>
          </p:cNvPr>
          <p:cNvSpPr/>
          <p:nvPr/>
        </p:nvSpPr>
        <p:spPr>
          <a:xfrm>
            <a:off x="4464000" y="0"/>
            <a:ext cx="12240" cy="6857640"/>
          </a:xfrm>
          <a:prstGeom prst="rect">
            <a:avLst/>
          </a:prstGeom>
          <a:solidFill>
            <a:srgbClr val="D8D1C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1535519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"/>
          <p:cNvSpPr/>
          <p:nvPr/>
        </p:nvSpPr>
        <p:spPr>
          <a:xfrm>
            <a:off x="457200" y="457200"/>
            <a:ext cx="11277360" cy="61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150" b="0" i="0" u="none" strike="noStrike" kern="1200" cap="none" spc="0" normalizeH="0" baseline="0" noProof="0">
                <a:ln>
                  <a:noFill/>
                </a:ln>
                <a:solidFill>
                  <a:srgbClr val="1B2638"/>
                </a:solidFill>
                <a:effectLst/>
                <a:uLnTx/>
                <a:uFillTx/>
                <a:latin typeface="Newsreader Medium"/>
                <a:ea typeface="Newsreader Medium"/>
                <a:cs typeface="+mn-cs"/>
              </a:rPr>
              <a:t>Bonus: hands-on TDA for wafer maps</a:t>
            </a:r>
            <a:endParaRPr kumimoji="0" lang="en-US" sz="31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title-rule"/>
          <p:cNvSpPr/>
          <p:nvPr/>
        </p:nvSpPr>
        <p:spPr>
          <a:xfrm>
            <a:off x="457200" y="1162080"/>
            <a:ext cx="11277360" cy="23400"/>
          </a:xfrm>
          <a:prstGeom prst="rect">
            <a:avLst/>
          </a:prstGeom>
          <a:solidFill>
            <a:srgbClr val="4A5B7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1240" rIns="90000" bIns="-2124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question"/>
          <p:cNvSpPr/>
          <p:nvPr/>
        </p:nvSpPr>
        <p:spPr>
          <a:xfrm>
            <a:off x="457200" y="1438200"/>
            <a:ext cx="10858320" cy="437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70" b="0" i="0" u="none" strike="noStrike" kern="1200" cap="none" spc="0" normalizeH="0" baseline="0" noProof="0">
                <a:ln>
                  <a:noFill/>
                </a:ln>
                <a:solidFill>
                  <a:srgbClr val="4A5B70"/>
                </a:solidFill>
                <a:effectLst/>
                <a:uLnTx/>
                <a:uFillTx/>
                <a:latin typeface="Geist SemiBold"/>
                <a:ea typeface="Geist SemiBold"/>
                <a:cs typeface="+mn-cs"/>
              </a:rPr>
              <a:t>Does topology add value beyond geometric features?</a:t>
            </a:r>
            <a:endParaRPr kumimoji="0" lang="en-US" sz="217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" name="step-0"/>
          <p:cNvSpPr/>
          <p:nvPr/>
        </p:nvSpPr>
        <p:spPr>
          <a:xfrm>
            <a:off x="457200" y="2124000"/>
            <a:ext cx="190476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70" b="0" i="0" u="none" strike="noStrike" kern="1200" cap="none" spc="0" normalizeH="0" baseline="0" noProof="0">
                <a:ln>
                  <a:noFill/>
                </a:ln>
                <a:solidFill>
                  <a:srgbClr val="4A5B70"/>
                </a:solidFill>
                <a:effectLst/>
                <a:uLnTx/>
                <a:uFillTx/>
                <a:latin typeface="Geist SemiBold"/>
                <a:ea typeface="Geist SemiBold"/>
                <a:cs typeface="+mn-cs"/>
              </a:rPr>
              <a:t>1  Generate</a:t>
            </a:r>
            <a:endParaRPr kumimoji="0" lang="en-US" sz="187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" name="instruction-0"/>
          <p:cNvSpPr/>
          <p:nvPr/>
        </p:nvSpPr>
        <p:spPr>
          <a:xfrm>
            <a:off x="2381400" y="2124000"/>
            <a:ext cx="6190920" cy="72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B3139"/>
                </a:solidFill>
                <a:effectLst/>
                <a:uLnTx/>
                <a:uFillTx/>
                <a:latin typeface="Geist"/>
                <a:ea typeface="Geist"/>
                <a:cs typeface="+mn-cs"/>
              </a:rPr>
              <a:t>Run the Colab notebook to create nine synthetic defect classes.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" name="step-1"/>
          <p:cNvSpPr/>
          <p:nvPr/>
        </p:nvSpPr>
        <p:spPr>
          <a:xfrm>
            <a:off x="457200" y="2943360"/>
            <a:ext cx="190476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70" b="0" i="0" u="none" strike="noStrike" kern="1200" cap="none" spc="0" normalizeH="0" baseline="0" noProof="0">
                <a:ln>
                  <a:noFill/>
                </a:ln>
                <a:solidFill>
                  <a:srgbClr val="4A5B70"/>
                </a:solidFill>
                <a:effectLst/>
                <a:uLnTx/>
                <a:uFillTx/>
                <a:latin typeface="Geist SemiBold"/>
                <a:ea typeface="Geist SemiBold"/>
                <a:cs typeface="+mn-cs"/>
              </a:rPr>
              <a:t>2  Extract</a:t>
            </a:r>
            <a:endParaRPr kumimoji="0" lang="en-US" sz="187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1" name="instruction-1"/>
          <p:cNvSpPr/>
          <p:nvPr/>
        </p:nvSpPr>
        <p:spPr>
          <a:xfrm>
            <a:off x="2381400" y="2943360"/>
            <a:ext cx="6190920" cy="72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B3139"/>
                </a:solidFill>
                <a:effectLst/>
                <a:uLnTx/>
                <a:uFillTx/>
                <a:latin typeface="Geist"/>
                <a:ea typeface="Geist"/>
                <a:cs typeface="+mn-cs"/>
              </a:rPr>
              <a:t>Compute H0/H1 persistence from pixel coordinates.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B3139"/>
                </a:solidFill>
                <a:effectLst/>
                <a:uLnTx/>
                <a:uFillTx/>
                <a:latin typeface="Geist"/>
                <a:ea typeface="Geist"/>
                <a:cs typeface="+mn-cs"/>
              </a:rPr>
              <a:t>Inspect 34 topological and image features.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" name="step-2"/>
          <p:cNvSpPr/>
          <p:nvPr/>
        </p:nvSpPr>
        <p:spPr>
          <a:xfrm>
            <a:off x="457200" y="3762360"/>
            <a:ext cx="190476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70" b="0" i="0" u="none" strike="noStrike" kern="1200" cap="none" spc="0" normalizeH="0" baseline="0" noProof="0">
                <a:ln>
                  <a:noFill/>
                </a:ln>
                <a:solidFill>
                  <a:srgbClr val="4A5B70"/>
                </a:solidFill>
                <a:effectLst/>
                <a:uLnTx/>
                <a:uFillTx/>
                <a:latin typeface="Geist SemiBold"/>
                <a:ea typeface="Geist SemiBold"/>
                <a:cs typeface="+mn-cs"/>
              </a:rPr>
              <a:t>3  Evaluate</a:t>
            </a:r>
            <a:endParaRPr kumimoji="0" lang="en-US" sz="187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instruction-2"/>
          <p:cNvSpPr/>
          <p:nvPr/>
        </p:nvSpPr>
        <p:spPr>
          <a:xfrm>
            <a:off x="2381400" y="3762360"/>
            <a:ext cx="6190920" cy="72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B3139"/>
                </a:solidFill>
                <a:effectLst/>
                <a:uLnTx/>
                <a:uFillTx/>
                <a:latin typeface="Geist"/>
                <a:ea typeface="Geist"/>
                <a:cs typeface="+mn-cs"/>
              </a:rPr>
              <a:t>Inspect the random-forest confusion matrix.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B3139"/>
                </a:solidFill>
                <a:effectLst/>
                <a:uLnTx/>
                <a:uFillTx/>
                <a:latin typeface="Geist"/>
                <a:ea typeface="Geist"/>
                <a:cs typeface="+mn-cs"/>
              </a:rPr>
              <a:t>Explore the feature space with Mapper.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" name="step-3"/>
          <p:cNvSpPr/>
          <p:nvPr/>
        </p:nvSpPr>
        <p:spPr>
          <a:xfrm>
            <a:off x="457200" y="4581360"/>
            <a:ext cx="190476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70" b="0" i="0" u="none" strike="noStrike" kern="1200" cap="none" spc="0" normalizeH="0" baseline="0" noProof="0">
                <a:ln>
                  <a:noFill/>
                </a:ln>
                <a:solidFill>
                  <a:srgbClr val="4A5B70"/>
                </a:solidFill>
                <a:effectLst/>
                <a:uLnTx/>
                <a:uFillTx/>
                <a:latin typeface="Geist SemiBold"/>
                <a:ea typeface="Geist SemiBold"/>
                <a:cs typeface="+mn-cs"/>
              </a:rPr>
              <a:t>4  Experiment</a:t>
            </a:r>
            <a:endParaRPr kumimoji="0" lang="en-US" sz="187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" name="instruction-3"/>
          <p:cNvSpPr/>
          <p:nvPr/>
        </p:nvSpPr>
        <p:spPr>
          <a:xfrm>
            <a:off x="2381400" y="4581360"/>
            <a:ext cx="6190920" cy="72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B3139"/>
                </a:solidFill>
                <a:effectLst/>
                <a:uLnTx/>
                <a:uFillTx/>
                <a:latin typeface="Geist"/>
                <a:ea typeface="Geist"/>
                <a:cs typeface="+mn-cs"/>
              </a:rPr>
              <a:t>Compare geometry-only vs. combined features.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B3139"/>
                </a:solidFill>
                <a:effectLst/>
                <a:uLnTx/>
                <a:uFillTx/>
                <a:latin typeface="Geist"/>
                <a:ea typeface="Geist"/>
                <a:cs typeface="+mn-cs"/>
              </a:rPr>
              <a:t>Vary noise or pixel threshold. Keep the split fixed.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" name="scan"/>
          <p:cNvSpPr/>
          <p:nvPr/>
        </p:nvSpPr>
        <p:spPr>
          <a:xfrm>
            <a:off x="8972640" y="2095560"/>
            <a:ext cx="2761920" cy="53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29" b="0" i="0" u="none" strike="noStrike" kern="1200" cap="none" spc="0" normalizeH="0" baseline="0" noProof="0">
                <a:ln>
                  <a:noFill/>
                </a:ln>
                <a:solidFill>
                  <a:srgbClr val="1B2638"/>
                </a:solidFill>
                <a:effectLst/>
                <a:uLnTx/>
                <a:uFillTx/>
                <a:latin typeface="Geist SemiBold"/>
                <a:ea typeface="Geist SemiBold"/>
                <a:cs typeface="+mn-cs"/>
              </a:rPr>
              <a:t>Scan for code and instructions</a:t>
            </a:r>
            <a:endParaRPr kumimoji="0" lang="en-US" sz="1729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27" name="Picture 26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9239400" y="2714760"/>
            <a:ext cx="2190240" cy="2190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colab"/>
          <p:cNvSpPr/>
          <p:nvPr/>
        </p:nvSpPr>
        <p:spPr>
          <a:xfrm>
            <a:off x="8972640" y="5048280"/>
            <a:ext cx="2761920" cy="38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sng" strike="noStrike" kern="1200" cap="none" spc="0" normalizeH="0" baseline="0" noProof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Geist SemiBold"/>
                <a:ea typeface="Geist SemiBold"/>
                <a:cs typeface="+mn-cs"/>
                <a:hlinkClick r:id="rId4"/>
              </a:rPr>
              <a:t>Open in Google Colab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" name="repo"/>
          <p:cNvSpPr/>
          <p:nvPr/>
        </p:nvSpPr>
        <p:spPr>
          <a:xfrm>
            <a:off x="8972640" y="5438880"/>
            <a:ext cx="2761920" cy="50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30" b="0" i="0" u="sng" strike="noStrike" kern="1200" cap="none" spc="0" normalizeH="0" baseline="0" noProof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Geist"/>
                <a:ea typeface="Geist"/>
                <a:cs typeface="+mn-cs"/>
                <a:hlinkClick r:id="rId5"/>
              </a:rPr>
              <a:t>github.com/janhavi-giri/</a:t>
            </a:r>
            <a:endParaRPr kumimoji="0" lang="en-US" sz="143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30" b="0" i="0" u="sng" strike="noStrike" kern="1200" cap="none" spc="0" normalizeH="0" baseline="0" noProof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Geist"/>
                <a:ea typeface="Geist"/>
                <a:cs typeface="+mn-cs"/>
                <a:hlinkClick r:id="rId5"/>
              </a:rPr>
              <a:t>wafer-map-tda</a:t>
            </a:r>
            <a:endParaRPr kumimoji="0" lang="en-US" sz="143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" name="deliverable"/>
          <p:cNvSpPr/>
          <p:nvPr/>
        </p:nvSpPr>
        <p:spPr>
          <a:xfrm>
            <a:off x="457200" y="5753160"/>
            <a:ext cx="795312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B2638"/>
                </a:solidFill>
                <a:effectLst/>
                <a:uLnTx/>
                <a:uFillTx/>
                <a:latin typeface="Geist SemiBold"/>
                <a:ea typeface="Geist SemiBold"/>
                <a:cs typeface="+mn-cs"/>
              </a:rPr>
              <a:t>Bring back: a confusion matrix, a feature comparison and one limitation.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1" name="caveat"/>
          <p:cNvSpPr/>
          <p:nvPr/>
        </p:nvSpPr>
        <p:spPr>
          <a:xfrm>
            <a:off x="457200" y="6429240"/>
            <a:ext cx="11277360" cy="26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30" b="0" i="0" u="none" strike="noStrike" kern="1200" cap="none" spc="0" normalizeH="0" baseline="0" noProof="0">
                <a:ln>
                  <a:noFill/>
                </a:ln>
                <a:solidFill>
                  <a:srgbClr val="4A5B70"/>
                </a:solidFill>
                <a:effectLst/>
                <a:uLnTx/>
                <a:uFillTx/>
                <a:latin typeface="Geist"/>
                <a:ea typeface="Geist"/>
                <a:cs typeface="+mn-cs"/>
              </a:rPr>
              <a:t>Synthetic teaching data. Results do not establish real-fab generalization.</a:t>
            </a:r>
            <a:endParaRPr kumimoji="0" lang="en-US" sz="143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2908</Words>
  <Application>Microsoft Office PowerPoint</Application>
  <PresentationFormat>Widescreen</PresentationFormat>
  <Paragraphs>403</Paragraphs>
  <Slides>45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45</vt:i4>
      </vt:variant>
    </vt:vector>
  </HeadingPairs>
  <TitlesOfParts>
    <vt:vector size="60" baseType="lpstr">
      <vt:lpstr>Geist</vt:lpstr>
      <vt:lpstr>Newsreader Medium</vt:lpstr>
      <vt:lpstr>Geist Bold</vt:lpstr>
      <vt:lpstr>Geist SemiBold</vt:lpstr>
      <vt:lpstr>Arial</vt:lpstr>
      <vt:lpstr>Wingdings</vt:lpstr>
      <vt:lpstr>Aptos</vt:lpstr>
      <vt:lpstr>Symbol</vt:lpstr>
      <vt:lpstr>Times New Roman</vt:lpstr>
      <vt:lpstr>IntelOne Text Light</vt:lpstr>
      <vt:lpstr>Calibri Light</vt:lpstr>
      <vt:lpstr>IntelOne Display Light</vt:lpstr>
      <vt:lpstr>Calibri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Image segmentation of WM811K wafer maps</vt:lpstr>
      <vt:lpstr>Analyzing individual segments per defect type</vt:lpstr>
      <vt:lpstr>Analyzing segments per defect type (cont.)</vt:lpstr>
      <vt:lpstr>Analyzing segments per defect type (cont.)</vt:lpstr>
      <vt:lpstr>Image segmentation of MixedWM38 wafer maps</vt:lpstr>
      <vt:lpstr>Image segmentation results for single-type defects</vt:lpstr>
      <vt:lpstr>Image segmentation results: C10–C22 Mixed Type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/>
  <cp:revision>1</cp:revision>
  <dcterms:created xsi:type="dcterms:W3CDTF">2026-10-26T21:07:04Z</dcterms:created>
  <dcterms:modified xsi:type="dcterms:W3CDTF">2026-10-26T23:19:17Z</dcterms:modified>
  <dc:language/>
</cp:coreProperties>
</file>